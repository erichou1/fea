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062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2971800"/>
          </a:xfrm>
          <a:prstGeom prst="rect">
            <a:avLst/>
          </a:prstGeom>
          <a:solidFill>
            <a:srgbClr val="032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944368"/>
            <a:ext cx="43891200" cy="27432"/>
          </a:xfrm>
          <a:prstGeom prst="rect">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 0.jpg"/>
          <p:cNvPicPr>
            <a:picLocks noChangeAspect="1"/>
          </p:cNvPicPr>
          <p:nvPr/>
        </p:nvPicPr>
        <p:blipFill>
          <a:blip r:embed="rId2"/>
          <a:stretch>
            <a:fillRect/>
          </a:stretch>
        </p:blipFill>
        <p:spPr>
          <a:xfrm>
            <a:off x="667512" y="274320"/>
            <a:ext cx="2139696" cy="2194560"/>
          </a:xfrm>
          <a:prstGeom prst="rect">
            <a:avLst/>
          </a:prstGeom>
        </p:spPr>
      </p:pic>
      <p:pic>
        <p:nvPicPr>
          <p:cNvPr id="6" name="Picture 5" descr="Image 11.jpg"/>
          <p:cNvPicPr>
            <a:picLocks noChangeAspect="1"/>
          </p:cNvPicPr>
          <p:nvPr/>
        </p:nvPicPr>
        <p:blipFill>
          <a:blip r:embed="rId3"/>
          <a:stretch>
            <a:fillRect/>
          </a:stretch>
        </p:blipFill>
        <p:spPr>
          <a:xfrm>
            <a:off x="3657600" y="457199"/>
            <a:ext cx="2743200" cy="1828800"/>
          </a:xfrm>
          <a:prstGeom prst="rect">
            <a:avLst/>
          </a:prstGeom>
        </p:spPr>
      </p:pic>
      <p:sp>
        <p:nvSpPr>
          <p:cNvPr id="7" name="TextBox 6"/>
          <p:cNvSpPr txBox="1"/>
          <p:nvPr/>
        </p:nvSpPr>
        <p:spPr>
          <a:xfrm>
            <a:off x="7772400" y="91440"/>
            <a:ext cx="27432000" cy="822960"/>
          </a:xfrm>
          <a:prstGeom prst="rect">
            <a:avLst/>
          </a:prstGeom>
          <a:noFill/>
        </p:spPr>
        <p:txBody>
          <a:bodyPr wrap="square"/>
          <a:lstStyle/>
          <a:p>
            <a:pPr algn="ctr">
              <a:spcBef>
                <a:spcPts val="0"/>
              </a:spcBef>
              <a:spcAft>
                <a:spcPts val="0"/>
              </a:spcAft>
              <a:defRPr sz="4400" b="1" i="0">
                <a:solidFill>
                  <a:srgbClr val="FFFFFF"/>
                </a:solidFill>
                <a:latin typeface="Arial Black"/>
              </a:defRPr>
            </a:pPr>
            <a:r>
              <a:t>SURROGATE-ACCELERATED STRUCTURAL OPTIMIZATION</a:t>
            </a:r>
          </a:p>
        </p:txBody>
      </p:sp>
      <p:sp>
        <p:nvSpPr>
          <p:cNvPr id="8" name="TextBox 7"/>
          <p:cNvSpPr txBox="1"/>
          <p:nvPr/>
        </p:nvSpPr>
        <p:spPr>
          <a:xfrm>
            <a:off x="7772400" y="1005840"/>
            <a:ext cx="27432000" cy="594360"/>
          </a:xfrm>
          <a:prstGeom prst="rect">
            <a:avLst/>
          </a:prstGeom>
          <a:noFill/>
        </p:spPr>
        <p:txBody>
          <a:bodyPr wrap="square"/>
          <a:lstStyle/>
          <a:p>
            <a:pPr algn="ctr">
              <a:spcBef>
                <a:spcPts val="0"/>
              </a:spcBef>
              <a:spcAft>
                <a:spcPts val="0"/>
              </a:spcAft>
              <a:defRPr sz="2600" b="1" i="1">
                <a:solidFill>
                  <a:srgbClr val="FFFFFF"/>
                </a:solidFill>
                <a:latin typeface="Arial"/>
              </a:defRPr>
            </a:pPr>
            <a:r>
              <a:t>Additive Manufacturing: Harnessing FEA to Optimize Material Efficiency</a:t>
            </a:r>
          </a:p>
        </p:txBody>
      </p:sp>
      <p:sp>
        <p:nvSpPr>
          <p:cNvPr id="9" name="TextBox 8"/>
          <p:cNvSpPr txBox="1"/>
          <p:nvPr/>
        </p:nvSpPr>
        <p:spPr>
          <a:xfrm>
            <a:off x="7772400" y="1691640"/>
            <a:ext cx="27432000" cy="411480"/>
          </a:xfrm>
          <a:prstGeom prst="rect">
            <a:avLst/>
          </a:prstGeom>
          <a:noFill/>
        </p:spPr>
        <p:txBody>
          <a:bodyPr wrap="square"/>
          <a:lstStyle/>
          <a:p>
            <a:pPr algn="ctr">
              <a:spcBef>
                <a:spcPts val="0"/>
              </a:spcBef>
              <a:spcAft>
                <a:spcPts val="0"/>
              </a:spcAft>
              <a:defRPr sz="2200" b="1" i="0">
                <a:solidFill>
                  <a:srgbClr val="FFFFFF"/>
                </a:solidFill>
                <a:latin typeface="Arial"/>
              </a:defRPr>
            </a:pPr>
            <a:r>
              <a:t>Eric Hou</a:t>
            </a:r>
          </a:p>
        </p:txBody>
      </p:sp>
      <p:sp>
        <p:nvSpPr>
          <p:cNvPr id="10" name="TextBox 9"/>
          <p:cNvSpPr txBox="1"/>
          <p:nvPr/>
        </p:nvSpPr>
        <p:spPr>
          <a:xfrm>
            <a:off x="35661600" y="137160"/>
            <a:ext cx="7863840" cy="2560320"/>
          </a:xfrm>
          <a:prstGeom prst="rect">
            <a:avLst/>
          </a:prstGeom>
          <a:noFill/>
        </p:spPr>
        <p:txBody>
          <a:bodyPr wrap="square"/>
          <a:lstStyle/>
          <a:p>
            <a:pPr algn="l">
              <a:spcBef>
                <a:spcPts val="100"/>
              </a:spcBef>
              <a:spcAft>
                <a:spcPts val="100"/>
              </a:spcAft>
              <a:defRPr sz="1300" b="1" i="0">
                <a:solidFill>
                  <a:srgbClr val="FFFFFF"/>
                </a:solidFill>
                <a:latin typeface="Arial"/>
              </a:defRPr>
            </a:pPr>
            <a:r>
              <a:t>Intel ISEF 2026 - Engineering Mechanics</a:t>
            </a:r>
          </a:p>
          <a:p>
            <a:pPr algn="l">
              <a:spcBef>
                <a:spcPts val="100"/>
              </a:spcBef>
              <a:spcAft>
                <a:spcPts val="100"/>
              </a:spcAft>
              <a:defRPr sz="400" b="0" i="0">
                <a:latin typeface="Arial"/>
              </a:defRPr>
            </a:pPr>
          </a:p>
          <a:p>
            <a:pPr algn="l">
              <a:spcBef>
                <a:spcPts val="100"/>
              </a:spcBef>
              <a:spcAft>
                <a:spcPts val="100"/>
              </a:spcAft>
              <a:defRPr sz="1200" b="1" i="0">
                <a:solidFill>
                  <a:srgbClr val="FFFFFF"/>
                </a:solidFill>
                <a:latin typeface="Arial"/>
              </a:defRPr>
            </a:pPr>
            <a:r>
              <a:t>Credit Line of Origin</a:t>
            </a:r>
          </a:p>
          <a:p>
            <a:pPr algn="l">
              <a:spcBef>
                <a:spcPts val="100"/>
              </a:spcBef>
              <a:spcAft>
                <a:spcPts val="100"/>
              </a:spcAft>
              <a:defRPr sz="1000" b="0" i="0">
                <a:solidFill>
                  <a:srgbClr val="FFFFFF"/>
                </a:solidFill>
                <a:latin typeface="Arial"/>
              </a:defRPr>
            </a:pPr>
            <a:r>
              <a:t>References &amp; data in references below.</a:t>
            </a:r>
          </a:p>
          <a:p>
            <a:pPr algn="l">
              <a:spcBef>
                <a:spcPts val="100"/>
              </a:spcBef>
              <a:spcAft>
                <a:spcPts val="100"/>
              </a:spcAft>
              <a:defRPr sz="400" b="0" i="0">
                <a:latin typeface="Arial"/>
              </a:defRPr>
            </a:pPr>
          </a:p>
          <a:p>
            <a:pPr algn="l">
              <a:spcBef>
                <a:spcPts val="100"/>
              </a:spcBef>
              <a:spcAft>
                <a:spcPts val="100"/>
              </a:spcAft>
              <a:defRPr sz="1000" b="0" i="0">
                <a:solidFill>
                  <a:srgbClr val="FFFFFF"/>
                </a:solidFill>
                <a:latin typeface="Arial"/>
              </a:defRPr>
            </a:pPr>
            <a:r>
              <a:t>Images denoted with an asterisk (*) are from</a:t>
            </a:r>
          </a:p>
          <a:p>
            <a:pPr algn="l">
              <a:spcBef>
                <a:spcPts val="100"/>
              </a:spcBef>
              <a:spcAft>
                <a:spcPts val="100"/>
              </a:spcAft>
              <a:defRPr sz="1000" b="0" i="0">
                <a:solidFill>
                  <a:srgbClr val="FFFFFF"/>
                </a:solidFill>
                <a:latin typeface="Arial"/>
              </a:defRPr>
            </a:pPr>
            <a:r>
              <a:t>public-domain or adapted from publicly available</a:t>
            </a:r>
          </a:p>
          <a:p>
            <a:pPr algn="l">
              <a:spcBef>
                <a:spcPts val="100"/>
              </a:spcBef>
              <a:spcAft>
                <a:spcPts val="100"/>
              </a:spcAft>
              <a:defRPr sz="1000" b="0" i="0">
                <a:solidFill>
                  <a:srgbClr val="FFFFFF"/>
                </a:solidFill>
                <a:latin typeface="Arial"/>
              </a:defRPr>
            </a:pPr>
            <a:r>
              <a:t>sources. All other figures, tables, and images</a:t>
            </a:r>
          </a:p>
          <a:p>
            <a:pPr algn="l">
              <a:spcBef>
                <a:spcPts val="100"/>
              </a:spcBef>
              <a:spcAft>
                <a:spcPts val="100"/>
              </a:spcAft>
              <a:defRPr sz="1000" b="0" i="0">
                <a:solidFill>
                  <a:srgbClr val="FFFFFF"/>
                </a:solidFill>
                <a:latin typeface="Arial"/>
              </a:defRPr>
            </a:pPr>
            <a:r>
              <a:t>created by Eric Hou, 2026.</a:t>
            </a:r>
          </a:p>
        </p:txBody>
      </p:sp>
      <p:sp>
        <p:nvSpPr>
          <p:cNvPr id="11" name="Rounded Rectangle 10"/>
          <p:cNvSpPr/>
          <p:nvPr/>
        </p:nvSpPr>
        <p:spPr>
          <a:xfrm>
            <a:off x="164592" y="3063240"/>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 y="3063240"/>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VISUAL ABSTRACT</a:t>
            </a:r>
          </a:p>
        </p:txBody>
      </p:sp>
      <p:sp>
        <p:nvSpPr>
          <p:cNvPr id="13" name="Rounded Rectangle 12"/>
          <p:cNvSpPr/>
          <p:nvPr/>
        </p:nvSpPr>
        <p:spPr>
          <a:xfrm>
            <a:off x="164592" y="3474720"/>
            <a:ext cx="10643616" cy="36576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01_visual_abstract_pipeline.png"/>
          <p:cNvPicPr>
            <a:picLocks noChangeAspect="1"/>
          </p:cNvPicPr>
          <p:nvPr/>
        </p:nvPicPr>
        <p:blipFill>
          <a:blip r:embed="rId4"/>
          <a:stretch>
            <a:fillRect/>
          </a:stretch>
        </p:blipFill>
        <p:spPr>
          <a:xfrm>
            <a:off x="3683868" y="3566160"/>
            <a:ext cx="3605063" cy="2468880"/>
          </a:xfrm>
          <a:prstGeom prst="rect">
            <a:avLst/>
          </a:prstGeom>
        </p:spPr>
      </p:pic>
      <p:sp>
        <p:nvSpPr>
          <p:cNvPr id="15" name="TextBox 14"/>
          <p:cNvSpPr txBox="1"/>
          <p:nvPr/>
        </p:nvSpPr>
        <p:spPr>
          <a:xfrm>
            <a:off x="256032" y="603504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 SASTO pipeline: wireframe -&gt; parts -&gt; FEA -&gt; surrogate -&gt; optimize -&gt; STL</a:t>
            </a:r>
          </a:p>
        </p:txBody>
      </p:sp>
      <p:sp>
        <p:nvSpPr>
          <p:cNvPr id="16" name="TextBox 15"/>
          <p:cNvSpPr txBox="1"/>
          <p:nvPr/>
        </p:nvSpPr>
        <p:spPr>
          <a:xfrm>
            <a:off x="256032" y="6236208"/>
            <a:ext cx="10460736" cy="777240"/>
          </a:xfrm>
          <a:prstGeom prst="rect">
            <a:avLst/>
          </a:prstGeom>
          <a:noFill/>
        </p:spPr>
        <p:txBody>
          <a:bodyPr wrap="square"/>
          <a:lstStyle/>
          <a:p>
            <a:pPr algn="l">
              <a:spcBef>
                <a:spcPts val="0"/>
              </a:spcBef>
              <a:spcAft>
                <a:spcPts val="0"/>
              </a:spcAft>
              <a:defRPr sz="1000" b="0" i="0">
                <a:solidFill>
                  <a:srgbClr val="0B1736"/>
                </a:solidFill>
                <a:latin typeface="Arial"/>
              </a:defRPr>
            </a:pPr>
            <a:r>
              <a:t>The visual abstract shows the end-to-end SASTO workflow. A 3DWire building wireframe is extruded into four structural parts, meshed and simulated with FEA to train a 5-member deep ensemble. At optimization time, the surrogate replaces FEA, enabling 23-92x faster topology optimization with zero constraint violations.</a:t>
            </a:r>
          </a:p>
        </p:txBody>
      </p:sp>
      <p:sp>
        <p:nvSpPr>
          <p:cNvPr id="17" name="Rounded Rectangle 16"/>
          <p:cNvSpPr/>
          <p:nvPr/>
        </p:nvSpPr>
        <p:spPr>
          <a:xfrm>
            <a:off x="164592" y="7168896"/>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 y="7168896"/>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INTRODUCTION</a:t>
            </a:r>
          </a:p>
        </p:txBody>
      </p:sp>
      <p:sp>
        <p:nvSpPr>
          <p:cNvPr id="19" name="Rounded Rectangle 18"/>
          <p:cNvSpPr/>
          <p:nvPr/>
        </p:nvSpPr>
        <p:spPr>
          <a:xfrm>
            <a:off x="164592" y="7580375"/>
            <a:ext cx="10643616" cy="53035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7671815"/>
            <a:ext cx="6217920" cy="5120640"/>
          </a:xfrm>
          <a:prstGeom prst="rect">
            <a:avLst/>
          </a:prstGeom>
          <a:noFill/>
        </p:spPr>
        <p:txBody>
          <a:bodyPr wrap="square"/>
          <a:lstStyle/>
          <a:p>
            <a:pPr algn="l">
              <a:spcBef>
                <a:spcPts val="100"/>
              </a:spcBef>
              <a:spcAft>
                <a:spcPts val="100"/>
              </a:spcAft>
              <a:defRPr sz="1200" b="1" i="0">
                <a:solidFill>
                  <a:srgbClr val="008C9E"/>
                </a:solidFill>
                <a:latin typeface="Arial"/>
              </a:defRPr>
            </a:pPr>
            <a:r>
              <a:t>CONCRETE &amp; CO2 CRISIS</a:t>
            </a:r>
          </a:p>
          <a:p>
            <a:pPr algn="l">
              <a:spcBef>
                <a:spcPts val="100"/>
              </a:spcBef>
              <a:spcAft>
                <a:spcPts val="300"/>
              </a:spcAft>
              <a:defRPr sz="1000" b="0" i="0">
                <a:solidFill>
                  <a:srgbClr val="0B1736"/>
                </a:solidFill>
                <a:latin typeface="Arial"/>
              </a:defRPr>
            </a:pPr>
            <a:r>
              <a:t>Concrete production accounts for ~8% of global CO2 emissions [IEA 2021]. In conventional construction, walls are built at uniform thickness - a practice driven by formwork constraints, not structural need. Interior partitions bear negligible loads compared to exterior shear walls, creating a substantial opportunity for material reduction.</a:t>
            </a:r>
          </a:p>
          <a:p>
            <a:pPr algn="l">
              <a:spcBef>
                <a:spcPts val="100"/>
              </a:spcBef>
              <a:spcAft>
                <a:spcPts val="100"/>
              </a:spcAft>
              <a:defRPr sz="1200" b="1" i="0">
                <a:solidFill>
                  <a:srgbClr val="008C9E"/>
                </a:solidFill>
                <a:latin typeface="Arial"/>
              </a:defRPr>
            </a:pPr>
            <a:r>
              <a:t>ADDITIVE MANUFACTURING</a:t>
            </a:r>
          </a:p>
          <a:p>
            <a:pPr algn="l">
              <a:spcBef>
                <a:spcPts val="100"/>
              </a:spcBef>
              <a:spcAft>
                <a:spcPts val="300"/>
              </a:spcAft>
              <a:defRPr sz="1000" b="0" i="0">
                <a:solidFill>
                  <a:srgbClr val="0B1736"/>
                </a:solidFill>
                <a:latin typeface="Arial"/>
              </a:defRPr>
            </a:pPr>
            <a:r>
              <a:t>Large-scale 3D printing (ICON, COBOD, Apis Cor) can realize arbitrary wall profiles at no marginal tooling cost. However, exploiting this geometric freedom requires optimized 3D models that minimize volume, satisfy structural constraints under ASCE 7-22 load cases, and produce watertight meshes compatible with printer toolpath generation.</a:t>
            </a:r>
          </a:p>
          <a:p>
            <a:pPr algn="l">
              <a:spcBef>
                <a:spcPts val="100"/>
              </a:spcBef>
              <a:spcAft>
                <a:spcPts val="100"/>
              </a:spcAft>
              <a:defRPr sz="1200" b="1" i="0">
                <a:solidFill>
                  <a:srgbClr val="008C9E"/>
                </a:solidFill>
                <a:latin typeface="Arial"/>
              </a:defRPr>
            </a:pPr>
            <a:r>
              <a:t>COMPUTATIONAL BOTTLENECK</a:t>
            </a:r>
          </a:p>
          <a:p>
            <a:pPr algn="l">
              <a:spcBef>
                <a:spcPts val="100"/>
              </a:spcBef>
              <a:spcAft>
                <a:spcPts val="300"/>
              </a:spcAft>
              <a:defRPr sz="1000" b="0" i="0">
                <a:solidFill>
                  <a:srgbClr val="0B1736"/>
                </a:solidFill>
                <a:latin typeface="Arial"/>
              </a:defRPr>
            </a:pPr>
            <a:r>
              <a:t>Classical SIMP requires hundreds-thousands of FEA evaluations, each costing minutes-hours at building scale. Voxel-based implementations using 26-connectivity produce disconnected floating fragments incompatible with AM.</a:t>
            </a:r>
          </a:p>
          <a:p>
            <a:pPr algn="l">
              <a:spcBef>
                <a:spcPts val="100"/>
              </a:spcBef>
              <a:spcAft>
                <a:spcPts val="100"/>
              </a:spcAft>
              <a:defRPr sz="1200" b="1" i="0">
                <a:solidFill>
                  <a:srgbClr val="D7263D"/>
                </a:solidFill>
                <a:latin typeface="Arial"/>
              </a:defRPr>
            </a:pPr>
            <a:r>
              <a:t>SASTO CONTRIBUTION</a:t>
            </a:r>
          </a:p>
          <a:p>
            <a:pPr algn="l">
              <a:spcBef>
                <a:spcPts val="100"/>
              </a:spcBef>
              <a:spcAft>
                <a:spcPts val="200"/>
              </a:spcAft>
              <a:defRPr sz="1000" b="1" i="0">
                <a:solidFill>
                  <a:srgbClr val="0B1736"/>
                </a:solidFill>
                <a:latin typeface="Arial"/>
              </a:defRPr>
            </a:pPr>
            <a:r>
              <a:t>SASTO replaces FEA with a deep ensemble surrogate, achieving 23-92x speedup. A 6-connectivity criterion eliminates floating fragments. Part-aware thickness enables differential thinning. Across 1,114 geometries: 23.5% +/- 7.8% mean reduction, zero violations.</a:t>
            </a:r>
          </a:p>
        </p:txBody>
      </p:sp>
      <p:pic>
        <p:nvPicPr>
          <p:cNvPr id="21" name="Picture 20" descr="fig02_uniform_vs_optimized.png"/>
          <p:cNvPicPr>
            <a:picLocks noChangeAspect="1"/>
          </p:cNvPicPr>
          <p:nvPr/>
        </p:nvPicPr>
        <p:blipFill>
          <a:blip r:embed="rId5"/>
          <a:stretch>
            <a:fillRect/>
          </a:stretch>
        </p:blipFill>
        <p:spPr>
          <a:xfrm>
            <a:off x="6565392" y="9004115"/>
            <a:ext cx="4151376" cy="1724521"/>
          </a:xfrm>
          <a:prstGeom prst="rect">
            <a:avLst/>
          </a:prstGeom>
        </p:spPr>
      </p:pic>
      <p:sp>
        <p:nvSpPr>
          <p:cNvPr id="22" name="TextBox 21"/>
          <p:cNvSpPr txBox="1"/>
          <p:nvPr/>
        </p:nvSpPr>
        <p:spPr>
          <a:xfrm>
            <a:off x="6565392" y="12152376"/>
            <a:ext cx="4151376" cy="182880"/>
          </a:xfrm>
          <a:prstGeom prst="rect">
            <a:avLst/>
          </a:prstGeom>
          <a:noFill/>
        </p:spPr>
        <p:txBody>
          <a:bodyPr wrap="square"/>
          <a:lstStyle/>
          <a:p>
            <a:pPr algn="ctr">
              <a:spcBef>
                <a:spcPts val="0"/>
              </a:spcBef>
              <a:spcAft>
                <a:spcPts val="0"/>
              </a:spcAft>
              <a:defRPr sz="800" b="0" i="1">
                <a:solidFill>
                  <a:srgbClr val="0B1736"/>
                </a:solidFill>
                <a:latin typeface="Arial"/>
              </a:defRPr>
            </a:pPr>
            <a:r>
              <a:t>Uniform vs. SASTO optimized*</a:t>
            </a:r>
          </a:p>
        </p:txBody>
      </p:sp>
      <p:sp>
        <p:nvSpPr>
          <p:cNvPr id="23" name="Rounded Rectangle 22"/>
          <p:cNvSpPr/>
          <p:nvPr/>
        </p:nvSpPr>
        <p:spPr>
          <a:xfrm>
            <a:off x="164592" y="12920472"/>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 y="12920472"/>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RESEARCH OBJECTIVES</a:t>
            </a:r>
          </a:p>
        </p:txBody>
      </p:sp>
      <p:sp>
        <p:nvSpPr>
          <p:cNvPr id="25" name="Rounded Rectangle 24"/>
          <p:cNvSpPr/>
          <p:nvPr/>
        </p:nvSpPr>
        <p:spPr>
          <a:xfrm>
            <a:off x="164592" y="13331951"/>
            <a:ext cx="10643616" cy="22860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56032" y="13423391"/>
            <a:ext cx="237744" cy="237744"/>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 y="13423391"/>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1</a:t>
            </a:r>
          </a:p>
        </p:txBody>
      </p:sp>
      <p:sp>
        <p:nvSpPr>
          <p:cNvPr id="28" name="TextBox 27"/>
          <p:cNvSpPr txBox="1"/>
          <p:nvPr/>
        </p:nvSpPr>
        <p:spPr>
          <a:xfrm>
            <a:off x="566928" y="13414247"/>
            <a:ext cx="1280160" cy="219456"/>
          </a:xfrm>
          <a:prstGeom prst="rect">
            <a:avLst/>
          </a:prstGeom>
          <a:noFill/>
        </p:spPr>
        <p:txBody>
          <a:bodyPr wrap="square"/>
          <a:lstStyle/>
          <a:p>
            <a:pPr algn="l">
              <a:spcBef>
                <a:spcPts val="0"/>
              </a:spcBef>
              <a:spcAft>
                <a:spcPts val="0"/>
              </a:spcAft>
              <a:defRPr sz="1100" b="1" i="0">
                <a:solidFill>
                  <a:srgbClr val="008C9E"/>
                </a:solidFill>
                <a:latin typeface="Arial"/>
              </a:defRPr>
            </a:pPr>
            <a:r>
              <a:t>SPEED</a:t>
            </a:r>
          </a:p>
        </p:txBody>
      </p:sp>
      <p:sp>
        <p:nvSpPr>
          <p:cNvPr id="29" name="TextBox 28"/>
          <p:cNvSpPr txBox="1"/>
          <p:nvPr/>
        </p:nvSpPr>
        <p:spPr>
          <a:xfrm>
            <a:off x="1865376" y="13414247"/>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23-92x speedup via deep ensemble surrogate replacing FEA during optimization</a:t>
            </a:r>
          </a:p>
        </p:txBody>
      </p:sp>
      <p:sp>
        <p:nvSpPr>
          <p:cNvPr id="30" name="Rounded Rectangle 29"/>
          <p:cNvSpPr/>
          <p:nvPr/>
        </p:nvSpPr>
        <p:spPr>
          <a:xfrm>
            <a:off x="256032" y="13715999"/>
            <a:ext cx="237744" cy="237744"/>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 y="13715999"/>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2</a:t>
            </a:r>
          </a:p>
        </p:txBody>
      </p:sp>
      <p:sp>
        <p:nvSpPr>
          <p:cNvPr id="32" name="TextBox 31"/>
          <p:cNvSpPr txBox="1"/>
          <p:nvPr/>
        </p:nvSpPr>
        <p:spPr>
          <a:xfrm>
            <a:off x="566928" y="13706855"/>
            <a:ext cx="1280160" cy="219456"/>
          </a:xfrm>
          <a:prstGeom prst="rect">
            <a:avLst/>
          </a:prstGeom>
          <a:noFill/>
        </p:spPr>
        <p:txBody>
          <a:bodyPr wrap="square"/>
          <a:lstStyle/>
          <a:p>
            <a:pPr algn="l">
              <a:spcBef>
                <a:spcPts val="0"/>
              </a:spcBef>
              <a:spcAft>
                <a:spcPts val="0"/>
              </a:spcAft>
              <a:defRPr sz="1100" b="1" i="0">
                <a:solidFill>
                  <a:srgbClr val="008C9E"/>
                </a:solidFill>
                <a:latin typeface="Arial"/>
              </a:defRPr>
            </a:pPr>
            <a:r>
              <a:t>PRINTABILITY</a:t>
            </a:r>
          </a:p>
        </p:txBody>
      </p:sp>
      <p:sp>
        <p:nvSpPr>
          <p:cNvPr id="33" name="TextBox 32"/>
          <p:cNvSpPr txBox="1"/>
          <p:nvPr/>
        </p:nvSpPr>
        <p:spPr>
          <a:xfrm>
            <a:off x="1865376" y="13706855"/>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6-connected topology -&gt; single-mesh watertight STL for AM toolpath</a:t>
            </a:r>
          </a:p>
        </p:txBody>
      </p:sp>
      <p:sp>
        <p:nvSpPr>
          <p:cNvPr id="34" name="Rounded Rectangle 33"/>
          <p:cNvSpPr/>
          <p:nvPr/>
        </p:nvSpPr>
        <p:spPr>
          <a:xfrm>
            <a:off x="256032" y="14008607"/>
            <a:ext cx="237744" cy="237744"/>
          </a:xfrm>
          <a:prstGeom prst="roundRect">
            <a:avLst>
              <a:gd name="adj" fmla="val 50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 y="14008607"/>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3</a:t>
            </a:r>
          </a:p>
        </p:txBody>
      </p:sp>
      <p:sp>
        <p:nvSpPr>
          <p:cNvPr id="36" name="TextBox 35"/>
          <p:cNvSpPr txBox="1"/>
          <p:nvPr/>
        </p:nvSpPr>
        <p:spPr>
          <a:xfrm>
            <a:off x="566928" y="13999463"/>
            <a:ext cx="1280160" cy="219456"/>
          </a:xfrm>
          <a:prstGeom prst="rect">
            <a:avLst/>
          </a:prstGeom>
          <a:noFill/>
        </p:spPr>
        <p:txBody>
          <a:bodyPr wrap="square"/>
          <a:lstStyle/>
          <a:p>
            <a:pPr algn="l">
              <a:spcBef>
                <a:spcPts val="0"/>
              </a:spcBef>
              <a:spcAft>
                <a:spcPts val="0"/>
              </a:spcAft>
              <a:defRPr sz="1100" b="1" i="0">
                <a:solidFill>
                  <a:srgbClr val="CFA535"/>
                </a:solidFill>
                <a:latin typeface="Arial"/>
              </a:defRPr>
            </a:pPr>
            <a:r>
              <a:t>EFFICIENCY</a:t>
            </a:r>
          </a:p>
        </p:txBody>
      </p:sp>
      <p:sp>
        <p:nvSpPr>
          <p:cNvPr id="37" name="TextBox 36"/>
          <p:cNvSpPr txBox="1"/>
          <p:nvPr/>
        </p:nvSpPr>
        <p:spPr>
          <a:xfrm>
            <a:off x="1865376" y="13999463"/>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23.5% +/- 7.8% mean material reduction (up to 45.0%) across 1,114 geometries</a:t>
            </a:r>
          </a:p>
        </p:txBody>
      </p:sp>
      <p:sp>
        <p:nvSpPr>
          <p:cNvPr id="38" name="Rounded Rectangle 37"/>
          <p:cNvSpPr/>
          <p:nvPr/>
        </p:nvSpPr>
        <p:spPr>
          <a:xfrm>
            <a:off x="256032" y="14301215"/>
            <a:ext cx="237744" cy="237744"/>
          </a:xfrm>
          <a:prstGeom prst="roundRect">
            <a:avLst>
              <a:gd name="adj" fmla="val 5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6032" y="14301215"/>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4</a:t>
            </a:r>
          </a:p>
        </p:txBody>
      </p:sp>
      <p:sp>
        <p:nvSpPr>
          <p:cNvPr id="40" name="TextBox 39"/>
          <p:cNvSpPr txBox="1"/>
          <p:nvPr/>
        </p:nvSpPr>
        <p:spPr>
          <a:xfrm>
            <a:off x="566928" y="14292072"/>
            <a:ext cx="1280160" cy="219456"/>
          </a:xfrm>
          <a:prstGeom prst="rect">
            <a:avLst/>
          </a:prstGeom>
          <a:noFill/>
        </p:spPr>
        <p:txBody>
          <a:bodyPr wrap="square"/>
          <a:lstStyle/>
          <a:p>
            <a:pPr algn="l">
              <a:spcBef>
                <a:spcPts val="0"/>
              </a:spcBef>
              <a:spcAft>
                <a:spcPts val="0"/>
              </a:spcAft>
              <a:defRPr sz="1100" b="1" i="0">
                <a:solidFill>
                  <a:srgbClr val="D7263D"/>
                </a:solidFill>
                <a:latin typeface="Arial"/>
              </a:defRPr>
            </a:pPr>
            <a:r>
              <a:t>SAFETY</a:t>
            </a:r>
          </a:p>
        </p:txBody>
      </p:sp>
      <p:sp>
        <p:nvSpPr>
          <p:cNvPr id="41" name="TextBox 40"/>
          <p:cNvSpPr txBox="1"/>
          <p:nvPr/>
        </p:nvSpPr>
        <p:spPr>
          <a:xfrm>
            <a:off x="1865376" y="14292072"/>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0/1,114 FEA violations; conformal P(violation) &lt;= 0.09%</a:t>
            </a:r>
          </a:p>
        </p:txBody>
      </p:sp>
      <p:sp>
        <p:nvSpPr>
          <p:cNvPr id="42" name="Rounded Rectangle 41"/>
          <p:cNvSpPr/>
          <p:nvPr/>
        </p:nvSpPr>
        <p:spPr>
          <a:xfrm>
            <a:off x="530352"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Data</a:t>
            </a:r>
            <a:br/>
            <a:r>
              <a:t>Generation</a:t>
            </a:r>
          </a:p>
        </p:txBody>
      </p:sp>
      <p:sp>
        <p:nvSpPr>
          <p:cNvPr id="44" name="TextBox 43"/>
          <p:cNvSpPr txBox="1"/>
          <p:nvPr/>
        </p:nvSpPr>
        <p:spPr>
          <a:xfrm>
            <a:off x="2834640" y="14758416"/>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-&gt;</a:t>
            </a:r>
          </a:p>
        </p:txBody>
      </p:sp>
      <p:sp>
        <p:nvSpPr>
          <p:cNvPr id="45" name="Rounded Rectangle 44"/>
          <p:cNvSpPr/>
          <p:nvPr/>
        </p:nvSpPr>
        <p:spPr>
          <a:xfrm>
            <a:off x="3072384"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72384"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Surrogate</a:t>
            </a:r>
            <a:br/>
            <a:r>
              <a:t>Training</a:t>
            </a:r>
          </a:p>
        </p:txBody>
      </p:sp>
      <p:sp>
        <p:nvSpPr>
          <p:cNvPr id="47" name="TextBox 46"/>
          <p:cNvSpPr txBox="1"/>
          <p:nvPr/>
        </p:nvSpPr>
        <p:spPr>
          <a:xfrm>
            <a:off x="5376672" y="14758416"/>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-&gt;</a:t>
            </a:r>
          </a:p>
        </p:txBody>
      </p:sp>
      <p:sp>
        <p:nvSpPr>
          <p:cNvPr id="48" name="Rounded Rectangle 47"/>
          <p:cNvSpPr/>
          <p:nvPr/>
        </p:nvSpPr>
        <p:spPr>
          <a:xfrm>
            <a:off x="5614416"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14416"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SASTO</a:t>
            </a:r>
            <a:br/>
            <a:r>
              <a:t>Optimize</a:t>
            </a:r>
          </a:p>
        </p:txBody>
      </p:sp>
      <p:sp>
        <p:nvSpPr>
          <p:cNvPr id="50" name="TextBox 49"/>
          <p:cNvSpPr txBox="1"/>
          <p:nvPr/>
        </p:nvSpPr>
        <p:spPr>
          <a:xfrm>
            <a:off x="7918704" y="14758416"/>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-&gt;</a:t>
            </a:r>
          </a:p>
        </p:txBody>
      </p:sp>
      <p:sp>
        <p:nvSpPr>
          <p:cNvPr id="51" name="Rounded Rectangle 50"/>
          <p:cNvSpPr/>
          <p:nvPr/>
        </p:nvSpPr>
        <p:spPr>
          <a:xfrm>
            <a:off x="8156448"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56448"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Validate</a:t>
            </a:r>
            <a:br/>
            <a:r>
              <a:t>&amp; Certify</a:t>
            </a:r>
          </a:p>
        </p:txBody>
      </p:sp>
      <p:sp>
        <p:nvSpPr>
          <p:cNvPr id="53" name="Rounded Rectangle 52"/>
          <p:cNvSpPr/>
          <p:nvPr/>
        </p:nvSpPr>
        <p:spPr>
          <a:xfrm>
            <a:off x="164592" y="15654527"/>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64592" y="15654527"/>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ENGINEERING DESIGN CRITERIA</a:t>
            </a:r>
          </a:p>
        </p:txBody>
      </p:sp>
      <p:sp>
        <p:nvSpPr>
          <p:cNvPr id="55" name="Rounded Rectangle 54"/>
          <p:cNvSpPr/>
          <p:nvPr/>
        </p:nvSpPr>
        <p:spPr>
          <a:xfrm>
            <a:off x="164592" y="16066007"/>
            <a:ext cx="10643616" cy="32004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ig18_design_criteria_table.png"/>
          <p:cNvPicPr>
            <a:picLocks noChangeAspect="1"/>
          </p:cNvPicPr>
          <p:nvPr/>
        </p:nvPicPr>
        <p:blipFill>
          <a:blip r:embed="rId6"/>
          <a:stretch>
            <a:fillRect/>
          </a:stretch>
        </p:blipFill>
        <p:spPr>
          <a:xfrm>
            <a:off x="3260220" y="16157447"/>
            <a:ext cx="4452358" cy="1463040"/>
          </a:xfrm>
          <a:prstGeom prst="rect">
            <a:avLst/>
          </a:prstGeom>
        </p:spPr>
      </p:pic>
      <p:sp>
        <p:nvSpPr>
          <p:cNvPr id="57" name="Rounded Rectangle 56"/>
          <p:cNvSpPr/>
          <p:nvPr/>
        </p:nvSpPr>
        <p:spPr>
          <a:xfrm>
            <a:off x="256032" y="17657064"/>
            <a:ext cx="10460736" cy="347472"/>
          </a:xfrm>
          <a:prstGeom prst="roundRect">
            <a:avLst>
              <a:gd name="adj" fmla="val 25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10896" y="17684496"/>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sigma_VM,allow = f'c / (gamma_m x gamma_f) = 30 / (3.0 x 2.0) = 5.0 MPa</a:t>
            </a:r>
          </a:p>
        </p:txBody>
      </p:sp>
      <p:sp>
        <p:nvSpPr>
          <p:cNvPr id="59" name="Rounded Rectangle 58"/>
          <p:cNvSpPr/>
          <p:nvPr/>
        </p:nvSpPr>
        <p:spPr>
          <a:xfrm>
            <a:off x="256032" y="18041112"/>
            <a:ext cx="10460736" cy="347472"/>
          </a:xfrm>
          <a:prstGeom prst="roundRect">
            <a:avLst>
              <a:gd name="adj" fmla="val 25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10896" y="18068544"/>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Conservative bound: mu_sigma + k*sigma_sigma, k=1.0 -&gt; P(violation) &lt;= 0.09%</a:t>
            </a:r>
          </a:p>
        </p:txBody>
      </p:sp>
      <p:sp>
        <p:nvSpPr>
          <p:cNvPr id="61" name="TextBox 60"/>
          <p:cNvSpPr txBox="1"/>
          <p:nvPr/>
        </p:nvSpPr>
        <p:spPr>
          <a:xfrm>
            <a:off x="256032" y="18425160"/>
            <a:ext cx="10460736" cy="548640"/>
          </a:xfrm>
          <a:prstGeom prst="rect">
            <a:avLst/>
          </a:prstGeom>
          <a:noFill/>
        </p:spPr>
        <p:txBody>
          <a:bodyPr wrap="square"/>
          <a:lstStyle/>
          <a:p>
            <a:pPr algn="l">
              <a:spcBef>
                <a:spcPts val="0"/>
              </a:spcBef>
              <a:spcAft>
                <a:spcPts val="0"/>
              </a:spcAft>
              <a:defRPr sz="900" b="0" i="0">
                <a:solidFill>
                  <a:srgbClr val="0B1736"/>
                </a:solidFill>
                <a:latin typeface="Arial"/>
              </a:defRPr>
            </a:pPr>
            <a:r>
              <a:t>Material: isotropic linear elastic concrete. E=25 GPa, v=0.20, rho=2,400 kg/m3, f'c=30 MPa. Loading: ASCE 7-22 ASD - dead (self-weight), live (1.92 kPa), lateral wind (0.96 kPa). Fixed-base BC at min-x face.</a:t>
            </a:r>
          </a:p>
        </p:txBody>
      </p:sp>
      <p:sp>
        <p:nvSpPr>
          <p:cNvPr id="62" name="Rounded Rectangle 61"/>
          <p:cNvSpPr/>
          <p:nvPr/>
        </p:nvSpPr>
        <p:spPr>
          <a:xfrm>
            <a:off x="164592" y="19302983"/>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64592" y="19302983"/>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PROBLEM FRAMING</a:t>
            </a:r>
          </a:p>
        </p:txBody>
      </p:sp>
      <p:sp>
        <p:nvSpPr>
          <p:cNvPr id="64" name="Rounded Rectangle 63"/>
          <p:cNvSpPr/>
          <p:nvPr/>
        </p:nvSpPr>
        <p:spPr>
          <a:xfrm>
            <a:off x="164592" y="19714463"/>
            <a:ext cx="10643616" cy="13039344"/>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56032" y="19805903"/>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Optimization Objective</a:t>
            </a:r>
          </a:p>
        </p:txBody>
      </p:sp>
      <p:pic>
        <p:nvPicPr>
          <p:cNvPr id="66" name="Picture 65" descr="fig16_optimization_objective.png"/>
          <p:cNvPicPr>
            <a:picLocks noChangeAspect="1"/>
          </p:cNvPicPr>
          <p:nvPr/>
        </p:nvPicPr>
        <p:blipFill>
          <a:blip r:embed="rId7"/>
          <a:stretch>
            <a:fillRect/>
          </a:stretch>
        </p:blipFill>
        <p:spPr>
          <a:xfrm>
            <a:off x="3557645" y="20007071"/>
            <a:ext cx="3857509" cy="1097280"/>
          </a:xfrm>
          <a:prstGeom prst="rect">
            <a:avLst/>
          </a:prstGeom>
        </p:spPr>
      </p:pic>
      <p:sp>
        <p:nvSpPr>
          <p:cNvPr id="67" name="TextBox 66"/>
          <p:cNvSpPr txBox="1"/>
          <p:nvPr/>
        </p:nvSpPr>
        <p:spPr>
          <a:xfrm>
            <a:off x="256032" y="21140927"/>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Sensitivity via Surrogate Backpropagation</a:t>
            </a:r>
          </a:p>
        </p:txBody>
      </p:sp>
      <p:pic>
        <p:nvPicPr>
          <p:cNvPr id="68" name="Picture 67" descr="fig17_sensitivity_formula.png"/>
          <p:cNvPicPr>
            <a:picLocks noChangeAspect="1"/>
          </p:cNvPicPr>
          <p:nvPr/>
        </p:nvPicPr>
        <p:blipFill>
          <a:blip r:embed="rId8"/>
          <a:stretch>
            <a:fillRect/>
          </a:stretch>
        </p:blipFill>
        <p:spPr>
          <a:xfrm>
            <a:off x="2684032" y="21342095"/>
            <a:ext cx="5604734" cy="1097280"/>
          </a:xfrm>
          <a:prstGeom prst="rect">
            <a:avLst/>
          </a:prstGeom>
        </p:spPr>
      </p:pic>
      <p:sp>
        <p:nvSpPr>
          <p:cNvPr id="69" name="TextBox 68"/>
          <p:cNvSpPr txBox="1"/>
          <p:nvPr/>
        </p:nvSpPr>
        <p:spPr>
          <a:xfrm>
            <a:off x="256032" y="22475951"/>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Part-Aware Thickness Constraint</a:t>
            </a:r>
          </a:p>
        </p:txBody>
      </p:sp>
      <p:pic>
        <p:nvPicPr>
          <p:cNvPr id="70" name="Picture 69" descr="fig14_part_aware_thickness.png"/>
          <p:cNvPicPr>
            <a:picLocks noChangeAspect="1"/>
          </p:cNvPicPr>
          <p:nvPr/>
        </p:nvPicPr>
        <p:blipFill>
          <a:blip r:embed="rId9"/>
          <a:stretch>
            <a:fillRect/>
          </a:stretch>
        </p:blipFill>
        <p:spPr>
          <a:xfrm>
            <a:off x="256032" y="25669265"/>
            <a:ext cx="10460736" cy="3726637"/>
          </a:xfrm>
          <a:prstGeom prst="rect">
            <a:avLst/>
          </a:prstGeom>
        </p:spPr>
      </p:pic>
      <p:sp>
        <p:nvSpPr>
          <p:cNvPr id="71" name="TextBox 70"/>
          <p:cNvSpPr txBox="1"/>
          <p:nvPr/>
        </p:nvSpPr>
        <p:spPr>
          <a:xfrm>
            <a:off x="256032" y="3246120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5. Part-aware: 86.8% interior wall removal, no exterior degradation</a:t>
            </a:r>
          </a:p>
        </p:txBody>
      </p:sp>
      <p:sp>
        <p:nvSpPr>
          <p:cNvPr id="72" name="Rounded Rectangle 71"/>
          <p:cNvSpPr/>
          <p:nvPr/>
        </p:nvSpPr>
        <p:spPr>
          <a:xfrm>
            <a:off x="11137392" y="3063240"/>
            <a:ext cx="216164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37392" y="3063240"/>
            <a:ext cx="216164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ENGINEERING METHODOLOGY</a:t>
            </a:r>
          </a:p>
        </p:txBody>
      </p:sp>
      <p:sp>
        <p:nvSpPr>
          <p:cNvPr id="74" name="Rounded Rectangle 73"/>
          <p:cNvSpPr/>
          <p:nvPr/>
        </p:nvSpPr>
        <p:spPr>
          <a:xfrm>
            <a:off x="11137392" y="3474720"/>
            <a:ext cx="21616416" cy="150876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1228832" y="3566160"/>
            <a:ext cx="10652760" cy="7132320"/>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301984" y="3621024"/>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Dataset Generation Pipeline</a:t>
            </a:r>
          </a:p>
        </p:txBody>
      </p:sp>
      <p:pic>
        <p:nvPicPr>
          <p:cNvPr id="77" name="Picture 76" descr="fig03_dataset_pipeline.png"/>
          <p:cNvPicPr>
            <a:picLocks noChangeAspect="1"/>
          </p:cNvPicPr>
          <p:nvPr/>
        </p:nvPicPr>
        <p:blipFill>
          <a:blip r:embed="rId10"/>
          <a:stretch>
            <a:fillRect/>
          </a:stretch>
        </p:blipFill>
        <p:spPr>
          <a:xfrm>
            <a:off x="13844272" y="3840480"/>
            <a:ext cx="5421878" cy="2743200"/>
          </a:xfrm>
          <a:prstGeom prst="rect">
            <a:avLst/>
          </a:prstGeom>
        </p:spPr>
      </p:pic>
      <p:sp>
        <p:nvSpPr>
          <p:cNvPr id="78" name="TextBox 77"/>
          <p:cNvSpPr txBox="1"/>
          <p:nvPr/>
        </p:nvSpPr>
        <p:spPr>
          <a:xfrm>
            <a:off x="11301984" y="6601968"/>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6. 14,293 wireframes -&gt; 11,178 FEA sims -&gt; 128^3 voxel grids</a:t>
            </a:r>
          </a:p>
        </p:txBody>
      </p:sp>
      <p:graphicFrame>
        <p:nvGraphicFramePr>
          <p:cNvPr id="79" name="Table 78"/>
          <p:cNvGraphicFramePr>
            <a:graphicFrameLocks noGrp="1"/>
          </p:cNvGraphicFramePr>
          <p:nvPr/>
        </p:nvGraphicFramePr>
        <p:xfrm>
          <a:off x="11301984" y="6821424"/>
          <a:ext cx="10506455" cy="804672"/>
        </p:xfrm>
        <a:graphic>
          <a:graphicData uri="http://schemas.openxmlformats.org/drawingml/2006/table">
            <a:tbl>
              <a:tblPr firstRow="1" bandRow="1">
                <a:tableStyleId>{5C22544A-7EE6-4342-B048-85BDC9FD1C3A}</a:tableStyleId>
              </a:tblPr>
              <a:tblGrid>
                <a:gridCol w="3151936"/>
                <a:gridCol w="2626614"/>
                <a:gridCol w="4727905"/>
              </a:tblGrid>
              <a:tr h="201168">
                <a:tc>
                  <a:txBody>
                    <a:bodyPr/>
                    <a:lstStyle/>
                    <a:p>
                      <a:pPr algn="l">
                        <a:defRPr sz="1000" b="1">
                          <a:solidFill>
                            <a:srgbClr val="FFFFFF"/>
                          </a:solidFill>
                          <a:latin typeface="Arial"/>
                        </a:defRPr>
                      </a:pPr>
                      <a:r>
                        <a:t>Split</a:t>
                      </a:r>
                    </a:p>
                  </a:txBody>
                  <a:tcPr>
                    <a:solidFill>
                      <a:srgbClr val="0A3D9A"/>
                    </a:solidFill>
                  </a:tcPr>
                </a:tc>
                <a:tc>
                  <a:txBody>
                    <a:bodyPr/>
                    <a:lstStyle/>
                    <a:p>
                      <a:pPr algn="l">
                        <a:defRPr sz="1000" b="1">
                          <a:solidFill>
                            <a:srgbClr val="FFFFFF"/>
                          </a:solidFill>
                          <a:latin typeface="Arial"/>
                        </a:defRPr>
                      </a:pPr>
                      <a:r>
                        <a:t>n</a:t>
                      </a:r>
                    </a:p>
                  </a:txBody>
                  <a:tcPr>
                    <a:solidFill>
                      <a:srgbClr val="0A3D9A"/>
                    </a:solidFill>
                  </a:tcPr>
                </a:tc>
                <a:tc>
                  <a:txBody>
                    <a:bodyPr/>
                    <a:lstStyle/>
                    <a:p>
                      <a:pPr algn="l">
                        <a:defRPr sz="1000" b="1">
                          <a:solidFill>
                            <a:srgbClr val="FFFFFF"/>
                          </a:solidFill>
                          <a:latin typeface="Arial"/>
                        </a:defRPr>
                      </a:pPr>
                      <a:r>
                        <a:t>Targets</a:t>
                      </a:r>
                    </a:p>
                  </a:txBody>
                  <a:tcPr>
                    <a:solidFill>
                      <a:srgbClr val="0A3D9A"/>
                    </a:solidFill>
                  </a:tcPr>
                </a:tc>
              </a:tr>
              <a:tr h="201168">
                <a:tc>
                  <a:txBody>
                    <a:bodyPr/>
                    <a:lstStyle/>
                    <a:p>
                      <a:pPr algn="l">
                        <a:defRPr sz="1000">
                          <a:solidFill>
                            <a:srgbClr val="0B1736"/>
                          </a:solidFill>
                          <a:latin typeface="Arial"/>
                        </a:defRPr>
                      </a:pPr>
                      <a:r>
                        <a:t>Train</a:t>
                      </a:r>
                    </a:p>
                  </a:txBody>
                  <a:tcPr>
                    <a:solidFill>
                      <a:srgbClr val="F7F9FC"/>
                    </a:solidFill>
                  </a:tcPr>
                </a:tc>
                <a:tc>
                  <a:txBody>
                    <a:bodyPr/>
                    <a:lstStyle/>
                    <a:p>
                      <a:pPr algn="l">
                        <a:defRPr sz="1000">
                          <a:solidFill>
                            <a:srgbClr val="0B1736"/>
                          </a:solidFill>
                          <a:latin typeface="Arial"/>
                        </a:defRPr>
                      </a:pPr>
                      <a:r>
                        <a:t>8,943</a:t>
                      </a:r>
                    </a:p>
                  </a:txBody>
                  <a:tcPr>
                    <a:solidFill>
                      <a:srgbClr val="F7F9FC"/>
                    </a:solidFill>
                  </a:tcPr>
                </a:tc>
                <a:tc>
                  <a:txBody>
                    <a:bodyPr/>
                    <a:lstStyle/>
                    <a:p>
                      <a:pPr algn="l">
                        <a:defRPr sz="1000">
                          <a:solidFill>
                            <a:srgbClr val="0B1736"/>
                          </a:solidFill>
                          <a:latin typeface="Arial"/>
                        </a:defRPr>
                      </a:pPr>
                      <a:r>
                        <a:t>sigma_VM, u_max, C</a:t>
                      </a:r>
                    </a:p>
                  </a:txBody>
                  <a:tcPr>
                    <a:solidFill>
                      <a:srgbClr val="F7F9FC"/>
                    </a:solidFill>
                  </a:tcPr>
                </a:tc>
              </a:tr>
              <a:tr h="201168">
                <a:tc>
                  <a:txBody>
                    <a:bodyPr/>
                    <a:lstStyle/>
                    <a:p>
                      <a:pPr algn="l">
                        <a:defRPr sz="1000">
                          <a:solidFill>
                            <a:srgbClr val="0B1736"/>
                          </a:solidFill>
                          <a:latin typeface="Arial"/>
                        </a:defRPr>
                      </a:pPr>
                      <a:r>
                        <a:t>Validation</a:t>
                      </a:r>
                    </a:p>
                  </a:txBody>
                  <a:tcPr>
                    <a:solidFill>
                      <a:srgbClr val="EEF2FA"/>
                    </a:solidFill>
                  </a:tcPr>
                </a:tc>
                <a:tc>
                  <a:txBody>
                    <a:bodyPr/>
                    <a:lstStyle/>
                    <a:p>
                      <a:pPr algn="l">
                        <a:defRPr sz="1000">
                          <a:solidFill>
                            <a:srgbClr val="0B1736"/>
                          </a:solidFill>
                          <a:latin typeface="Arial"/>
                        </a:defRPr>
                      </a:pPr>
                      <a:r>
                        <a:t>1,121</a:t>
                      </a:r>
                    </a:p>
                  </a:txBody>
                  <a:tcPr>
                    <a:solidFill>
                      <a:srgbClr val="EEF2FA"/>
                    </a:solidFill>
                  </a:tcPr>
                </a:tc>
                <a:tc>
                  <a:txBody>
                    <a:bodyPr/>
                    <a:lstStyle/>
                    <a:p>
                      <a:pPr algn="l">
                        <a:defRPr sz="1000">
                          <a:solidFill>
                            <a:srgbClr val="0B1736"/>
                          </a:solidFill>
                          <a:latin typeface="Arial"/>
                        </a:defRPr>
                      </a:pPr>
                      <a:r>
                        <a:t>--</a:t>
                      </a:r>
                    </a:p>
                  </a:txBody>
                  <a:tcPr>
                    <a:solidFill>
                      <a:srgbClr val="EEF2FA"/>
                    </a:solidFill>
                  </a:tcPr>
                </a:tc>
              </a:tr>
              <a:tr h="201168">
                <a:tc>
                  <a:txBody>
                    <a:bodyPr/>
                    <a:lstStyle/>
                    <a:p>
                      <a:pPr algn="l">
                        <a:defRPr sz="1000">
                          <a:solidFill>
                            <a:srgbClr val="0B1736"/>
                          </a:solidFill>
                          <a:latin typeface="Arial"/>
                        </a:defRPr>
                      </a:pPr>
                      <a:r>
                        <a:t>Test</a:t>
                      </a:r>
                    </a:p>
                  </a:txBody>
                  <a:tcPr>
                    <a:solidFill>
                      <a:srgbClr val="F7F9FC"/>
                    </a:solidFill>
                  </a:tcPr>
                </a:tc>
                <a:tc>
                  <a:txBody>
                    <a:bodyPr/>
                    <a:lstStyle/>
                    <a:p>
                      <a:pPr algn="l">
                        <a:defRPr sz="1000">
                          <a:solidFill>
                            <a:srgbClr val="0B1736"/>
                          </a:solidFill>
                          <a:latin typeface="Arial"/>
                        </a:defRPr>
                      </a:pPr>
                      <a:r>
                        <a:t>1,114</a:t>
                      </a:r>
                    </a:p>
                  </a:txBody>
                  <a:tcPr>
                    <a:solidFill>
                      <a:srgbClr val="F7F9FC"/>
                    </a:solidFill>
                  </a:tcPr>
                </a:tc>
                <a:tc>
                  <a:txBody>
                    <a:bodyPr/>
                    <a:lstStyle/>
                    <a:p>
                      <a:pPr algn="l">
                        <a:defRPr sz="1000">
                          <a:solidFill>
                            <a:srgbClr val="0B1736"/>
                          </a:solidFill>
                          <a:latin typeface="Arial"/>
                        </a:defRPr>
                      </a:pPr>
                      <a:r>
                        <a:t>Ground-truth FEA</a:t>
                      </a:r>
                    </a:p>
                  </a:txBody>
                  <a:tcPr>
                    <a:solidFill>
                      <a:srgbClr val="F7F9FC"/>
                    </a:solidFill>
                  </a:tcPr>
                </a:tc>
              </a:tr>
            </a:tbl>
          </a:graphicData>
        </a:graphic>
      </p:graphicFrame>
      <p:sp>
        <p:nvSpPr>
          <p:cNvPr id="80" name="TextBox 79"/>
          <p:cNvSpPr txBox="1"/>
          <p:nvPr/>
        </p:nvSpPr>
        <p:spPr>
          <a:xfrm>
            <a:off x="11301984" y="7680960"/>
            <a:ext cx="10506456" cy="1645920"/>
          </a:xfrm>
          <a:prstGeom prst="rect">
            <a:avLst/>
          </a:prstGeom>
          <a:noFill/>
        </p:spPr>
        <p:txBody>
          <a:bodyPr wrap="square"/>
          <a:lstStyle/>
          <a:p>
            <a:pPr algn="l">
              <a:spcBef>
                <a:spcPts val="0"/>
              </a:spcBef>
              <a:spcAft>
                <a:spcPts val="0"/>
              </a:spcAft>
              <a:defRPr sz="900" b="0" i="0">
                <a:solidFill>
                  <a:srgbClr val="0B1736"/>
                </a:solidFill>
                <a:latin typeface="Arial"/>
              </a:defRPr>
            </a:pPr>
            <a:r>
              <a:t>Pipeline: (1) 3DWire wireframe -&gt; volumetric parts via extrusion (ext walls 4 voxels ~316 mm, int walls 2 voxels ~158 mm); (2) boolean fusion via FreeCAD; (3) tetrahedral meshing via Gmsh (50k-200k elements); (4) SfePy FEA under ASCE 7-22 ASD loads; (5) voxelization onto 128^3 grid.</a:t>
            </a:r>
            <a:br/>
            <a:br/>
            <a:r>
              <a:t>Data filtering: 3,115/14,293 (21.8%) rejected for diverged displacement (&gt;1.0 m), degenerate compliance (&lt;1e-6 J), or invalid stress (&lt;=0 Pa). Retained data spans 4.9 orders of magnitude in stress and 7.7 orders in compliance.</a:t>
            </a:r>
          </a:p>
        </p:txBody>
      </p:sp>
      <p:sp>
        <p:nvSpPr>
          <p:cNvPr id="81" name="Rounded Rectangle 80"/>
          <p:cNvSpPr/>
          <p:nvPr/>
        </p:nvSpPr>
        <p:spPr>
          <a:xfrm>
            <a:off x="22009608" y="3566160"/>
            <a:ext cx="10652760" cy="7132320"/>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2082760" y="3621024"/>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Deep Ensemble Surrogate (5x8.76M params)</a:t>
            </a:r>
          </a:p>
        </p:txBody>
      </p:sp>
      <p:sp>
        <p:nvSpPr>
          <p:cNvPr id="83" name="Rounded Rectangle 82"/>
          <p:cNvSpPr/>
          <p:nvPr/>
        </p:nvSpPr>
        <p:spPr>
          <a:xfrm>
            <a:off x="31290768" y="3621024"/>
            <a:ext cx="1280160" cy="201168"/>
          </a:xfrm>
          <a:prstGeom prst="roundRect">
            <a:avLst>
              <a:gd name="adj" fmla="val 3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1290768" y="3621024"/>
            <a:ext cx="1280160" cy="201168"/>
          </a:xfrm>
          <a:prstGeom prst="rect">
            <a:avLst/>
          </a:prstGeom>
          <a:noFill/>
        </p:spPr>
        <p:txBody>
          <a:bodyPr wrap="square"/>
          <a:lstStyle/>
          <a:p>
            <a:pPr algn="ctr">
              <a:spcBef>
                <a:spcPts val="0"/>
              </a:spcBef>
              <a:spcAft>
                <a:spcPts val="0"/>
              </a:spcAft>
              <a:defRPr sz="900" b="1" i="0">
                <a:solidFill>
                  <a:srgbClr val="FFFFFF"/>
                </a:solidFill>
                <a:latin typeface="Arial"/>
              </a:defRPr>
            </a:pPr>
            <a:r>
              <a:t>x5 ENSEMBLE</a:t>
            </a:r>
          </a:p>
        </p:txBody>
      </p:sp>
      <p:pic>
        <p:nvPicPr>
          <p:cNvPr id="85" name="Picture 84" descr="fig04_architecture.png"/>
          <p:cNvPicPr>
            <a:picLocks noChangeAspect="1"/>
          </p:cNvPicPr>
          <p:nvPr/>
        </p:nvPicPr>
        <p:blipFill>
          <a:blip r:embed="rId11"/>
          <a:stretch>
            <a:fillRect/>
          </a:stretch>
        </p:blipFill>
        <p:spPr>
          <a:xfrm>
            <a:off x="23623549" y="3858768"/>
            <a:ext cx="7424876" cy="3657600"/>
          </a:xfrm>
          <a:prstGeom prst="rect">
            <a:avLst/>
          </a:prstGeom>
        </p:spPr>
      </p:pic>
      <p:sp>
        <p:nvSpPr>
          <p:cNvPr id="86" name="TextBox 85"/>
          <p:cNvSpPr txBox="1"/>
          <p:nvPr/>
        </p:nvSpPr>
        <p:spPr>
          <a:xfrm>
            <a:off x="22082760" y="7552944"/>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7. Dual pooling -&gt; 512-d -&gt; 3 scalar outputs per member</a:t>
            </a:r>
          </a:p>
        </p:txBody>
      </p:sp>
      <p:graphicFrame>
        <p:nvGraphicFramePr>
          <p:cNvPr id="87" name="Table 86"/>
          <p:cNvGraphicFramePr>
            <a:graphicFrameLocks noGrp="1"/>
          </p:cNvGraphicFramePr>
          <p:nvPr/>
        </p:nvGraphicFramePr>
        <p:xfrm>
          <a:off x="22082760" y="7772400"/>
          <a:ext cx="10506455" cy="1207008"/>
        </p:xfrm>
        <a:graphic>
          <a:graphicData uri="http://schemas.openxmlformats.org/drawingml/2006/table">
            <a:tbl>
              <a:tblPr firstRow="1" bandRow="1">
                <a:tableStyleId>{5C22544A-7EE6-4342-B048-85BDC9FD1C3A}</a:tableStyleId>
              </a:tblPr>
              <a:tblGrid>
                <a:gridCol w="4202582"/>
                <a:gridCol w="6303873"/>
              </a:tblGrid>
              <a:tr h="201168">
                <a:tc>
                  <a:txBody>
                    <a:bodyPr/>
                    <a:lstStyle/>
                    <a:p>
                      <a:pPr algn="l">
                        <a:defRPr sz="1000" b="1">
                          <a:solidFill>
                            <a:srgbClr val="FFFFFF"/>
                          </a:solidFill>
                          <a:latin typeface="Arial"/>
                        </a:defRPr>
                      </a:pPr>
                      <a:r>
                        <a:t>Parameter</a:t>
                      </a:r>
                    </a:p>
                  </a:txBody>
                  <a:tcPr>
                    <a:solidFill>
                      <a:srgbClr val="0A3D9A"/>
                    </a:solidFill>
                  </a:tcPr>
                </a:tc>
                <a:tc>
                  <a:txBody>
                    <a:bodyPr/>
                    <a:lstStyle/>
                    <a:p>
                      <a:pPr algn="l">
                        <a:defRPr sz="1000" b="1">
                          <a:solidFill>
                            <a:srgbClr val="FFFFFF"/>
                          </a:solidFill>
                          <a:latin typeface="Arial"/>
                        </a:defRPr>
                      </a:pPr>
                      <a:r>
                        <a:t>Value</a:t>
                      </a:r>
                    </a:p>
                  </a:txBody>
                  <a:tcPr>
                    <a:solidFill>
                      <a:srgbClr val="0A3D9A"/>
                    </a:solidFill>
                  </a:tcPr>
                </a:tc>
              </a:tr>
              <a:tr h="201168">
                <a:tc>
                  <a:txBody>
                    <a:bodyPr/>
                    <a:lstStyle/>
                    <a:p>
                      <a:pPr algn="l">
                        <a:defRPr sz="1000">
                          <a:solidFill>
                            <a:srgbClr val="0B1736"/>
                          </a:solidFill>
                          <a:latin typeface="Arial"/>
                        </a:defRPr>
                      </a:pPr>
                      <a:r>
                        <a:t>Ensemble size</a:t>
                      </a:r>
                    </a:p>
                  </a:txBody>
                  <a:tcPr>
                    <a:solidFill>
                      <a:srgbClr val="F7F9FC"/>
                    </a:solidFill>
                  </a:tcPr>
                </a:tc>
                <a:tc>
                  <a:txBody>
                    <a:bodyPr/>
                    <a:lstStyle/>
                    <a:p>
                      <a:pPr algn="l">
                        <a:defRPr sz="1000">
                          <a:solidFill>
                            <a:srgbClr val="0B1736"/>
                          </a:solidFill>
                          <a:latin typeface="Arial"/>
                        </a:defRPr>
                      </a:pPr>
                      <a:r>
                        <a:t>M=5 (43.8M total)</a:t>
                      </a:r>
                    </a:p>
                  </a:txBody>
                  <a:tcPr>
                    <a:solidFill>
                      <a:srgbClr val="F7F9FC"/>
                    </a:solidFill>
                  </a:tcPr>
                </a:tc>
              </a:tr>
              <a:tr h="201168">
                <a:tc>
                  <a:txBody>
                    <a:bodyPr/>
                    <a:lstStyle/>
                    <a:p>
                      <a:pPr algn="l">
                        <a:defRPr sz="1000">
                          <a:solidFill>
                            <a:srgbClr val="0B1736"/>
                          </a:solidFill>
                          <a:latin typeface="Arial"/>
                        </a:defRPr>
                      </a:pPr>
                      <a:r>
                        <a:t>Input</a:t>
                      </a:r>
                    </a:p>
                  </a:txBody>
                  <a:tcPr>
                    <a:solidFill>
                      <a:srgbClr val="EEF2FA"/>
                    </a:solidFill>
                  </a:tcPr>
                </a:tc>
                <a:tc>
                  <a:txBody>
                    <a:bodyPr/>
                    <a:lstStyle/>
                    <a:p>
                      <a:pPr algn="l">
                        <a:defRPr sz="1000">
                          <a:solidFill>
                            <a:srgbClr val="0B1736"/>
                          </a:solidFill>
                          <a:latin typeface="Arial"/>
                        </a:defRPr>
                      </a:pPr>
                      <a:r>
                        <a:t>7-ch 128^3 + 10-d feature</a:t>
                      </a:r>
                    </a:p>
                  </a:txBody>
                  <a:tcPr>
                    <a:solidFill>
                      <a:srgbClr val="EEF2FA"/>
                    </a:solidFill>
                  </a:tcPr>
                </a:tc>
              </a:tr>
              <a:tr h="201168">
                <a:tc>
                  <a:txBody>
                    <a:bodyPr/>
                    <a:lstStyle/>
                    <a:p>
                      <a:pPr algn="l">
                        <a:defRPr sz="1000">
                          <a:solidFill>
                            <a:srgbClr val="0B1736"/>
                          </a:solidFill>
                          <a:latin typeface="Arial"/>
                        </a:defRPr>
                      </a:pPr>
                      <a:r>
                        <a:t>Regularization</a:t>
                      </a:r>
                    </a:p>
                  </a:txBody>
                  <a:tcPr>
                    <a:solidFill>
                      <a:srgbClr val="F7F9FC"/>
                    </a:solidFill>
                  </a:tcPr>
                </a:tc>
                <a:tc>
                  <a:txBody>
                    <a:bodyPr/>
                    <a:lstStyle/>
                    <a:p>
                      <a:pPr algn="l">
                        <a:defRPr sz="1000">
                          <a:solidFill>
                            <a:srgbClr val="0B1736"/>
                          </a:solidFill>
                          <a:latin typeface="Arial"/>
                        </a:defRPr>
                      </a:pPr>
                      <a:r>
                        <a:t>dropout 0.15, WD 1e-4</a:t>
                      </a:r>
                    </a:p>
                  </a:txBody>
                  <a:tcPr>
                    <a:solidFill>
                      <a:srgbClr val="F7F9FC"/>
                    </a:solidFill>
                  </a:tcPr>
                </a:tc>
              </a:tr>
              <a:tr h="201168">
                <a:tc>
                  <a:txBody>
                    <a:bodyPr/>
                    <a:lstStyle/>
                    <a:p>
                      <a:pPr algn="l">
                        <a:defRPr sz="1000">
                          <a:solidFill>
                            <a:srgbClr val="0B1736"/>
                          </a:solidFill>
                          <a:latin typeface="Arial"/>
                        </a:defRPr>
                      </a:pPr>
                      <a:r>
                        <a:t>Normalization</a:t>
                      </a:r>
                    </a:p>
                  </a:txBody>
                  <a:tcPr>
                    <a:solidFill>
                      <a:srgbClr val="EEF2FA"/>
                    </a:solidFill>
                  </a:tcPr>
                </a:tc>
                <a:tc>
                  <a:txBody>
                    <a:bodyPr/>
                    <a:lstStyle/>
                    <a:p>
                      <a:pPr algn="l">
                        <a:defRPr sz="1000">
                          <a:solidFill>
                            <a:srgbClr val="0B1736"/>
                          </a:solidFill>
                          <a:latin typeface="Arial"/>
                        </a:defRPr>
                      </a:pPr>
                      <a:r>
                        <a:t>log(1+|y|) -&gt; z-score</a:t>
                      </a:r>
                    </a:p>
                  </a:txBody>
                  <a:tcPr>
                    <a:solidFill>
                      <a:srgbClr val="EEF2FA"/>
                    </a:solidFill>
                  </a:tcPr>
                </a:tc>
              </a:tr>
              <a:tr h="201168">
                <a:tc>
                  <a:txBody>
                    <a:bodyPr/>
                    <a:lstStyle/>
                    <a:p>
                      <a:pPr algn="l">
                        <a:defRPr sz="1000">
                          <a:solidFill>
                            <a:srgbClr val="0B1736"/>
                          </a:solidFill>
                          <a:latin typeface="Arial"/>
                        </a:defRPr>
                      </a:pPr>
                      <a:r>
                        <a:t>Outputs</a:t>
                      </a:r>
                    </a:p>
                  </a:txBody>
                  <a:tcPr>
                    <a:solidFill>
                      <a:srgbClr val="F7F9FC"/>
                    </a:solidFill>
                  </a:tcPr>
                </a:tc>
                <a:tc>
                  <a:txBody>
                    <a:bodyPr/>
                    <a:lstStyle/>
                    <a:p>
                      <a:pPr algn="l">
                        <a:defRPr sz="1000">
                          <a:solidFill>
                            <a:srgbClr val="0B1736"/>
                          </a:solidFill>
                          <a:latin typeface="Arial"/>
                        </a:defRPr>
                      </a:pPr>
                      <a:r>
                        <a:t>peak sigma_VM, max u, C</a:t>
                      </a:r>
                    </a:p>
                  </a:txBody>
                  <a:tcPr>
                    <a:solidFill>
                      <a:srgbClr val="F7F9FC"/>
                    </a:solidFill>
                  </a:tcPr>
                </a:tc>
              </a:tr>
            </a:tbl>
          </a:graphicData>
        </a:graphic>
      </p:graphicFrame>
      <p:sp>
        <p:nvSpPr>
          <p:cNvPr id="88" name="TextBox 87"/>
          <p:cNvSpPr txBox="1"/>
          <p:nvPr/>
        </p:nvSpPr>
        <p:spPr>
          <a:xfrm>
            <a:off x="22082760" y="9034272"/>
            <a:ext cx="10506456" cy="1097280"/>
          </a:xfrm>
          <a:prstGeom prst="rect">
            <a:avLst/>
          </a:prstGeom>
          <a:noFill/>
        </p:spPr>
        <p:txBody>
          <a:bodyPr wrap="square"/>
          <a:lstStyle/>
          <a:p>
            <a:pPr algn="l">
              <a:spcBef>
                <a:spcPts val="0"/>
              </a:spcBef>
              <a:spcAft>
                <a:spcPts val="0"/>
              </a:spcAft>
              <a:defRPr sz="900" b="0" i="0">
                <a:solidFill>
                  <a:srgbClr val="0B1736"/>
                </a:solidFill>
                <a:latin typeface="Arial"/>
              </a:defRPr>
            </a:pPr>
            <a:r>
              <a:t>Architecture: 4 conv stages (128-&gt;64-&gt;32-&gt;16-&gt;8), 3 SE-ResBlocks with squeeze-excitation, dual pooling (avg+max) -&gt; 512-d embed + 128-d feature MLP. Head: 640-&gt;512-&gt;256-&gt;3 with skip.</a:t>
            </a:r>
            <a:br/>
            <a:br/>
            <a:r>
              <a:t>Training: Huber loss, AdamW lr=5e-4, cosine anneal, EMA 0.999, AMP, grad clip ||.||&lt;=1. Aug: 90 deg rot, flips, noise sigma=0.02. Dropout 0.15, stochastic depth 0-0.1.</a:t>
            </a:r>
          </a:p>
        </p:txBody>
      </p:sp>
      <p:sp>
        <p:nvSpPr>
          <p:cNvPr id="89" name="Rounded Rectangle 88"/>
          <p:cNvSpPr/>
          <p:nvPr/>
        </p:nvSpPr>
        <p:spPr>
          <a:xfrm>
            <a:off x="11228832" y="10826496"/>
            <a:ext cx="10652760" cy="7644383"/>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301984" y="10881360"/>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SASTO Algorithm - Sensitivity-Guided Erosion</a:t>
            </a:r>
          </a:p>
        </p:txBody>
      </p:sp>
      <p:pic>
        <p:nvPicPr>
          <p:cNvPr id="91" name="Picture 90" descr="fig05_sasto_flowchart.png"/>
          <p:cNvPicPr>
            <a:picLocks noChangeAspect="1"/>
          </p:cNvPicPr>
          <p:nvPr/>
        </p:nvPicPr>
        <p:blipFill>
          <a:blip r:embed="rId12"/>
          <a:stretch>
            <a:fillRect/>
          </a:stretch>
        </p:blipFill>
        <p:spPr>
          <a:xfrm>
            <a:off x="14545075" y="11119104"/>
            <a:ext cx="4020273" cy="2926080"/>
          </a:xfrm>
          <a:prstGeom prst="rect">
            <a:avLst/>
          </a:prstGeom>
        </p:spPr>
      </p:pic>
      <p:sp>
        <p:nvSpPr>
          <p:cNvPr id="92" name="TextBox 91"/>
          <p:cNvSpPr txBox="1"/>
          <p:nvPr/>
        </p:nvSpPr>
        <p:spPr>
          <a:xfrm>
            <a:off x="11301984" y="14063472"/>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8. Three-phase optimization. Phase 1 removes &gt;99% of material.</a:t>
            </a:r>
          </a:p>
        </p:txBody>
      </p:sp>
      <p:sp>
        <p:nvSpPr>
          <p:cNvPr id="93" name="Rounded Rectangle 92"/>
          <p:cNvSpPr/>
          <p:nvPr/>
        </p:nvSpPr>
        <p:spPr>
          <a:xfrm>
            <a:off x="11301984" y="14282928"/>
            <a:ext cx="10506456" cy="18288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375136" y="14282928"/>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1: Sensitivity-Guided Erosion</a:t>
            </a:r>
          </a:p>
        </p:txBody>
      </p:sp>
      <p:sp>
        <p:nvSpPr>
          <p:cNvPr id="95" name="TextBox 94"/>
          <p:cNvSpPr txBox="1"/>
          <p:nvPr/>
        </p:nvSpPr>
        <p:spPr>
          <a:xfrm>
            <a:off x="11375136" y="14484096"/>
            <a:ext cx="10360152" cy="365760"/>
          </a:xfrm>
          <a:prstGeom prst="rect">
            <a:avLst/>
          </a:prstGeom>
          <a:noFill/>
        </p:spPr>
        <p:txBody>
          <a:bodyPr wrap="square"/>
          <a:lstStyle/>
          <a:p>
            <a:pPr algn="l">
              <a:spcBef>
                <a:spcPts val="0"/>
              </a:spcBef>
              <a:spcAft>
                <a:spcPts val="0"/>
              </a:spcAft>
              <a:defRPr sz="800" b="0" i="0">
                <a:solidFill>
                  <a:srgbClr val="0B1736"/>
                </a:solidFill>
                <a:latin typeface="Arial"/>
              </a:defRPr>
            </a:pPr>
            <a:r>
              <a:t>Sort by descending s_i; batch-remove 6-simple-points; if violated -&gt; undo, halve B -&gt; max(B/2,10). &gt;99% of removal.</a:t>
            </a:r>
          </a:p>
        </p:txBody>
      </p:sp>
      <p:sp>
        <p:nvSpPr>
          <p:cNvPr id="96" name="Rounded Rectangle 95"/>
          <p:cNvSpPr/>
          <p:nvPr/>
        </p:nvSpPr>
        <p:spPr>
          <a:xfrm>
            <a:off x="11301984" y="14868144"/>
            <a:ext cx="10506456" cy="182880"/>
          </a:xfrm>
          <a:prstGeom prst="roundRect">
            <a:avLst>
              <a:gd name="adj" fmla="val 15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375136" y="14868144"/>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2: Fine-Grained Endgame</a:t>
            </a:r>
          </a:p>
        </p:txBody>
      </p:sp>
      <p:sp>
        <p:nvSpPr>
          <p:cNvPr id="98" name="TextBox 97"/>
          <p:cNvSpPr txBox="1"/>
          <p:nvPr/>
        </p:nvSpPr>
        <p:spPr>
          <a:xfrm>
            <a:off x="11375136" y="15069312"/>
            <a:ext cx="10360152" cy="365760"/>
          </a:xfrm>
          <a:prstGeom prst="rect">
            <a:avLst/>
          </a:prstGeom>
          <a:noFill/>
        </p:spPr>
        <p:txBody>
          <a:bodyPr wrap="square"/>
          <a:lstStyle/>
          <a:p>
            <a:pPr algn="l">
              <a:spcBef>
                <a:spcPts val="0"/>
              </a:spcBef>
              <a:spcAft>
                <a:spcPts val="0"/>
              </a:spcAft>
              <a:defRPr sz="800" b="0" i="0">
                <a:solidFill>
                  <a:srgbClr val="0B1736"/>
                </a:solidFill>
                <a:latin typeface="Arial"/>
              </a:defRPr>
            </a:pPr>
            <a:r>
              <a:t>Re-run Phase 1 with B in {5, 1} to squeeze remaining feasible removals near constraint boundary.</a:t>
            </a:r>
          </a:p>
        </p:txBody>
      </p:sp>
      <p:sp>
        <p:nvSpPr>
          <p:cNvPr id="99" name="Rounded Rectangle 98"/>
          <p:cNvSpPr/>
          <p:nvPr/>
        </p:nvSpPr>
        <p:spPr>
          <a:xfrm>
            <a:off x="11301984" y="15453360"/>
            <a:ext cx="10506456" cy="182880"/>
          </a:xfrm>
          <a:prstGeom prst="roundRect">
            <a:avLst>
              <a:gd name="adj" fmla="val 15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375136" y="15453360"/>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3: Swap Refinement</a:t>
            </a:r>
          </a:p>
        </p:txBody>
      </p:sp>
      <p:sp>
        <p:nvSpPr>
          <p:cNvPr id="101" name="TextBox 100"/>
          <p:cNvSpPr txBox="1"/>
          <p:nvPr/>
        </p:nvSpPr>
        <p:spPr>
          <a:xfrm>
            <a:off x="11375136" y="15654528"/>
            <a:ext cx="10360152" cy="365760"/>
          </a:xfrm>
          <a:prstGeom prst="rect">
            <a:avLst/>
          </a:prstGeom>
          <a:noFill/>
        </p:spPr>
        <p:txBody>
          <a:bodyPr wrap="square"/>
          <a:lstStyle/>
          <a:p>
            <a:pPr algn="l">
              <a:spcBef>
                <a:spcPts val="0"/>
              </a:spcBef>
              <a:spcAft>
                <a:spcPts val="0"/>
              </a:spcAft>
              <a:defRPr sz="800" b="0" i="0">
                <a:solidFill>
                  <a:srgbClr val="0B1736"/>
                </a:solidFill>
                <a:latin typeface="Arial"/>
              </a:defRPr>
            </a:pPr>
            <a:r>
              <a:t>Thick interior voxels (dist &gt;= 3) swapped with removed neighbors; accept if volume decreases &amp; constraints hold.</a:t>
            </a:r>
          </a:p>
        </p:txBody>
      </p:sp>
      <p:sp>
        <p:nvSpPr>
          <p:cNvPr id="102" name="TextBox 101"/>
          <p:cNvSpPr txBox="1"/>
          <p:nvPr/>
        </p:nvSpPr>
        <p:spPr>
          <a:xfrm>
            <a:off x="11301984" y="16038576"/>
            <a:ext cx="10506456" cy="438912"/>
          </a:xfrm>
          <a:prstGeom prst="rect">
            <a:avLst/>
          </a:prstGeom>
          <a:noFill/>
        </p:spPr>
        <p:txBody>
          <a:bodyPr wrap="square"/>
          <a:lstStyle/>
          <a:p>
            <a:pPr algn="l">
              <a:spcBef>
                <a:spcPts val="0"/>
              </a:spcBef>
              <a:spcAft>
                <a:spcPts val="0"/>
              </a:spcAft>
              <a:defRPr sz="800" b="0" i="0">
                <a:solidFill>
                  <a:srgbClr val="0B1736"/>
                </a:solidFill>
                <a:latin typeface="Arial"/>
              </a:defRPr>
            </a:pPr>
            <a:r>
              <a:t>Post-processing: fill enclosed air pockets (&lt;=50 voxels), remove shard voxels (&lt;2 face-neighbors), SDF -&gt; marching cubes -&gt; Laplacian smoothing -&gt; watertight STL.</a:t>
            </a:r>
          </a:p>
        </p:txBody>
      </p:sp>
      <p:sp>
        <p:nvSpPr>
          <p:cNvPr id="103" name="Rounded Rectangle 102"/>
          <p:cNvSpPr/>
          <p:nvPr/>
        </p:nvSpPr>
        <p:spPr>
          <a:xfrm>
            <a:off x="22009608" y="10826496"/>
            <a:ext cx="10652760" cy="7644383"/>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2082760" y="10881360"/>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Topology: 6-Connectivity Guarantee</a:t>
            </a:r>
          </a:p>
        </p:txBody>
      </p:sp>
      <p:pic>
        <p:nvPicPr>
          <p:cNvPr id="105" name="Picture 104" descr="fig06_connectivity.png"/>
          <p:cNvPicPr>
            <a:picLocks noChangeAspect="1"/>
          </p:cNvPicPr>
          <p:nvPr/>
        </p:nvPicPr>
        <p:blipFill>
          <a:blip r:embed="rId13"/>
          <a:stretch>
            <a:fillRect/>
          </a:stretch>
        </p:blipFill>
        <p:spPr>
          <a:xfrm>
            <a:off x="25343863" y="11119104"/>
            <a:ext cx="3984249" cy="2560320"/>
          </a:xfrm>
          <a:prstGeom prst="rect">
            <a:avLst/>
          </a:prstGeom>
        </p:spPr>
      </p:pic>
      <p:sp>
        <p:nvSpPr>
          <p:cNvPr id="106" name="TextBox 105"/>
          <p:cNvSpPr txBox="1"/>
          <p:nvPr/>
        </p:nvSpPr>
        <p:spPr>
          <a:xfrm>
            <a:off x="22082760" y="13716000"/>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9. 6-conn eliminates floating fragments incompatible with AM toolpaths</a:t>
            </a:r>
          </a:p>
        </p:txBody>
      </p:sp>
      <p:sp>
        <p:nvSpPr>
          <p:cNvPr id="107" name="Rounded Rectangle 106"/>
          <p:cNvSpPr/>
          <p:nvPr/>
        </p:nvSpPr>
        <p:spPr>
          <a:xfrm>
            <a:off x="22082760" y="13935456"/>
            <a:ext cx="10506456" cy="365760"/>
          </a:xfrm>
          <a:prstGeom prst="roundRect">
            <a:avLst>
              <a:gd name="adj" fmla="val 20000"/>
            </a:avLst>
          </a:prstGeom>
          <a:solidFill>
            <a:srgbClr val="E8EEF8"/>
          </a:solidFill>
          <a:ln w="12700">
            <a:solidFill>
              <a:srgbClr val="008C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2137624" y="13972032"/>
            <a:ext cx="10396728" cy="292608"/>
          </a:xfrm>
          <a:prstGeom prst="rect">
            <a:avLst/>
          </a:prstGeom>
          <a:noFill/>
        </p:spPr>
        <p:txBody>
          <a:bodyPr wrap="square"/>
          <a:lstStyle/>
          <a:p>
            <a:pPr algn="ctr">
              <a:spcBef>
                <a:spcPts val="0"/>
              </a:spcBef>
              <a:spcAft>
                <a:spcPts val="0"/>
              </a:spcAft>
              <a:defRPr sz="800" b="0" i="0">
                <a:solidFill>
                  <a:srgbClr val="0B1736"/>
                </a:solidFill>
                <a:latin typeface="Arial"/>
              </a:defRPr>
            </a:pPr>
            <a:r>
              <a:t>Proposition: A binary voxel field with exactly one 6-connected foreground component yields a single-component marching-cubes surface mesh.</a:t>
            </a:r>
          </a:p>
        </p:txBody>
      </p:sp>
      <p:sp>
        <p:nvSpPr>
          <p:cNvPr id="109" name="TextBox 108"/>
          <p:cNvSpPr txBox="1"/>
          <p:nvPr/>
        </p:nvSpPr>
        <p:spPr>
          <a:xfrm>
            <a:off x="22082760" y="14337792"/>
            <a:ext cx="10506456" cy="182880"/>
          </a:xfrm>
          <a:prstGeom prst="rect">
            <a:avLst/>
          </a:prstGeom>
          <a:noFill/>
        </p:spPr>
        <p:txBody>
          <a:bodyPr wrap="square"/>
          <a:lstStyle/>
          <a:p>
            <a:pPr algn="l">
              <a:spcBef>
                <a:spcPts val="0"/>
              </a:spcBef>
              <a:spcAft>
                <a:spcPts val="0"/>
              </a:spcAft>
              <a:defRPr sz="1000" b="1" i="0">
                <a:solidFill>
                  <a:srgbClr val="0B1736"/>
                </a:solidFill>
                <a:latin typeface="Arial"/>
              </a:defRPr>
            </a:pPr>
            <a:r>
              <a:t>6-Simple Point Test (Kong &amp; Rosenfeld 1989)</a:t>
            </a:r>
          </a:p>
        </p:txBody>
      </p:sp>
      <p:sp>
        <p:nvSpPr>
          <p:cNvPr id="110" name="Rounded Rectangle 109"/>
          <p:cNvSpPr/>
          <p:nvPr/>
        </p:nvSpPr>
        <p:spPr>
          <a:xfrm>
            <a:off x="22082760" y="14538960"/>
            <a:ext cx="10506456" cy="347472"/>
          </a:xfrm>
          <a:prstGeom prst="roundRect">
            <a:avLst>
              <a:gd name="adj" fmla="val 25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2137623" y="14566392"/>
            <a:ext cx="10396728" cy="292608"/>
          </a:xfrm>
          <a:prstGeom prst="rect">
            <a:avLst/>
          </a:prstGeom>
          <a:noFill/>
        </p:spPr>
        <p:txBody>
          <a:bodyPr wrap="square"/>
          <a:lstStyle/>
          <a:p>
            <a:pPr algn="ctr">
              <a:spcBef>
                <a:spcPts val="0"/>
              </a:spcBef>
              <a:spcAft>
                <a:spcPts val="0"/>
              </a:spcAft>
              <a:defRPr sz="1000" b="0" i="0">
                <a:solidFill>
                  <a:srgbClr val="0B1736"/>
                </a:solidFill>
                <a:latin typeface="Arial"/>
              </a:defRPr>
            </a:pPr>
            <a:r>
              <a:t>SP6(v) = 1 iff |C6(rho' &amp; N26(v))| = 1 AND |C26(rho_bar' &amp; N26(v) U {v})| = 1</a:t>
            </a:r>
          </a:p>
        </p:txBody>
      </p:sp>
      <p:sp>
        <p:nvSpPr>
          <p:cNvPr id="112" name="TextBox 111"/>
          <p:cNvSpPr txBox="1"/>
          <p:nvPr/>
        </p:nvSpPr>
        <p:spPr>
          <a:xfrm>
            <a:off x="22082760" y="14923008"/>
            <a:ext cx="10506456" cy="457200"/>
          </a:xfrm>
          <a:prstGeom prst="rect">
            <a:avLst/>
          </a:prstGeom>
          <a:noFill/>
        </p:spPr>
        <p:txBody>
          <a:bodyPr wrap="square"/>
          <a:lstStyle/>
          <a:p>
            <a:pPr algn="l">
              <a:spcBef>
                <a:spcPts val="0"/>
              </a:spcBef>
              <a:spcAft>
                <a:spcPts val="0"/>
              </a:spcAft>
              <a:defRPr sz="800" b="0" i="0">
                <a:solidFill>
                  <a:srgbClr val="0B1736"/>
                </a:solidFill>
                <a:latin typeface="Arial"/>
              </a:defRPr>
            </a:pPr>
            <a:r>
              <a:t>Foreground uses 6-connectivity; background uses complementary 26-connectivity. This (6,26) pairing prevents diagonal-only attachments that violate marching cubes assumptions. Standard (26,6) pairing produces thousands of floating fragments.</a:t>
            </a:r>
          </a:p>
        </p:txBody>
      </p:sp>
      <p:sp>
        <p:nvSpPr>
          <p:cNvPr id="113" name="Rounded Rectangle 112"/>
          <p:cNvSpPr/>
          <p:nvPr/>
        </p:nvSpPr>
        <p:spPr>
          <a:xfrm>
            <a:off x="11137392" y="18598896"/>
            <a:ext cx="216164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37392" y="18598896"/>
            <a:ext cx="216164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RESULTS &amp; IN-SILICO VALIDATION</a:t>
            </a:r>
          </a:p>
        </p:txBody>
      </p:sp>
      <p:sp>
        <p:nvSpPr>
          <p:cNvPr id="115" name="Rounded Rectangle 114"/>
          <p:cNvSpPr/>
          <p:nvPr/>
        </p:nvSpPr>
        <p:spPr>
          <a:xfrm>
            <a:off x="11137392" y="19010376"/>
            <a:ext cx="21616416" cy="13743432"/>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1228832"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Reference Case (Sample 00472)</a:t>
            </a:r>
          </a:p>
        </p:txBody>
      </p:sp>
      <p:pic>
        <p:nvPicPr>
          <p:cNvPr id="117" name="Picture 116" descr="Image 11.jpg"/>
          <p:cNvPicPr>
            <a:picLocks noChangeAspect="1"/>
          </p:cNvPicPr>
          <p:nvPr/>
        </p:nvPicPr>
        <p:blipFill>
          <a:blip r:embed="rId3"/>
          <a:stretch>
            <a:fillRect/>
          </a:stretch>
        </p:blipFill>
        <p:spPr>
          <a:xfrm>
            <a:off x="12838176" y="19321272"/>
            <a:ext cx="3840479" cy="2560320"/>
          </a:xfrm>
          <a:prstGeom prst="rect">
            <a:avLst/>
          </a:prstGeom>
        </p:spPr>
      </p:pic>
      <p:sp>
        <p:nvSpPr>
          <p:cNvPr id="118" name="Rounded Rectangle 117"/>
          <p:cNvSpPr/>
          <p:nvPr/>
        </p:nvSpPr>
        <p:spPr>
          <a:xfrm>
            <a:off x="14118336" y="21113496"/>
            <a:ext cx="1280160" cy="201168"/>
          </a:xfrm>
          <a:prstGeom prst="roundRect">
            <a:avLst>
              <a:gd name="adj" fmla="val 3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4118336" y="21113496"/>
            <a:ext cx="1280160" cy="201168"/>
          </a:xfrm>
          <a:prstGeom prst="rect">
            <a:avLst/>
          </a:prstGeom>
          <a:noFill/>
        </p:spPr>
        <p:txBody>
          <a:bodyPr wrap="square"/>
          <a:lstStyle/>
          <a:p>
            <a:pPr algn="ctr">
              <a:spcBef>
                <a:spcPts val="0"/>
              </a:spcBef>
              <a:spcAft>
                <a:spcPts val="0"/>
              </a:spcAft>
              <a:defRPr sz="900" b="1" i="0">
                <a:solidFill>
                  <a:srgbClr val="FFFFFF"/>
                </a:solidFill>
                <a:latin typeface="Arial"/>
              </a:defRPr>
            </a:pPr>
            <a:r>
              <a:t>-45.0% material</a:t>
            </a:r>
          </a:p>
        </p:txBody>
      </p:sp>
      <p:sp>
        <p:nvSpPr>
          <p:cNvPr id="120" name="TextBox 119"/>
          <p:cNvSpPr txBox="1"/>
          <p:nvPr/>
        </p:nvSpPr>
        <p:spPr>
          <a:xfrm>
            <a:off x="11228832" y="2191816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Before/after optimization renders</a:t>
            </a:r>
          </a:p>
        </p:txBody>
      </p:sp>
      <p:pic>
        <p:nvPicPr>
          <p:cNvPr id="121" name="Picture 120" descr="fig19_reference_table.png"/>
          <p:cNvPicPr>
            <a:picLocks noChangeAspect="1"/>
          </p:cNvPicPr>
          <p:nvPr/>
        </p:nvPicPr>
        <p:blipFill>
          <a:blip r:embed="rId14"/>
          <a:stretch>
            <a:fillRect/>
          </a:stretch>
        </p:blipFill>
        <p:spPr>
          <a:xfrm>
            <a:off x="12106285" y="22137624"/>
            <a:ext cx="5304260" cy="2194560"/>
          </a:xfrm>
          <a:prstGeom prst="rect">
            <a:avLst/>
          </a:prstGeom>
        </p:spPr>
      </p:pic>
      <p:sp>
        <p:nvSpPr>
          <p:cNvPr id="122" name="TextBox 121"/>
          <p:cNvSpPr txBox="1"/>
          <p:nvPr/>
        </p:nvSpPr>
        <p:spPr>
          <a:xfrm>
            <a:off x="11228832" y="24368760"/>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SASTO-PA achieves 10.7pp more reduction than SASTO-U (34.3%) by permitting 1-voxel interior walls.</a:t>
            </a:r>
          </a:p>
        </p:txBody>
      </p:sp>
      <p:sp>
        <p:nvSpPr>
          <p:cNvPr id="123" name="TextBox 122"/>
          <p:cNvSpPr txBox="1"/>
          <p:nvPr/>
        </p:nvSpPr>
        <p:spPr>
          <a:xfrm>
            <a:off x="18416016"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1,114-Geometry Generalization</a:t>
            </a:r>
          </a:p>
        </p:txBody>
      </p:sp>
      <p:pic>
        <p:nvPicPr>
          <p:cNvPr id="124" name="Picture 123" descr="fig07_histogram.png"/>
          <p:cNvPicPr>
            <a:picLocks noChangeAspect="1"/>
          </p:cNvPicPr>
          <p:nvPr/>
        </p:nvPicPr>
        <p:blipFill>
          <a:blip r:embed="rId15"/>
          <a:stretch>
            <a:fillRect/>
          </a:stretch>
        </p:blipFill>
        <p:spPr>
          <a:xfrm>
            <a:off x="19751040" y="19321272"/>
            <a:ext cx="4389120" cy="2194560"/>
          </a:xfrm>
          <a:prstGeom prst="rect">
            <a:avLst/>
          </a:prstGeom>
        </p:spPr>
      </p:pic>
      <p:sp>
        <p:nvSpPr>
          <p:cNvPr id="125" name="TextBox 124"/>
          <p:cNvSpPr txBox="1"/>
          <p:nvPr/>
        </p:nvSpPr>
        <p:spPr>
          <a:xfrm>
            <a:off x="18416016" y="2155240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10. Volume reduction | n=1,114 | mu=23.5%+/-7.8%</a:t>
            </a:r>
          </a:p>
        </p:txBody>
      </p:sp>
      <p:sp>
        <p:nvSpPr>
          <p:cNvPr id="126" name="TextBox 125"/>
          <p:cNvSpPr txBox="1"/>
          <p:nvPr/>
        </p:nvSpPr>
        <p:spPr>
          <a:xfrm>
            <a:off x="18416016" y="21753576"/>
            <a:ext cx="7059168" cy="420624"/>
          </a:xfrm>
          <a:prstGeom prst="rect">
            <a:avLst/>
          </a:prstGeom>
          <a:noFill/>
        </p:spPr>
        <p:txBody>
          <a:bodyPr wrap="square"/>
          <a:lstStyle/>
          <a:p>
            <a:pPr algn="l">
              <a:spcBef>
                <a:spcPts val="0"/>
              </a:spcBef>
              <a:spcAft>
                <a:spcPts val="0"/>
              </a:spcAft>
              <a:defRPr sz="800" b="0" i="0">
                <a:solidFill>
                  <a:srgbClr val="0B1736"/>
                </a:solidFill>
                <a:latin typeface="Arial"/>
              </a:defRPr>
            </a:pPr>
            <a:r>
              <a:t>Across all 1,114 held-out test geometries, SASTO-PA achieves mean 23.5% +/- 7.8% material reduction. Maximum 45.0% on individual designs.</a:t>
            </a:r>
          </a:p>
        </p:txBody>
      </p:sp>
      <p:pic>
        <p:nvPicPr>
          <p:cNvPr id="127" name="Picture 126" descr="fig08_per_part.png"/>
          <p:cNvPicPr>
            <a:picLocks noChangeAspect="1"/>
          </p:cNvPicPr>
          <p:nvPr/>
        </p:nvPicPr>
        <p:blipFill>
          <a:blip r:embed="rId16"/>
          <a:stretch>
            <a:fillRect/>
          </a:stretch>
        </p:blipFill>
        <p:spPr>
          <a:xfrm>
            <a:off x="19750096" y="22210776"/>
            <a:ext cx="4391007" cy="1920240"/>
          </a:xfrm>
          <a:prstGeom prst="rect">
            <a:avLst/>
          </a:prstGeom>
        </p:spPr>
      </p:pic>
      <p:sp>
        <p:nvSpPr>
          <p:cNvPr id="128" name="TextBox 127"/>
          <p:cNvSpPr txBox="1"/>
          <p:nvPr/>
        </p:nvSpPr>
        <p:spPr>
          <a:xfrm>
            <a:off x="18416016" y="24167592"/>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11. Per-part retention: load-bearing &gt;91%</a:t>
            </a:r>
          </a:p>
        </p:txBody>
      </p:sp>
      <p:sp>
        <p:nvSpPr>
          <p:cNvPr id="129" name="TextBox 128"/>
          <p:cNvSpPr txBox="1"/>
          <p:nvPr/>
        </p:nvSpPr>
        <p:spPr>
          <a:xfrm>
            <a:off x="18416016" y="24368760"/>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Exterior walls and roof retain &gt;91% of material (load-bearing). Interior walls are the primary target, consistent with non-structural classification.</a:t>
            </a:r>
          </a:p>
        </p:txBody>
      </p:sp>
      <p:sp>
        <p:nvSpPr>
          <p:cNvPr id="130" name="TextBox 129"/>
          <p:cNvSpPr txBox="1"/>
          <p:nvPr/>
        </p:nvSpPr>
        <p:spPr>
          <a:xfrm>
            <a:off x="25603200"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Speedup vs. SIMP</a:t>
            </a:r>
          </a:p>
        </p:txBody>
      </p:sp>
      <p:pic>
        <p:nvPicPr>
          <p:cNvPr id="131" name="Picture 130" descr="fig09_speedup.png"/>
          <p:cNvPicPr>
            <a:picLocks noChangeAspect="1"/>
          </p:cNvPicPr>
          <p:nvPr/>
        </p:nvPicPr>
        <p:blipFill>
          <a:blip r:embed="rId17"/>
          <a:stretch>
            <a:fillRect/>
          </a:stretch>
        </p:blipFill>
        <p:spPr>
          <a:xfrm>
            <a:off x="26842450" y="19321272"/>
            <a:ext cx="4580667" cy="1828800"/>
          </a:xfrm>
          <a:prstGeom prst="rect">
            <a:avLst/>
          </a:prstGeom>
        </p:spPr>
      </p:pic>
      <p:sp>
        <p:nvSpPr>
          <p:cNvPr id="132" name="TextBox 131"/>
          <p:cNvSpPr txBox="1"/>
          <p:nvPr/>
        </p:nvSpPr>
        <p:spPr>
          <a:xfrm>
            <a:off x="25603200" y="2118664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12. SIMP 64^3: 94s vs SASTO 128^3: 50s</a:t>
            </a:r>
          </a:p>
        </p:txBody>
      </p:sp>
      <p:sp>
        <p:nvSpPr>
          <p:cNvPr id="133" name="TextBox 132"/>
          <p:cNvSpPr txBox="1"/>
          <p:nvPr/>
        </p:nvSpPr>
        <p:spPr>
          <a:xfrm>
            <a:off x="25603200" y="21387816"/>
            <a:ext cx="7059168" cy="365760"/>
          </a:xfrm>
          <a:prstGeom prst="rect">
            <a:avLst/>
          </a:prstGeom>
          <a:noFill/>
        </p:spPr>
        <p:txBody>
          <a:bodyPr wrap="square"/>
          <a:lstStyle/>
          <a:p>
            <a:pPr algn="l">
              <a:spcBef>
                <a:spcPts val="0"/>
              </a:spcBef>
              <a:spcAft>
                <a:spcPts val="0"/>
              </a:spcAft>
              <a:defRPr sz="800" b="0" i="0">
                <a:solidFill>
                  <a:srgbClr val="0B1736"/>
                </a:solidFill>
                <a:latin typeface="Arial"/>
              </a:defRPr>
            </a:pPr>
            <a:r>
              <a:t>SASTO at 128^3 (median 50s, consumer GPU) vs. SIMP at 64^3 (94s) and 128^3 (77 min).</a:t>
            </a:r>
          </a:p>
        </p:txBody>
      </p:sp>
      <p:sp>
        <p:nvSpPr>
          <p:cNvPr id="134" name="TextBox 133"/>
          <p:cNvSpPr txBox="1"/>
          <p:nvPr/>
        </p:nvSpPr>
        <p:spPr>
          <a:xfrm>
            <a:off x="25603200" y="21790152"/>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Independent FEA Re-analysis (n=1,114)</a:t>
            </a:r>
          </a:p>
        </p:txBody>
      </p:sp>
      <p:pic>
        <p:nvPicPr>
          <p:cNvPr id="135" name="Picture 134" descr="fig10_fea_compliance.png"/>
          <p:cNvPicPr>
            <a:picLocks noChangeAspect="1"/>
          </p:cNvPicPr>
          <p:nvPr/>
        </p:nvPicPr>
        <p:blipFill>
          <a:blip r:embed="rId18"/>
          <a:stretch>
            <a:fillRect/>
          </a:stretch>
        </p:blipFill>
        <p:spPr>
          <a:xfrm>
            <a:off x="27066915" y="22009608"/>
            <a:ext cx="4131736" cy="2103120"/>
          </a:xfrm>
          <a:prstGeom prst="rect">
            <a:avLst/>
          </a:prstGeom>
        </p:spPr>
      </p:pic>
      <p:sp>
        <p:nvSpPr>
          <p:cNvPr id="136" name="Rounded Rectangle 135"/>
          <p:cNvSpPr/>
          <p:nvPr/>
        </p:nvSpPr>
        <p:spPr>
          <a:xfrm>
            <a:off x="25658064" y="22101048"/>
            <a:ext cx="1371600" cy="182880"/>
          </a:xfrm>
          <a:prstGeom prst="roundRect">
            <a:avLst>
              <a:gd name="adj" fmla="val 3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5658064" y="22101048"/>
            <a:ext cx="1371600" cy="182880"/>
          </a:xfrm>
          <a:prstGeom prst="rect">
            <a:avLst/>
          </a:prstGeom>
          <a:noFill/>
        </p:spPr>
        <p:txBody>
          <a:bodyPr wrap="square"/>
          <a:lstStyle/>
          <a:p>
            <a:pPr algn="ctr">
              <a:spcBef>
                <a:spcPts val="0"/>
              </a:spcBef>
              <a:spcAft>
                <a:spcPts val="0"/>
              </a:spcAft>
              <a:defRPr sz="900" b="1" i="0">
                <a:solidFill>
                  <a:srgbClr val="FFFFFF"/>
                </a:solidFill>
                <a:latin typeface="Arial"/>
              </a:defRPr>
            </a:pPr>
            <a:r>
              <a:t>0/1,114 violations</a:t>
            </a:r>
          </a:p>
        </p:txBody>
      </p:sp>
      <p:sp>
        <p:nvSpPr>
          <p:cNvPr id="138" name="Rounded Rectangle 137"/>
          <p:cNvSpPr/>
          <p:nvPr/>
        </p:nvSpPr>
        <p:spPr>
          <a:xfrm>
            <a:off x="25658064" y="22320504"/>
            <a:ext cx="1463040" cy="182880"/>
          </a:xfrm>
          <a:prstGeom prst="roundRect">
            <a:avLst>
              <a:gd name="adj" fmla="val 3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5658064" y="22320504"/>
            <a:ext cx="1463040" cy="182880"/>
          </a:xfrm>
          <a:prstGeom prst="rect">
            <a:avLst/>
          </a:prstGeom>
          <a:noFill/>
        </p:spPr>
        <p:txBody>
          <a:bodyPr wrap="square"/>
          <a:lstStyle/>
          <a:p>
            <a:pPr algn="ctr">
              <a:spcBef>
                <a:spcPts val="0"/>
              </a:spcBef>
              <a:spcAft>
                <a:spcPts val="0"/>
              </a:spcAft>
              <a:defRPr sz="900" b="1" i="0">
                <a:solidFill>
                  <a:srgbClr val="FFFFFF"/>
                </a:solidFill>
                <a:latin typeface="Arial"/>
              </a:defRPr>
            </a:pPr>
            <a:r>
              <a:t>P(violation) &lt;= 0.09%</a:t>
            </a:r>
          </a:p>
        </p:txBody>
      </p:sp>
      <p:sp>
        <p:nvSpPr>
          <p:cNvPr id="140" name="TextBox 139"/>
          <p:cNvSpPr txBox="1"/>
          <p:nvPr/>
        </p:nvSpPr>
        <p:spPr>
          <a:xfrm>
            <a:off x="25603200" y="24149304"/>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13. All C_opt/C_base &lt;= 1.15. Max: 1.004</a:t>
            </a:r>
          </a:p>
        </p:txBody>
      </p:sp>
      <p:sp>
        <p:nvSpPr>
          <p:cNvPr id="141" name="TextBox 140"/>
          <p:cNvSpPr txBox="1"/>
          <p:nvPr/>
        </p:nvSpPr>
        <p:spPr>
          <a:xfrm>
            <a:off x="25603200" y="24350472"/>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Same-method FEA reanalysis on all 1,114 optimized designs: zero violations. Max compliance ratio = 1.004 (vs 1.15 limit). Confirms surrogate conservatism.</a:t>
            </a:r>
          </a:p>
        </p:txBody>
      </p:sp>
      <p:sp>
        <p:nvSpPr>
          <p:cNvPr id="142" name="Rounded Rectangle 141"/>
          <p:cNvSpPr/>
          <p:nvPr/>
        </p:nvSpPr>
        <p:spPr>
          <a:xfrm>
            <a:off x="11228832" y="31565087"/>
            <a:ext cx="21433536" cy="1097280"/>
          </a:xfrm>
          <a:prstGeom prst="roundRect">
            <a:avLst>
              <a:gd name="adj" fmla="val 30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3" name="Picture 142" descr="fig20_stats_banner.png"/>
          <p:cNvPicPr>
            <a:picLocks noChangeAspect="1"/>
          </p:cNvPicPr>
          <p:nvPr/>
        </p:nvPicPr>
        <p:blipFill>
          <a:blip r:embed="rId19"/>
          <a:stretch>
            <a:fillRect/>
          </a:stretch>
        </p:blipFill>
        <p:spPr>
          <a:xfrm>
            <a:off x="15362906" y="31565087"/>
            <a:ext cx="13165386" cy="1097280"/>
          </a:xfrm>
          <a:prstGeom prst="rect">
            <a:avLst/>
          </a:prstGeom>
        </p:spPr>
      </p:pic>
      <p:sp>
        <p:nvSpPr>
          <p:cNvPr id="144" name="Rounded Rectangle 143"/>
          <p:cNvSpPr/>
          <p:nvPr/>
        </p:nvSpPr>
        <p:spPr>
          <a:xfrm>
            <a:off x="33082992" y="3063240"/>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33082992" y="3063240"/>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STATISTICAL ANALYSIS</a:t>
            </a:r>
          </a:p>
        </p:txBody>
      </p:sp>
      <p:sp>
        <p:nvSpPr>
          <p:cNvPr id="146" name="Rounded Rectangle 145"/>
          <p:cNvSpPr/>
          <p:nvPr/>
        </p:nvSpPr>
        <p:spPr>
          <a:xfrm>
            <a:off x="33082992" y="3474720"/>
            <a:ext cx="10643616" cy="126187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33174432" y="3566160"/>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Surrogate Model Performance</a:t>
            </a:r>
          </a:p>
        </p:txBody>
      </p:sp>
      <p:pic>
        <p:nvPicPr>
          <p:cNvPr id="148" name="Picture 147" descr="fig15_surrogate_table.png"/>
          <p:cNvPicPr>
            <a:picLocks noChangeAspect="1"/>
          </p:cNvPicPr>
          <p:nvPr/>
        </p:nvPicPr>
        <p:blipFill>
          <a:blip r:embed="rId20"/>
          <a:stretch>
            <a:fillRect/>
          </a:stretch>
        </p:blipFill>
        <p:spPr>
          <a:xfrm>
            <a:off x="35855745" y="3767328"/>
            <a:ext cx="5098109" cy="1280160"/>
          </a:xfrm>
          <a:prstGeom prst="rect">
            <a:avLst/>
          </a:prstGeom>
        </p:spPr>
      </p:pic>
      <p:sp>
        <p:nvSpPr>
          <p:cNvPr id="149" name="Rounded Rectangle 148"/>
          <p:cNvSpPr/>
          <p:nvPr/>
        </p:nvSpPr>
        <p:spPr>
          <a:xfrm>
            <a:off x="33174432" y="5084064"/>
            <a:ext cx="10460736" cy="310896"/>
          </a:xfrm>
          <a:prstGeom prst="roundRect">
            <a:avLst>
              <a:gd name="adj" fmla="val 20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3229296" y="5120640"/>
            <a:ext cx="10351008" cy="237744"/>
          </a:xfrm>
          <a:prstGeom prst="rect">
            <a:avLst/>
          </a:prstGeom>
          <a:noFill/>
        </p:spPr>
        <p:txBody>
          <a:bodyPr wrap="square"/>
          <a:lstStyle/>
          <a:p>
            <a:pPr algn="ctr">
              <a:spcBef>
                <a:spcPts val="0"/>
              </a:spcBef>
              <a:spcAft>
                <a:spcPts val="0"/>
              </a:spcAft>
              <a:defRPr sz="800" b="0" i="0">
                <a:solidFill>
                  <a:srgbClr val="0B1736"/>
                </a:solidFill>
                <a:latin typeface="Arial"/>
              </a:defRPr>
            </a:pPr>
            <a:r>
              <a:t>Ranking accuracy (Spearman rho), not pointwise prediction, drives optimization safety. Compliance rho=0.948 -&gt; correct voxel ordering for removal.</a:t>
            </a:r>
          </a:p>
        </p:txBody>
      </p:sp>
      <p:sp>
        <p:nvSpPr>
          <p:cNvPr id="151" name="TextBox 150"/>
          <p:cNvSpPr txBox="1"/>
          <p:nvPr/>
        </p:nvSpPr>
        <p:spPr>
          <a:xfrm>
            <a:off x="33174432" y="5431536"/>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Optimization Convergence</a:t>
            </a:r>
          </a:p>
        </p:txBody>
      </p:sp>
      <p:pic>
        <p:nvPicPr>
          <p:cNvPr id="152" name="Picture 151" descr="fig11_convergence.png"/>
          <p:cNvPicPr>
            <a:picLocks noChangeAspect="1"/>
          </p:cNvPicPr>
          <p:nvPr/>
        </p:nvPicPr>
        <p:blipFill>
          <a:blip r:embed="rId21"/>
          <a:stretch>
            <a:fillRect/>
          </a:stretch>
        </p:blipFill>
        <p:spPr>
          <a:xfrm>
            <a:off x="35556556" y="5632704"/>
            <a:ext cx="5696487" cy="2103120"/>
          </a:xfrm>
          <a:prstGeom prst="rect">
            <a:avLst/>
          </a:prstGeom>
        </p:spPr>
      </p:pic>
      <p:sp>
        <p:nvSpPr>
          <p:cNvPr id="153" name="TextBox 152"/>
          <p:cNvSpPr txBox="1"/>
          <p:nvPr/>
        </p:nvSpPr>
        <p:spPr>
          <a:xfrm>
            <a:off x="33174432" y="777240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14. SASTO-PA (teal) vs. SASTO-U (gold)</a:t>
            </a:r>
          </a:p>
        </p:txBody>
      </p:sp>
      <p:sp>
        <p:nvSpPr>
          <p:cNvPr id="154" name="TextBox 153"/>
          <p:cNvSpPr txBox="1"/>
          <p:nvPr/>
        </p:nvSpPr>
        <p:spPr>
          <a:xfrm>
            <a:off x="33174432" y="7973568"/>
            <a:ext cx="10460736" cy="329184"/>
          </a:xfrm>
          <a:prstGeom prst="rect">
            <a:avLst/>
          </a:prstGeom>
          <a:noFill/>
        </p:spPr>
        <p:txBody>
          <a:bodyPr wrap="square"/>
          <a:lstStyle/>
          <a:p>
            <a:pPr algn="l">
              <a:spcBef>
                <a:spcPts val="0"/>
              </a:spcBef>
              <a:spcAft>
                <a:spcPts val="0"/>
              </a:spcAft>
              <a:defRPr sz="800" b="0" i="0">
                <a:solidFill>
                  <a:srgbClr val="0B1736"/>
                </a:solidFill>
                <a:latin typeface="Arial"/>
              </a:defRPr>
            </a:pPr>
            <a:r>
              <a:t>SASTO-PA converges to 45.0% reduction vs SASTO-U at 34.3%. Phase 1 removes &gt;99% of material in large batches; Phases 2-3 squeeze remaining feasible voxels.</a:t>
            </a:r>
          </a:p>
        </p:txBody>
      </p:sp>
      <p:sp>
        <p:nvSpPr>
          <p:cNvPr id="155" name="TextBox 154"/>
          <p:cNvSpPr txBox="1"/>
          <p:nvPr/>
        </p:nvSpPr>
        <p:spPr>
          <a:xfrm>
            <a:off x="33174432" y="8339328"/>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k-Factor Sensitivity (Pareto Frontier)</a:t>
            </a:r>
          </a:p>
        </p:txBody>
      </p:sp>
      <p:pic>
        <p:nvPicPr>
          <p:cNvPr id="156" name="Picture 155" descr="fig12_k_factor.png"/>
          <p:cNvPicPr>
            <a:picLocks noChangeAspect="1"/>
          </p:cNvPicPr>
          <p:nvPr/>
        </p:nvPicPr>
        <p:blipFill>
          <a:blip r:embed="rId22"/>
          <a:stretch>
            <a:fillRect/>
          </a:stretch>
        </p:blipFill>
        <p:spPr>
          <a:xfrm>
            <a:off x="35335028" y="8540496"/>
            <a:ext cx="6139542" cy="1828800"/>
          </a:xfrm>
          <a:prstGeom prst="rect">
            <a:avLst/>
          </a:prstGeom>
        </p:spPr>
      </p:pic>
      <p:sp>
        <p:nvSpPr>
          <p:cNvPr id="157" name="Rounded Rectangle 156"/>
          <p:cNvSpPr/>
          <p:nvPr/>
        </p:nvSpPr>
        <p:spPr>
          <a:xfrm>
            <a:off x="37673280" y="9637776"/>
            <a:ext cx="1463040" cy="182880"/>
          </a:xfrm>
          <a:prstGeom prst="roundRect">
            <a:avLst>
              <a:gd name="adj" fmla="val 30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37673280" y="9637776"/>
            <a:ext cx="1463040" cy="182880"/>
          </a:xfrm>
          <a:prstGeom prst="rect">
            <a:avLst/>
          </a:prstGeom>
          <a:noFill/>
        </p:spPr>
        <p:txBody>
          <a:bodyPr wrap="square"/>
          <a:lstStyle/>
          <a:p>
            <a:pPr algn="ctr">
              <a:spcBef>
                <a:spcPts val="0"/>
              </a:spcBef>
              <a:spcAft>
                <a:spcPts val="0"/>
              </a:spcAft>
              <a:defRPr sz="900" b="1" i="0">
                <a:solidFill>
                  <a:srgbClr val="FFFFFF"/>
                </a:solidFill>
                <a:latin typeface="Arial"/>
              </a:defRPr>
            </a:pPr>
            <a:r>
              <a:t>k=1.0 Operating Point</a:t>
            </a:r>
          </a:p>
        </p:txBody>
      </p:sp>
      <p:sp>
        <p:nvSpPr>
          <p:cNvPr id="159" name="TextBox 158"/>
          <p:cNvSpPr txBox="1"/>
          <p:nvPr/>
        </p:nvSpPr>
        <p:spPr>
          <a:xfrm>
            <a:off x="33174432" y="10405872"/>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15. Non-monotonic Pareto: both gate stringency and budget depend on k</a:t>
            </a:r>
          </a:p>
        </p:txBody>
      </p:sp>
      <p:sp>
        <p:nvSpPr>
          <p:cNvPr id="160" name="TextBox 159"/>
          <p:cNvSpPr txBox="1"/>
          <p:nvPr/>
        </p:nvSpPr>
        <p:spPr>
          <a:xfrm>
            <a:off x="33174432" y="10607040"/>
            <a:ext cx="10460736" cy="329184"/>
          </a:xfrm>
          <a:prstGeom prst="rect">
            <a:avLst/>
          </a:prstGeom>
          <a:noFill/>
        </p:spPr>
        <p:txBody>
          <a:bodyPr wrap="square"/>
          <a:lstStyle/>
          <a:p>
            <a:pPr algn="l">
              <a:spcBef>
                <a:spcPts val="0"/>
              </a:spcBef>
              <a:spcAft>
                <a:spcPts val="0"/>
              </a:spcAft>
              <a:defRPr sz="800" b="0" i="0">
                <a:solidFill>
                  <a:srgbClr val="0B1736"/>
                </a:solidFill>
                <a:latin typeface="Arial"/>
              </a:defRPr>
            </a:pPr>
            <a:r>
              <a:t>k&lt;0.5: under-conservative, risks violations. k&gt;2.0: over-conservative, less removal. k=1.0 achieves Pareto-optimal: max reduction with zero violations.</a:t>
            </a:r>
          </a:p>
        </p:txBody>
      </p:sp>
      <p:sp>
        <p:nvSpPr>
          <p:cNvPr id="161" name="TextBox 160"/>
          <p:cNvSpPr txBox="1"/>
          <p:nvPr/>
        </p:nvSpPr>
        <p:spPr>
          <a:xfrm>
            <a:off x="33174432" y="10972800"/>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Conformal Prediction &amp; UQ</a:t>
            </a:r>
          </a:p>
        </p:txBody>
      </p:sp>
      <p:pic>
        <p:nvPicPr>
          <p:cNvPr id="162" name="Picture 161" descr="fig13_uncertainty.png"/>
          <p:cNvPicPr>
            <a:picLocks noChangeAspect="1"/>
          </p:cNvPicPr>
          <p:nvPr/>
        </p:nvPicPr>
        <p:blipFill>
          <a:blip r:embed="rId23"/>
          <a:stretch>
            <a:fillRect/>
          </a:stretch>
        </p:blipFill>
        <p:spPr>
          <a:xfrm>
            <a:off x="35573098" y="11173968"/>
            <a:ext cx="5663403" cy="1645920"/>
          </a:xfrm>
          <a:prstGeom prst="rect">
            <a:avLst/>
          </a:prstGeom>
        </p:spPr>
      </p:pic>
      <p:sp>
        <p:nvSpPr>
          <p:cNvPr id="163" name="TextBox 162"/>
          <p:cNvSpPr txBox="1"/>
          <p:nvPr/>
        </p:nvSpPr>
        <p:spPr>
          <a:xfrm>
            <a:off x="33174432" y="12856464"/>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16. Uncertainty bands. Gamma_D ~ 0.184 (sub-linear)</a:t>
            </a:r>
          </a:p>
        </p:txBody>
      </p:sp>
      <p:sp>
        <p:nvSpPr>
          <p:cNvPr id="164" name="TextBox 163"/>
          <p:cNvSpPr txBox="1"/>
          <p:nvPr/>
        </p:nvSpPr>
        <p:spPr>
          <a:xfrm>
            <a:off x="33174432" y="13057632"/>
            <a:ext cx="10460736" cy="457200"/>
          </a:xfrm>
          <a:prstGeom prst="rect">
            <a:avLst/>
          </a:prstGeom>
          <a:noFill/>
        </p:spPr>
        <p:txBody>
          <a:bodyPr wrap="square"/>
          <a:lstStyle/>
          <a:p>
            <a:pPr algn="l">
              <a:spcBef>
                <a:spcPts val="0"/>
              </a:spcBef>
              <a:spcAft>
                <a:spcPts val="0"/>
              </a:spcAft>
              <a:defRPr sz="800" b="0" i="0">
                <a:solidFill>
                  <a:srgbClr val="0B1736"/>
                </a:solidFill>
                <a:latin typeface="Arial"/>
              </a:defRPr>
            </a:pPr>
            <a:r>
              <a:t>Ensemble disagreement D(phi) tracks distribution shift as material is removed. Gamma_D ~ 0.184 = sub-linear growth. Distribution-free conformal: P(violation) &lt;= 0.09% (Clopper-Pearson, alpha=0.05, n=1,114). Ensemble residuals heavier-tailed than Gaussian.</a:t>
            </a:r>
          </a:p>
        </p:txBody>
      </p:sp>
      <p:sp>
        <p:nvSpPr>
          <p:cNvPr id="165" name="Rounded Rectangle 164"/>
          <p:cNvSpPr/>
          <p:nvPr/>
        </p:nvSpPr>
        <p:spPr>
          <a:xfrm>
            <a:off x="33082992" y="16130016"/>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3082992" y="16130016"/>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CONCLUSIONS</a:t>
            </a:r>
          </a:p>
        </p:txBody>
      </p:sp>
      <p:sp>
        <p:nvSpPr>
          <p:cNvPr id="167" name="Rounded Rectangle 166"/>
          <p:cNvSpPr/>
          <p:nvPr/>
        </p:nvSpPr>
        <p:spPr>
          <a:xfrm>
            <a:off x="33082992" y="16541496"/>
            <a:ext cx="10643616" cy="50292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33174432" y="16632936"/>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33174432" y="16632936"/>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1</a:t>
            </a:r>
          </a:p>
        </p:txBody>
      </p:sp>
      <p:sp>
        <p:nvSpPr>
          <p:cNvPr id="170" name="TextBox 169"/>
          <p:cNvSpPr txBox="1"/>
          <p:nvPr/>
        </p:nvSpPr>
        <p:spPr>
          <a:xfrm>
            <a:off x="33430464" y="16632936"/>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SASTO achieves 23.5% +/- 7.8% mean material reduction across 1,114 held-out geometries, up to 45.0% on individual designs - the first surrogate-accelerated, topology-preserving optimizer at building scale.</a:t>
            </a:r>
          </a:p>
        </p:txBody>
      </p:sp>
      <p:sp>
        <p:nvSpPr>
          <p:cNvPr id="171" name="Rounded Rectangle 170"/>
          <p:cNvSpPr/>
          <p:nvPr/>
        </p:nvSpPr>
        <p:spPr>
          <a:xfrm>
            <a:off x="33174432" y="17437608"/>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33174432" y="17437608"/>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2</a:t>
            </a:r>
          </a:p>
        </p:txBody>
      </p:sp>
      <p:sp>
        <p:nvSpPr>
          <p:cNvPr id="173" name="TextBox 172"/>
          <p:cNvSpPr txBox="1"/>
          <p:nvPr/>
        </p:nvSpPr>
        <p:spPr>
          <a:xfrm>
            <a:off x="33430464" y="17437608"/>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Deep ensemble surrogate (5x8.76M params) provides 23-92x speedup vs SIMP: median 50s on consumer GPU vs 19-77 min for SIMP.</a:t>
            </a:r>
          </a:p>
        </p:txBody>
      </p:sp>
      <p:sp>
        <p:nvSpPr>
          <p:cNvPr id="174" name="Rounded Rectangle 173"/>
          <p:cNvSpPr/>
          <p:nvPr/>
        </p:nvSpPr>
        <p:spPr>
          <a:xfrm>
            <a:off x="33174432" y="18242280"/>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33174432" y="18242280"/>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3</a:t>
            </a:r>
          </a:p>
        </p:txBody>
      </p:sp>
      <p:sp>
        <p:nvSpPr>
          <p:cNvPr id="176" name="TextBox 175"/>
          <p:cNvSpPr txBox="1"/>
          <p:nvPr/>
        </p:nvSpPr>
        <p:spPr>
          <a:xfrm>
            <a:off x="33430464" y="18242280"/>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6-connectivity criterion eliminates thousands of floating mesh fragments produced by standard 26-connectivity, guaranteeing watertight single-component STLs for AM.</a:t>
            </a:r>
          </a:p>
        </p:txBody>
      </p:sp>
      <p:sp>
        <p:nvSpPr>
          <p:cNvPr id="177" name="Rounded Rectangle 176"/>
          <p:cNvSpPr/>
          <p:nvPr/>
        </p:nvSpPr>
        <p:spPr>
          <a:xfrm>
            <a:off x="33174432" y="1904695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33174432" y="1904695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4</a:t>
            </a:r>
          </a:p>
        </p:txBody>
      </p:sp>
      <p:sp>
        <p:nvSpPr>
          <p:cNvPr id="179" name="TextBox 178"/>
          <p:cNvSpPr txBox="1"/>
          <p:nvPr/>
        </p:nvSpPr>
        <p:spPr>
          <a:xfrm>
            <a:off x="33430464" y="19046952"/>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Part-aware thickness yields 10.7pp more reduction than uniform baseline by permitting 1-voxel (78 mm) interior walls while protecting 2-voxel (156 mm) load-bearing exteriors.</a:t>
            </a:r>
          </a:p>
        </p:txBody>
      </p:sp>
      <p:sp>
        <p:nvSpPr>
          <p:cNvPr id="180" name="Rounded Rectangle 179"/>
          <p:cNvSpPr/>
          <p:nvPr/>
        </p:nvSpPr>
        <p:spPr>
          <a:xfrm>
            <a:off x="33174432" y="19851623"/>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33174432" y="19851623"/>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5</a:t>
            </a:r>
          </a:p>
        </p:txBody>
      </p:sp>
      <p:sp>
        <p:nvSpPr>
          <p:cNvPr id="182" name="TextBox 181"/>
          <p:cNvSpPr txBox="1"/>
          <p:nvPr/>
        </p:nvSpPr>
        <p:spPr>
          <a:xfrm>
            <a:off x="33430464" y="19851623"/>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Independent FEA re-analysis: zero violations across all 1,114 designs (max C_opt/C_base = 1.004 vs 1.15 limit). Conformal: P(violation) &lt;= 0.09%.</a:t>
            </a:r>
          </a:p>
        </p:txBody>
      </p:sp>
      <p:sp>
        <p:nvSpPr>
          <p:cNvPr id="183" name="Rounded Rectangle 182"/>
          <p:cNvSpPr/>
          <p:nvPr/>
        </p:nvSpPr>
        <p:spPr>
          <a:xfrm>
            <a:off x="33174432" y="21223224"/>
            <a:ext cx="10460736" cy="292608"/>
          </a:xfrm>
          <a:prstGeom prst="roundRect">
            <a:avLst>
              <a:gd name="adj" fmla="val 20000"/>
            </a:avLst>
          </a:prstGeom>
          <a:solidFill>
            <a:srgbClr val="E8EEF8"/>
          </a:solidFill>
          <a:ln w="12700">
            <a:solidFill>
              <a:srgbClr val="CFA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33229296" y="21250656"/>
            <a:ext cx="10351008" cy="237744"/>
          </a:xfrm>
          <a:prstGeom prst="rect">
            <a:avLst/>
          </a:prstGeom>
          <a:noFill/>
        </p:spPr>
        <p:txBody>
          <a:bodyPr wrap="square"/>
          <a:lstStyle/>
          <a:p>
            <a:pPr algn="ctr">
              <a:spcBef>
                <a:spcPts val="0"/>
              </a:spcBef>
              <a:spcAft>
                <a:spcPts val="0"/>
              </a:spcAft>
              <a:defRPr sz="800" b="1" i="0">
                <a:solidFill>
                  <a:srgbClr val="0B1736"/>
                </a:solidFill>
                <a:latin typeface="Arial"/>
              </a:defRPr>
            </a:pPr>
            <a:r>
              <a:t>Impact: 8% of global CO2 = cement. 23.5% less concrete per house -&gt; millions of tons saved.</a:t>
            </a:r>
          </a:p>
        </p:txBody>
      </p:sp>
      <p:sp>
        <p:nvSpPr>
          <p:cNvPr id="185" name="Rounded Rectangle 184"/>
          <p:cNvSpPr/>
          <p:nvPr/>
        </p:nvSpPr>
        <p:spPr>
          <a:xfrm>
            <a:off x="33082992" y="21607272"/>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33082992" y="21607272"/>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FUTURE WORK</a:t>
            </a:r>
          </a:p>
        </p:txBody>
      </p:sp>
      <p:sp>
        <p:nvSpPr>
          <p:cNvPr id="187" name="Rounded Rectangle 186"/>
          <p:cNvSpPr/>
          <p:nvPr/>
        </p:nvSpPr>
        <p:spPr>
          <a:xfrm>
            <a:off x="33082992" y="22018752"/>
            <a:ext cx="10643616" cy="34747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ounded Rectangle 187"/>
          <p:cNvSpPr/>
          <p:nvPr/>
        </p:nvSpPr>
        <p:spPr>
          <a:xfrm>
            <a:off x="33174432" y="2211019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33174432" y="2211019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1</a:t>
            </a:r>
          </a:p>
        </p:txBody>
      </p:sp>
      <p:sp>
        <p:nvSpPr>
          <p:cNvPr id="190" name="TextBox 189"/>
          <p:cNvSpPr txBox="1"/>
          <p:nvPr/>
        </p:nvSpPr>
        <p:spPr>
          <a:xfrm>
            <a:off x="33430464" y="22110192"/>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FEA-IN-THE-LOOP ACTIVE LEARNING</a:t>
            </a:r>
          </a:p>
        </p:txBody>
      </p:sp>
      <p:sp>
        <p:nvSpPr>
          <p:cNvPr id="191" name="TextBox 190"/>
          <p:cNvSpPr txBox="1"/>
          <p:nvPr/>
        </p:nvSpPr>
        <p:spPr>
          <a:xfrm>
            <a:off x="33430464" y="22311360"/>
            <a:ext cx="10204704" cy="585216"/>
          </a:xfrm>
          <a:prstGeom prst="rect">
            <a:avLst/>
          </a:prstGeom>
          <a:noFill/>
        </p:spPr>
        <p:txBody>
          <a:bodyPr wrap="square"/>
          <a:lstStyle/>
          <a:p>
            <a:pPr algn="l">
              <a:spcBef>
                <a:spcPts val="0"/>
              </a:spcBef>
              <a:spcAft>
                <a:spcPts val="0"/>
              </a:spcAft>
              <a:defRPr sz="900" b="0" i="0">
                <a:solidFill>
                  <a:srgbClr val="0B1736"/>
                </a:solidFill>
                <a:latin typeface="Arial"/>
              </a:defRPr>
            </a:pPr>
            <a:r>
              <a:t>When ensemble Gamma_D &gt; threshold tau, trigger ground-truth FEA mid-optimization -&gt; self-correcting safety net.</a:t>
            </a:r>
          </a:p>
        </p:txBody>
      </p:sp>
      <p:sp>
        <p:nvSpPr>
          <p:cNvPr id="192" name="Rounded Rectangle 191"/>
          <p:cNvSpPr/>
          <p:nvPr/>
        </p:nvSpPr>
        <p:spPr>
          <a:xfrm>
            <a:off x="33174432" y="22951440"/>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33174432" y="22951440"/>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2</a:t>
            </a:r>
          </a:p>
        </p:txBody>
      </p:sp>
      <p:sp>
        <p:nvSpPr>
          <p:cNvPr id="194" name="TextBox 193"/>
          <p:cNvSpPr txBox="1"/>
          <p:nvPr/>
        </p:nvSpPr>
        <p:spPr>
          <a:xfrm>
            <a:off x="33430464" y="22951440"/>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NONLINEAR FEA SPOT CHECKS</a:t>
            </a:r>
          </a:p>
        </p:txBody>
      </p:sp>
      <p:sp>
        <p:nvSpPr>
          <p:cNvPr id="195" name="TextBox 194"/>
          <p:cNvSpPr txBox="1"/>
          <p:nvPr/>
        </p:nvSpPr>
        <p:spPr>
          <a:xfrm>
            <a:off x="33430464" y="23152608"/>
            <a:ext cx="10204704" cy="585216"/>
          </a:xfrm>
          <a:prstGeom prst="rect">
            <a:avLst/>
          </a:prstGeom>
          <a:noFill/>
        </p:spPr>
        <p:txBody>
          <a:bodyPr wrap="square"/>
          <a:lstStyle/>
          <a:p>
            <a:pPr algn="l">
              <a:spcBef>
                <a:spcPts val="0"/>
              </a:spcBef>
              <a:spcAft>
                <a:spcPts val="0"/>
              </a:spcAft>
              <a:defRPr sz="900" b="0" i="0">
                <a:solidFill>
                  <a:srgbClr val="0B1736"/>
                </a:solidFill>
                <a:latin typeface="Arial"/>
              </a:defRPr>
            </a:pPr>
            <a:r>
              <a:t>Concrete damaged plasticity (CDP) on 5 representative designs to assess tension cracking, compression softening, and buckling.</a:t>
            </a:r>
          </a:p>
        </p:txBody>
      </p:sp>
      <p:sp>
        <p:nvSpPr>
          <p:cNvPr id="196" name="Rounded Rectangle 195"/>
          <p:cNvSpPr/>
          <p:nvPr/>
        </p:nvSpPr>
        <p:spPr>
          <a:xfrm>
            <a:off x="33174432" y="23792688"/>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33174432" y="23792688"/>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3</a:t>
            </a:r>
          </a:p>
        </p:txBody>
      </p:sp>
      <p:sp>
        <p:nvSpPr>
          <p:cNvPr id="198" name="TextBox 197"/>
          <p:cNvSpPr txBox="1"/>
          <p:nvPr/>
        </p:nvSpPr>
        <p:spPr>
          <a:xfrm>
            <a:off x="33430464" y="23792688"/>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PHYSICAL PRINT VALIDATION</a:t>
            </a:r>
          </a:p>
        </p:txBody>
      </p:sp>
      <p:sp>
        <p:nvSpPr>
          <p:cNvPr id="199" name="TextBox 198"/>
          <p:cNvSpPr txBox="1"/>
          <p:nvPr/>
        </p:nvSpPr>
        <p:spPr>
          <a:xfrm>
            <a:off x="33430464" y="23993856"/>
            <a:ext cx="10204704" cy="585216"/>
          </a:xfrm>
          <a:prstGeom prst="rect">
            <a:avLst/>
          </a:prstGeom>
          <a:noFill/>
        </p:spPr>
        <p:txBody>
          <a:bodyPr wrap="square"/>
          <a:lstStyle/>
          <a:p>
            <a:pPr algn="l">
              <a:spcBef>
                <a:spcPts val="0"/>
              </a:spcBef>
              <a:spcAft>
                <a:spcPts val="0"/>
              </a:spcAft>
              <a:defRPr sz="900" b="0" i="0">
                <a:solidFill>
                  <a:srgbClr val="0B1736"/>
                </a:solidFill>
                <a:latin typeface="Arial"/>
              </a:defRPr>
            </a:pPr>
            <a:r>
              <a:t>1:10 scale print of optimized house. Compression testing + digital image correlation (DIC) for full-field strain mapping.</a:t>
            </a:r>
          </a:p>
        </p:txBody>
      </p:sp>
      <p:sp>
        <p:nvSpPr>
          <p:cNvPr id="200" name="Rounded Rectangle 199"/>
          <p:cNvSpPr/>
          <p:nvPr/>
        </p:nvSpPr>
        <p:spPr>
          <a:xfrm>
            <a:off x="33604200" y="24670512"/>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33604200" y="24707088"/>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Optimized STL</a:t>
            </a:r>
          </a:p>
        </p:txBody>
      </p:sp>
      <p:sp>
        <p:nvSpPr>
          <p:cNvPr id="202" name="TextBox 201"/>
          <p:cNvSpPr txBox="1"/>
          <p:nvPr/>
        </p:nvSpPr>
        <p:spPr>
          <a:xfrm>
            <a:off x="36640008" y="24688800"/>
            <a:ext cx="237744" cy="274320"/>
          </a:xfrm>
          <a:prstGeom prst="rect">
            <a:avLst/>
          </a:prstGeom>
          <a:noFill/>
        </p:spPr>
        <p:txBody>
          <a:bodyPr wrap="square"/>
          <a:lstStyle/>
          <a:p>
            <a:pPr algn="ctr">
              <a:spcBef>
                <a:spcPts val="0"/>
              </a:spcBef>
              <a:spcAft>
                <a:spcPts val="0"/>
              </a:spcAft>
              <a:defRPr sz="1300" b="1" i="0">
                <a:solidFill>
                  <a:srgbClr val="CFA535"/>
                </a:solidFill>
                <a:latin typeface="Arial"/>
              </a:defRPr>
            </a:pPr>
            <a:r>
              <a:t>-&gt;</a:t>
            </a:r>
          </a:p>
        </p:txBody>
      </p:sp>
      <p:sp>
        <p:nvSpPr>
          <p:cNvPr id="203" name="Rounded Rectangle 202"/>
          <p:cNvSpPr/>
          <p:nvPr/>
        </p:nvSpPr>
        <p:spPr>
          <a:xfrm>
            <a:off x="36896040" y="24670512"/>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36896040" y="24707088"/>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3D Print 1:10</a:t>
            </a:r>
          </a:p>
        </p:txBody>
      </p:sp>
      <p:sp>
        <p:nvSpPr>
          <p:cNvPr id="205" name="TextBox 204"/>
          <p:cNvSpPr txBox="1"/>
          <p:nvPr/>
        </p:nvSpPr>
        <p:spPr>
          <a:xfrm>
            <a:off x="39931848" y="24688800"/>
            <a:ext cx="237744" cy="274320"/>
          </a:xfrm>
          <a:prstGeom prst="rect">
            <a:avLst/>
          </a:prstGeom>
          <a:noFill/>
        </p:spPr>
        <p:txBody>
          <a:bodyPr wrap="square"/>
          <a:lstStyle/>
          <a:p>
            <a:pPr algn="ctr">
              <a:spcBef>
                <a:spcPts val="0"/>
              </a:spcBef>
              <a:spcAft>
                <a:spcPts val="0"/>
              </a:spcAft>
              <a:defRPr sz="1300" b="1" i="0">
                <a:solidFill>
                  <a:srgbClr val="CFA535"/>
                </a:solidFill>
                <a:latin typeface="Arial"/>
              </a:defRPr>
            </a:pPr>
            <a:r>
              <a:t>-&gt;</a:t>
            </a:r>
          </a:p>
        </p:txBody>
      </p:sp>
      <p:sp>
        <p:nvSpPr>
          <p:cNvPr id="206" name="Rounded Rectangle 205"/>
          <p:cNvSpPr/>
          <p:nvPr/>
        </p:nvSpPr>
        <p:spPr>
          <a:xfrm>
            <a:off x="40187880" y="24670512"/>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40187880" y="24707088"/>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Compression + DIC</a:t>
            </a:r>
          </a:p>
        </p:txBody>
      </p:sp>
      <p:sp>
        <p:nvSpPr>
          <p:cNvPr id="208" name="Rounded Rectangle 207"/>
          <p:cNvSpPr/>
          <p:nvPr/>
        </p:nvSpPr>
        <p:spPr>
          <a:xfrm>
            <a:off x="33082992" y="25530048"/>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33082992" y="25530048"/>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KEY REFERENCES</a:t>
            </a:r>
          </a:p>
        </p:txBody>
      </p:sp>
      <p:sp>
        <p:nvSpPr>
          <p:cNvPr id="210" name="Rounded Rectangle 209"/>
          <p:cNvSpPr/>
          <p:nvPr/>
        </p:nvSpPr>
        <p:spPr>
          <a:xfrm>
            <a:off x="33082992" y="25941527"/>
            <a:ext cx="10643616" cy="681228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33174432" y="26032968"/>
            <a:ext cx="10460736" cy="6629400"/>
          </a:xfrm>
          <a:prstGeom prst="rect">
            <a:avLst/>
          </a:prstGeom>
          <a:noFill/>
        </p:spPr>
        <p:txBody>
          <a:bodyPr wrap="square"/>
          <a:lstStyle/>
          <a:p>
            <a:pPr algn="l">
              <a:spcBef>
                <a:spcPts val="0"/>
              </a:spcBef>
              <a:spcAft>
                <a:spcPts val="100"/>
              </a:spcAft>
              <a:defRPr sz="900" b="0" i="0">
                <a:solidFill>
                  <a:srgbClr val="0B1736"/>
                </a:solidFill>
                <a:latin typeface="Arial"/>
              </a:defRPr>
            </a:pPr>
            <a:r>
              <a:t>1. Bendsoe &amp; Sigmund (2003). Topology Optimization. Springer.</a:t>
            </a:r>
          </a:p>
          <a:p>
            <a:pPr algn="l">
              <a:spcBef>
                <a:spcPts val="0"/>
              </a:spcBef>
              <a:spcAft>
                <a:spcPts val="100"/>
              </a:spcAft>
              <a:defRPr sz="900" b="0" i="0">
                <a:solidFill>
                  <a:srgbClr val="0B1736"/>
                </a:solidFill>
                <a:latin typeface="Arial"/>
              </a:defRPr>
            </a:pPr>
            <a:r>
              <a:t>2. Lakshminarayanan et al. (2017). Deep ensembles. NeurIPS.</a:t>
            </a:r>
          </a:p>
          <a:p>
            <a:pPr algn="l">
              <a:spcBef>
                <a:spcPts val="0"/>
              </a:spcBef>
              <a:spcAft>
                <a:spcPts val="100"/>
              </a:spcAft>
              <a:defRPr sz="900" b="0" i="0">
                <a:solidFill>
                  <a:srgbClr val="0B1736"/>
                </a:solidFill>
                <a:latin typeface="Arial"/>
              </a:defRPr>
            </a:pPr>
            <a:r>
              <a:t>3. Kong &amp; Rosenfeld (1989). Digital topology. CVGIP 48(3).</a:t>
            </a:r>
          </a:p>
          <a:p>
            <a:pPr algn="l">
              <a:spcBef>
                <a:spcPts val="0"/>
              </a:spcBef>
              <a:spcAft>
                <a:spcPts val="100"/>
              </a:spcAft>
              <a:defRPr sz="900" b="0" i="0">
                <a:solidFill>
                  <a:srgbClr val="0B1736"/>
                </a:solidFill>
                <a:latin typeface="Arial"/>
              </a:defRPr>
            </a:pPr>
            <a:r>
              <a:t>4. ASCE (2022). ASCE/SEI 7-22 Min Design Loads.</a:t>
            </a:r>
          </a:p>
          <a:p>
            <a:pPr algn="l">
              <a:spcBef>
                <a:spcPts val="0"/>
              </a:spcBef>
              <a:spcAft>
                <a:spcPts val="100"/>
              </a:spcAft>
              <a:defRPr sz="900" b="0" i="0">
                <a:solidFill>
                  <a:srgbClr val="0B1736"/>
                </a:solidFill>
                <a:latin typeface="Arial"/>
              </a:defRPr>
            </a:pPr>
            <a:r>
              <a:t>5. Buswell et al. (2018). 3D printing concrete. Cem Concr Res 112.</a:t>
            </a:r>
          </a:p>
          <a:p>
            <a:pPr algn="l">
              <a:spcBef>
                <a:spcPts val="0"/>
              </a:spcBef>
              <a:spcAft>
                <a:spcPts val="100"/>
              </a:spcAft>
              <a:defRPr sz="900" b="0" i="0">
                <a:solidFill>
                  <a:srgbClr val="0B1736"/>
                </a:solidFill>
                <a:latin typeface="Arial"/>
              </a:defRPr>
            </a:pPr>
            <a:r>
              <a:t>6. Sigmund &amp; Maute (2013). Topology optimization. SMO 48.</a:t>
            </a:r>
          </a:p>
          <a:p>
            <a:pPr algn="l">
              <a:spcBef>
                <a:spcPts val="0"/>
              </a:spcBef>
              <a:spcAft>
                <a:spcPts val="100"/>
              </a:spcAft>
              <a:defRPr sz="900" b="0" i="0">
                <a:solidFill>
                  <a:srgbClr val="0B1736"/>
                </a:solidFill>
                <a:latin typeface="Arial"/>
              </a:defRPr>
            </a:pPr>
            <a:r>
              <a:t>7. Lin et al. (2024). 3DWire dataset. KAUST VCC.</a:t>
            </a:r>
          </a:p>
          <a:p>
            <a:pPr algn="l">
              <a:spcBef>
                <a:spcPts val="0"/>
              </a:spcBef>
              <a:spcAft>
                <a:spcPts val="100"/>
              </a:spcAft>
              <a:defRPr sz="900" b="0" i="0">
                <a:solidFill>
                  <a:srgbClr val="0B1736"/>
                </a:solidFill>
                <a:latin typeface="Arial"/>
              </a:defRPr>
            </a:pPr>
            <a:r>
              <a:t>8. IEA (2021). Global Status Report for Buildings.</a:t>
            </a:r>
          </a:p>
          <a:p>
            <a:pPr algn="l">
              <a:spcBef>
                <a:spcPts val="0"/>
              </a:spcBef>
              <a:spcAft>
                <a:spcPts val="100"/>
              </a:spcAft>
              <a:defRPr sz="900" b="0" i="0">
                <a:solidFill>
                  <a:srgbClr val="0B1736"/>
                </a:solidFill>
                <a:latin typeface="Arial"/>
              </a:defRPr>
            </a:pPr>
            <a:r>
              <a:t>9. Lorensen &amp; Cline (1987). Marching Cubes. SIGGRAPH.</a:t>
            </a:r>
          </a:p>
          <a:p>
            <a:pPr algn="l">
              <a:spcBef>
                <a:spcPts val="0"/>
              </a:spcBef>
              <a:spcAft>
                <a:spcPts val="100"/>
              </a:spcAft>
              <a:defRPr sz="900" b="0" i="0">
                <a:solidFill>
                  <a:srgbClr val="0B1736"/>
                </a:solidFill>
                <a:latin typeface="Arial"/>
              </a:defRPr>
            </a:pPr>
            <a:r>
              <a:t>10. Vovk et al. (2005). Algorithmic Learning. Springer.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