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43891200" cy="329184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image" Target="../media/image9.png"/><Relationship Id="rId11" Type="http://schemas.openxmlformats.org/officeDocument/2006/relationships/image" Target="../media/image10.png"/><Relationship Id="rId12" Type="http://schemas.openxmlformats.org/officeDocument/2006/relationships/image" Target="../media/image11.png"/><Relationship Id="rId13" Type="http://schemas.openxmlformats.org/officeDocument/2006/relationships/image" Target="../media/image12.png"/><Relationship Id="rId14" Type="http://schemas.openxmlformats.org/officeDocument/2006/relationships/image" Target="../media/image13.png"/><Relationship Id="rId15" Type="http://schemas.openxmlformats.org/officeDocument/2006/relationships/image" Target="../media/image14.png"/><Relationship Id="rId16" Type="http://schemas.openxmlformats.org/officeDocument/2006/relationships/image" Target="../media/image15.png"/><Relationship Id="rId17" Type="http://schemas.openxmlformats.org/officeDocument/2006/relationships/image" Target="../media/image16.png"/><Relationship Id="rId18" Type="http://schemas.openxmlformats.org/officeDocument/2006/relationships/image" Target="../media/image17.png"/><Relationship Id="rId19" Type="http://schemas.openxmlformats.org/officeDocument/2006/relationships/image" Target="../media/image18.png"/><Relationship Id="rId20" Type="http://schemas.openxmlformats.org/officeDocument/2006/relationships/image" Target="../media/image19.png"/><Relationship Id="rId21" Type="http://schemas.openxmlformats.org/officeDocument/2006/relationships/image" Target="../media/image20.png"/><Relationship Id="rId22" Type="http://schemas.openxmlformats.org/officeDocument/2006/relationships/image" Target="../media/image21.png"/><Relationship Id="rId23" Type="http://schemas.openxmlformats.org/officeDocument/2006/relationships/image" Target="../media/image22.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3891200" cy="32918400"/>
          </a:xfrm>
          <a:prstGeom prst="rect">
            <a:avLst/>
          </a:prstGeom>
          <a:solidFill>
            <a:srgbClr val="062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3891200" cy="2971800"/>
          </a:xfrm>
          <a:prstGeom prst="rect">
            <a:avLst/>
          </a:prstGeom>
          <a:solidFill>
            <a:srgbClr val="0320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2944368"/>
            <a:ext cx="43891200" cy="27432"/>
          </a:xfrm>
          <a:prstGeom prst="rect">
            <a:avLst/>
          </a:prstGeom>
          <a:solidFill>
            <a:srgbClr val="CFA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original_solid.png"/>
          <p:cNvPicPr>
            <a:picLocks noChangeAspect="1"/>
          </p:cNvPicPr>
          <p:nvPr/>
        </p:nvPicPr>
        <p:blipFill>
          <a:blip r:embed="rId2"/>
          <a:stretch>
            <a:fillRect/>
          </a:stretch>
        </p:blipFill>
        <p:spPr>
          <a:xfrm>
            <a:off x="719460" y="228600"/>
            <a:ext cx="2218679" cy="2377440"/>
          </a:xfrm>
          <a:prstGeom prst="rect">
            <a:avLst/>
          </a:prstGeom>
        </p:spPr>
      </p:pic>
      <p:pic>
        <p:nvPicPr>
          <p:cNvPr id="6" name="Picture 5" descr="sasto_pa_solid.png"/>
          <p:cNvPicPr>
            <a:picLocks noChangeAspect="1"/>
          </p:cNvPicPr>
          <p:nvPr/>
        </p:nvPicPr>
        <p:blipFill>
          <a:blip r:embed="rId3"/>
          <a:stretch>
            <a:fillRect/>
          </a:stretch>
        </p:blipFill>
        <p:spPr>
          <a:xfrm>
            <a:off x="4011300" y="228600"/>
            <a:ext cx="2218679" cy="2377440"/>
          </a:xfrm>
          <a:prstGeom prst="rect">
            <a:avLst/>
          </a:prstGeom>
        </p:spPr>
      </p:pic>
      <p:sp>
        <p:nvSpPr>
          <p:cNvPr id="7" name="TextBox 6"/>
          <p:cNvSpPr txBox="1"/>
          <p:nvPr/>
        </p:nvSpPr>
        <p:spPr>
          <a:xfrm>
            <a:off x="7772400" y="91440"/>
            <a:ext cx="27432000" cy="822960"/>
          </a:xfrm>
          <a:prstGeom prst="rect">
            <a:avLst/>
          </a:prstGeom>
          <a:noFill/>
        </p:spPr>
        <p:txBody>
          <a:bodyPr wrap="square"/>
          <a:lstStyle/>
          <a:p>
            <a:pPr algn="ctr">
              <a:spcBef>
                <a:spcPts val="0"/>
              </a:spcBef>
              <a:spcAft>
                <a:spcPts val="0"/>
              </a:spcAft>
              <a:defRPr sz="4400" b="1" i="0">
                <a:solidFill>
                  <a:srgbClr val="FFFFFF"/>
                </a:solidFill>
                <a:latin typeface="Arial Black"/>
              </a:defRPr>
            </a:pPr>
            <a:r>
              <a:t>SURROGATE-ACCELERATED STRUCTURAL OPTIMIZATION</a:t>
            </a:r>
          </a:p>
        </p:txBody>
      </p:sp>
      <p:sp>
        <p:nvSpPr>
          <p:cNvPr id="8" name="TextBox 7"/>
          <p:cNvSpPr txBox="1"/>
          <p:nvPr/>
        </p:nvSpPr>
        <p:spPr>
          <a:xfrm>
            <a:off x="7772400" y="1005840"/>
            <a:ext cx="27432000" cy="594360"/>
          </a:xfrm>
          <a:prstGeom prst="rect">
            <a:avLst/>
          </a:prstGeom>
          <a:noFill/>
        </p:spPr>
        <p:txBody>
          <a:bodyPr wrap="square"/>
          <a:lstStyle/>
          <a:p>
            <a:pPr algn="ctr">
              <a:spcBef>
                <a:spcPts val="0"/>
              </a:spcBef>
              <a:spcAft>
                <a:spcPts val="0"/>
              </a:spcAft>
              <a:defRPr sz="2600" b="1" i="1">
                <a:solidFill>
                  <a:srgbClr val="FFFFFF"/>
                </a:solidFill>
                <a:latin typeface="Arial"/>
              </a:defRPr>
            </a:pPr>
            <a:r>
              <a:t>Additive Manufacturing: Harnessing FEA to Optimize Material Efficiency</a:t>
            </a:r>
          </a:p>
        </p:txBody>
      </p:sp>
      <p:sp>
        <p:nvSpPr>
          <p:cNvPr id="9" name="TextBox 8"/>
          <p:cNvSpPr txBox="1"/>
          <p:nvPr/>
        </p:nvSpPr>
        <p:spPr>
          <a:xfrm>
            <a:off x="7772400" y="1691640"/>
            <a:ext cx="27432000" cy="411480"/>
          </a:xfrm>
          <a:prstGeom prst="rect">
            <a:avLst/>
          </a:prstGeom>
          <a:noFill/>
        </p:spPr>
        <p:txBody>
          <a:bodyPr wrap="square"/>
          <a:lstStyle/>
          <a:p>
            <a:pPr algn="ctr">
              <a:spcBef>
                <a:spcPts val="0"/>
              </a:spcBef>
              <a:spcAft>
                <a:spcPts val="0"/>
              </a:spcAft>
              <a:defRPr sz="2200" b="1" i="0">
                <a:solidFill>
                  <a:srgbClr val="FFFFFF"/>
                </a:solidFill>
                <a:latin typeface="Arial"/>
              </a:defRPr>
            </a:pPr>
            <a:r>
              <a:t>Eric Hou</a:t>
            </a:r>
          </a:p>
        </p:txBody>
      </p:sp>
      <p:sp>
        <p:nvSpPr>
          <p:cNvPr id="10" name="TextBox 9"/>
          <p:cNvSpPr txBox="1"/>
          <p:nvPr/>
        </p:nvSpPr>
        <p:spPr>
          <a:xfrm>
            <a:off x="35661600" y="137160"/>
            <a:ext cx="7863840" cy="2560320"/>
          </a:xfrm>
          <a:prstGeom prst="rect">
            <a:avLst/>
          </a:prstGeom>
          <a:noFill/>
        </p:spPr>
        <p:txBody>
          <a:bodyPr wrap="square"/>
          <a:lstStyle/>
          <a:p>
            <a:pPr algn="l">
              <a:spcBef>
                <a:spcPts val="100"/>
              </a:spcBef>
              <a:spcAft>
                <a:spcPts val="100"/>
              </a:spcAft>
              <a:defRPr sz="1300" b="1" i="0">
                <a:solidFill>
                  <a:srgbClr val="FFFFFF"/>
                </a:solidFill>
                <a:latin typeface="Arial"/>
              </a:defRPr>
            </a:pPr>
            <a:r>
              <a:t>Intel ISEF 2026 - Engineering Mechanics</a:t>
            </a:r>
          </a:p>
          <a:p>
            <a:pPr algn="l">
              <a:spcBef>
                <a:spcPts val="100"/>
              </a:spcBef>
              <a:spcAft>
                <a:spcPts val="100"/>
              </a:spcAft>
              <a:defRPr sz="400" b="0" i="0">
                <a:latin typeface="Arial"/>
              </a:defRPr>
            </a:pPr>
          </a:p>
          <a:p>
            <a:pPr algn="l">
              <a:spcBef>
                <a:spcPts val="100"/>
              </a:spcBef>
              <a:spcAft>
                <a:spcPts val="100"/>
              </a:spcAft>
              <a:defRPr sz="1200" b="1" i="0">
                <a:solidFill>
                  <a:srgbClr val="FFFFFF"/>
                </a:solidFill>
                <a:latin typeface="Arial"/>
              </a:defRPr>
            </a:pPr>
            <a:r>
              <a:t>Credit Line of Origin</a:t>
            </a:r>
          </a:p>
          <a:p>
            <a:pPr algn="l">
              <a:spcBef>
                <a:spcPts val="100"/>
              </a:spcBef>
              <a:spcAft>
                <a:spcPts val="100"/>
              </a:spcAft>
              <a:defRPr sz="1000" b="0" i="0">
                <a:solidFill>
                  <a:srgbClr val="FFFFFF"/>
                </a:solidFill>
                <a:latin typeface="Arial"/>
              </a:defRPr>
            </a:pPr>
            <a:r>
              <a:t>References &amp; data in references below.</a:t>
            </a:r>
          </a:p>
          <a:p>
            <a:pPr algn="l">
              <a:spcBef>
                <a:spcPts val="100"/>
              </a:spcBef>
              <a:spcAft>
                <a:spcPts val="100"/>
              </a:spcAft>
              <a:defRPr sz="400" b="0" i="0">
                <a:latin typeface="Arial"/>
              </a:defRPr>
            </a:pPr>
          </a:p>
          <a:p>
            <a:pPr algn="l">
              <a:spcBef>
                <a:spcPts val="100"/>
              </a:spcBef>
              <a:spcAft>
                <a:spcPts val="100"/>
              </a:spcAft>
              <a:defRPr sz="1000" b="0" i="0">
                <a:solidFill>
                  <a:srgbClr val="FFFFFF"/>
                </a:solidFill>
                <a:latin typeface="Arial"/>
              </a:defRPr>
            </a:pPr>
            <a:r>
              <a:t>Images denoted with an asterisk (*) are from</a:t>
            </a:r>
          </a:p>
          <a:p>
            <a:pPr algn="l">
              <a:spcBef>
                <a:spcPts val="100"/>
              </a:spcBef>
              <a:spcAft>
                <a:spcPts val="100"/>
              </a:spcAft>
              <a:defRPr sz="1000" b="0" i="0">
                <a:solidFill>
                  <a:srgbClr val="FFFFFF"/>
                </a:solidFill>
                <a:latin typeface="Arial"/>
              </a:defRPr>
            </a:pPr>
            <a:r>
              <a:t>public-domain or adapted from publicly available</a:t>
            </a:r>
          </a:p>
          <a:p>
            <a:pPr algn="l">
              <a:spcBef>
                <a:spcPts val="100"/>
              </a:spcBef>
              <a:spcAft>
                <a:spcPts val="100"/>
              </a:spcAft>
              <a:defRPr sz="1000" b="0" i="0">
                <a:solidFill>
                  <a:srgbClr val="FFFFFF"/>
                </a:solidFill>
                <a:latin typeface="Arial"/>
              </a:defRPr>
            </a:pPr>
            <a:r>
              <a:t>sources. All other figures, tables, and images</a:t>
            </a:r>
          </a:p>
          <a:p>
            <a:pPr algn="l">
              <a:spcBef>
                <a:spcPts val="100"/>
              </a:spcBef>
              <a:spcAft>
                <a:spcPts val="100"/>
              </a:spcAft>
              <a:defRPr sz="1000" b="0" i="0">
                <a:solidFill>
                  <a:srgbClr val="FFFFFF"/>
                </a:solidFill>
                <a:latin typeface="Arial"/>
              </a:defRPr>
            </a:pPr>
            <a:r>
              <a:t>created by Eric Hou, 2026.</a:t>
            </a:r>
          </a:p>
        </p:txBody>
      </p:sp>
      <p:sp>
        <p:nvSpPr>
          <p:cNvPr id="11" name="Rounded Rectangle 10"/>
          <p:cNvSpPr/>
          <p:nvPr/>
        </p:nvSpPr>
        <p:spPr>
          <a:xfrm>
            <a:off x="164592" y="3063240"/>
            <a:ext cx="10643616" cy="411480"/>
          </a:xfrm>
          <a:prstGeom prst="roundRect">
            <a:avLst>
              <a:gd name="adj" fmla="val 15000"/>
            </a:avLst>
          </a:prstGeom>
          <a:solidFill>
            <a:srgbClr val="0A3D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64592" y="3063240"/>
            <a:ext cx="10643616" cy="411480"/>
          </a:xfrm>
          <a:prstGeom prst="rect">
            <a:avLst/>
          </a:prstGeom>
          <a:noFill/>
        </p:spPr>
        <p:txBody>
          <a:bodyPr wrap="square"/>
          <a:lstStyle/>
          <a:p>
            <a:pPr algn="ctr">
              <a:spcBef>
                <a:spcPts val="0"/>
              </a:spcBef>
              <a:spcAft>
                <a:spcPts val="0"/>
              </a:spcAft>
              <a:defRPr sz="2800" b="1" i="0">
                <a:solidFill>
                  <a:srgbClr val="FFFFFF"/>
                </a:solidFill>
                <a:latin typeface="Arial Black"/>
              </a:defRPr>
            </a:pPr>
            <a:r>
              <a:t>VISUAL ABSTRACT</a:t>
            </a:r>
          </a:p>
        </p:txBody>
      </p:sp>
      <p:sp>
        <p:nvSpPr>
          <p:cNvPr id="13" name="Rounded Rectangle 12"/>
          <p:cNvSpPr/>
          <p:nvPr/>
        </p:nvSpPr>
        <p:spPr>
          <a:xfrm>
            <a:off x="164592" y="3474720"/>
            <a:ext cx="10643616" cy="5120640"/>
          </a:xfrm>
          <a:prstGeom prst="roundRect">
            <a:avLst>
              <a:gd name="adj" fmla="val 40000"/>
            </a:avLst>
          </a:prstGeom>
          <a:solidFill>
            <a:srgbClr val="F7F9FC"/>
          </a:solidFill>
          <a:ln w="12700">
            <a:solidFill>
              <a:srgbClr val="B7C5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fig01_visual_abstract_pipeline.png"/>
          <p:cNvPicPr>
            <a:picLocks noChangeAspect="1"/>
          </p:cNvPicPr>
          <p:nvPr/>
        </p:nvPicPr>
        <p:blipFill>
          <a:blip r:embed="rId4"/>
          <a:stretch>
            <a:fillRect/>
          </a:stretch>
        </p:blipFill>
        <p:spPr>
          <a:xfrm>
            <a:off x="2716274" y="3566160"/>
            <a:ext cx="5540250" cy="4114800"/>
          </a:xfrm>
          <a:prstGeom prst="rect">
            <a:avLst/>
          </a:prstGeom>
        </p:spPr>
      </p:pic>
      <p:sp>
        <p:nvSpPr>
          <p:cNvPr id="15" name="TextBox 14"/>
          <p:cNvSpPr txBox="1"/>
          <p:nvPr/>
        </p:nvSpPr>
        <p:spPr>
          <a:xfrm>
            <a:off x="256032" y="7680960"/>
            <a:ext cx="10460736" cy="182880"/>
          </a:xfrm>
          <a:prstGeom prst="rect">
            <a:avLst/>
          </a:prstGeom>
          <a:noFill/>
        </p:spPr>
        <p:txBody>
          <a:bodyPr wrap="square"/>
          <a:lstStyle/>
          <a:p>
            <a:pPr algn="ctr">
              <a:spcBef>
                <a:spcPts val="0"/>
              </a:spcBef>
              <a:spcAft>
                <a:spcPts val="0"/>
              </a:spcAft>
              <a:defRPr sz="800" b="0" i="1">
                <a:solidFill>
                  <a:srgbClr val="0B1736"/>
                </a:solidFill>
                <a:latin typeface="Arial"/>
              </a:defRPr>
            </a:pPr>
            <a:r>
              <a:t>Fig. 1. SASTO pipeline: two-column workflow overview</a:t>
            </a:r>
          </a:p>
        </p:txBody>
      </p:sp>
      <p:sp>
        <p:nvSpPr>
          <p:cNvPr id="16" name="TextBox 15"/>
          <p:cNvSpPr txBox="1"/>
          <p:nvPr/>
        </p:nvSpPr>
        <p:spPr>
          <a:xfrm>
            <a:off x="256032" y="7882128"/>
            <a:ext cx="10460736" cy="603504"/>
          </a:xfrm>
          <a:prstGeom prst="rect">
            <a:avLst/>
          </a:prstGeom>
          <a:noFill/>
        </p:spPr>
        <p:txBody>
          <a:bodyPr wrap="square"/>
          <a:lstStyle/>
          <a:p>
            <a:pPr algn="l">
              <a:spcBef>
                <a:spcPts val="0"/>
              </a:spcBef>
              <a:spcAft>
                <a:spcPts val="0"/>
              </a:spcAft>
              <a:defRPr sz="1000" b="0" i="0">
                <a:solidFill>
                  <a:srgbClr val="0B1736"/>
                </a:solidFill>
                <a:latin typeface="Arial"/>
              </a:defRPr>
            </a:pPr>
            <a:r>
              <a:t>Left: user workflow — input building wireframe, run SASTO optimization (~50s), output watertight STL with 23.5% less material. Right: model creation — dataset generation, FEA, deep ensemble training, and conformal calibration.</a:t>
            </a:r>
          </a:p>
        </p:txBody>
      </p:sp>
      <p:sp>
        <p:nvSpPr>
          <p:cNvPr id="17" name="Rounded Rectangle 16"/>
          <p:cNvSpPr/>
          <p:nvPr/>
        </p:nvSpPr>
        <p:spPr>
          <a:xfrm>
            <a:off x="164592" y="8631936"/>
            <a:ext cx="10643616" cy="411480"/>
          </a:xfrm>
          <a:prstGeom prst="roundRect">
            <a:avLst>
              <a:gd name="adj" fmla="val 15000"/>
            </a:avLst>
          </a:prstGeom>
          <a:solidFill>
            <a:srgbClr val="0A3D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64592" y="8631936"/>
            <a:ext cx="10643616" cy="411480"/>
          </a:xfrm>
          <a:prstGeom prst="rect">
            <a:avLst/>
          </a:prstGeom>
          <a:noFill/>
        </p:spPr>
        <p:txBody>
          <a:bodyPr wrap="square"/>
          <a:lstStyle/>
          <a:p>
            <a:pPr algn="ctr">
              <a:spcBef>
                <a:spcPts val="0"/>
              </a:spcBef>
              <a:spcAft>
                <a:spcPts val="0"/>
              </a:spcAft>
              <a:defRPr sz="2800" b="1" i="0">
                <a:solidFill>
                  <a:srgbClr val="FFFFFF"/>
                </a:solidFill>
                <a:latin typeface="Arial Black"/>
              </a:defRPr>
            </a:pPr>
            <a:r>
              <a:t>INTRODUCTION</a:t>
            </a:r>
          </a:p>
        </p:txBody>
      </p:sp>
      <p:sp>
        <p:nvSpPr>
          <p:cNvPr id="19" name="Rounded Rectangle 18"/>
          <p:cNvSpPr/>
          <p:nvPr/>
        </p:nvSpPr>
        <p:spPr>
          <a:xfrm>
            <a:off x="164592" y="9043415"/>
            <a:ext cx="10643616" cy="6675120"/>
          </a:xfrm>
          <a:prstGeom prst="roundRect">
            <a:avLst>
              <a:gd name="adj" fmla="val 40000"/>
            </a:avLst>
          </a:prstGeom>
          <a:solidFill>
            <a:srgbClr val="F7F9FC"/>
          </a:solidFill>
          <a:ln w="12700">
            <a:solidFill>
              <a:srgbClr val="B7C5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56032" y="9134855"/>
            <a:ext cx="6217920" cy="6492240"/>
          </a:xfrm>
          <a:prstGeom prst="rect">
            <a:avLst/>
          </a:prstGeom>
          <a:noFill/>
        </p:spPr>
        <p:txBody>
          <a:bodyPr wrap="square"/>
          <a:lstStyle/>
          <a:p>
            <a:pPr algn="l">
              <a:spcBef>
                <a:spcPts val="100"/>
              </a:spcBef>
              <a:spcAft>
                <a:spcPts val="100"/>
              </a:spcAft>
              <a:defRPr sz="1200" b="1" i="0">
                <a:solidFill>
                  <a:srgbClr val="008C9E"/>
                </a:solidFill>
                <a:latin typeface="Arial"/>
              </a:defRPr>
            </a:pPr>
            <a:r>
              <a:t>CONCRETE &amp; CO2 CRISIS</a:t>
            </a:r>
          </a:p>
          <a:p>
            <a:pPr algn="l">
              <a:spcBef>
                <a:spcPts val="100"/>
              </a:spcBef>
              <a:spcAft>
                <a:spcPts val="300"/>
              </a:spcAft>
              <a:defRPr sz="1000" b="0" i="0">
                <a:solidFill>
                  <a:srgbClr val="0B1736"/>
                </a:solidFill>
                <a:latin typeface="Arial"/>
              </a:defRPr>
            </a:pPr>
            <a:r>
              <a:t>Concrete production accounts for ~8% of global CO2 emissions [IEA 2021]. In conventional construction, walls are built at uniform thickness - a practice driven by formwork constraints, not structural need. Interior partitions bear negligible loads compared to exterior shear walls, creating a substantial opportunity for material reduction.</a:t>
            </a:r>
          </a:p>
          <a:p>
            <a:pPr algn="l">
              <a:spcBef>
                <a:spcPts val="100"/>
              </a:spcBef>
              <a:spcAft>
                <a:spcPts val="100"/>
              </a:spcAft>
              <a:defRPr sz="1200" b="1" i="0">
                <a:solidFill>
                  <a:srgbClr val="008C9E"/>
                </a:solidFill>
                <a:latin typeface="Arial"/>
              </a:defRPr>
            </a:pPr>
            <a:r>
              <a:t>ADDITIVE MANUFACTURING</a:t>
            </a:r>
          </a:p>
          <a:p>
            <a:pPr algn="l">
              <a:spcBef>
                <a:spcPts val="100"/>
              </a:spcBef>
              <a:spcAft>
                <a:spcPts val="300"/>
              </a:spcAft>
              <a:defRPr sz="1000" b="0" i="0">
                <a:solidFill>
                  <a:srgbClr val="0B1736"/>
                </a:solidFill>
                <a:latin typeface="Arial"/>
              </a:defRPr>
            </a:pPr>
            <a:r>
              <a:t>Large-scale 3D printing (ICON, COBOD, Apis Cor) can realize arbitrary wall profiles at no marginal tooling cost. However, exploiting this geometric freedom requires optimized 3D models that minimize volume, satisfy structural constraints under ASCE 7-22 load cases, and produce watertight meshes compatible with printer toolpath generation.</a:t>
            </a:r>
          </a:p>
          <a:p>
            <a:pPr algn="l">
              <a:spcBef>
                <a:spcPts val="100"/>
              </a:spcBef>
              <a:spcAft>
                <a:spcPts val="100"/>
              </a:spcAft>
              <a:defRPr sz="1200" b="1" i="0">
                <a:solidFill>
                  <a:srgbClr val="008C9E"/>
                </a:solidFill>
                <a:latin typeface="Arial"/>
              </a:defRPr>
            </a:pPr>
            <a:r>
              <a:t>COMPUTATIONAL BOTTLENECK</a:t>
            </a:r>
          </a:p>
          <a:p>
            <a:pPr algn="l">
              <a:spcBef>
                <a:spcPts val="100"/>
              </a:spcBef>
              <a:spcAft>
                <a:spcPts val="300"/>
              </a:spcAft>
              <a:defRPr sz="1000" b="0" i="0">
                <a:solidFill>
                  <a:srgbClr val="0B1736"/>
                </a:solidFill>
                <a:latin typeface="Arial"/>
              </a:defRPr>
            </a:pPr>
            <a:r>
              <a:t>Classical SIMP requires hundreds-thousands of FEA evaluations, each costing minutes-hours at building scale. Voxel-based implementations using 26-connectivity produce disconnected floating fragments incompatible with AM.</a:t>
            </a:r>
          </a:p>
          <a:p>
            <a:pPr algn="l">
              <a:spcBef>
                <a:spcPts val="100"/>
              </a:spcBef>
              <a:spcAft>
                <a:spcPts val="100"/>
              </a:spcAft>
              <a:defRPr sz="1200" b="1" i="0">
                <a:solidFill>
                  <a:srgbClr val="D7263D"/>
                </a:solidFill>
                <a:latin typeface="Arial"/>
              </a:defRPr>
            </a:pPr>
            <a:r>
              <a:t>SASTO CONTRIBUTION</a:t>
            </a:r>
          </a:p>
          <a:p>
            <a:pPr algn="l">
              <a:spcBef>
                <a:spcPts val="100"/>
              </a:spcBef>
              <a:spcAft>
                <a:spcPts val="200"/>
              </a:spcAft>
              <a:defRPr sz="1000" b="1" i="0">
                <a:solidFill>
                  <a:srgbClr val="0B1736"/>
                </a:solidFill>
                <a:latin typeface="Arial"/>
              </a:defRPr>
            </a:pPr>
            <a:r>
              <a:t>SASTO replaces FEA with a deep ensemble surrogate, achieving 23-92x speedup. A 6-connectivity criterion eliminates floating fragments. Part-aware thickness enables differential thinning. Across 1,114 geometries: 23.5% +/- 7.8% mean reduction, zero violations.</a:t>
            </a:r>
          </a:p>
        </p:txBody>
      </p:sp>
      <p:pic>
        <p:nvPicPr>
          <p:cNvPr id="21" name="Picture 20" descr="fig02_uniform_vs_optimized.png"/>
          <p:cNvPicPr>
            <a:picLocks noChangeAspect="1"/>
          </p:cNvPicPr>
          <p:nvPr/>
        </p:nvPicPr>
        <p:blipFill>
          <a:blip r:embed="rId5"/>
          <a:stretch>
            <a:fillRect/>
          </a:stretch>
        </p:blipFill>
        <p:spPr>
          <a:xfrm>
            <a:off x="6565392" y="10879762"/>
            <a:ext cx="4151376" cy="2270906"/>
          </a:xfrm>
          <a:prstGeom prst="rect">
            <a:avLst/>
          </a:prstGeom>
        </p:spPr>
      </p:pic>
      <p:sp>
        <p:nvSpPr>
          <p:cNvPr id="22" name="TextBox 21"/>
          <p:cNvSpPr txBox="1"/>
          <p:nvPr/>
        </p:nvSpPr>
        <p:spPr>
          <a:xfrm>
            <a:off x="6565392" y="14987016"/>
            <a:ext cx="4151376" cy="182880"/>
          </a:xfrm>
          <a:prstGeom prst="rect">
            <a:avLst/>
          </a:prstGeom>
          <a:noFill/>
        </p:spPr>
        <p:txBody>
          <a:bodyPr wrap="square"/>
          <a:lstStyle/>
          <a:p>
            <a:pPr algn="ctr">
              <a:spcBef>
                <a:spcPts val="0"/>
              </a:spcBef>
              <a:spcAft>
                <a:spcPts val="0"/>
              </a:spcAft>
              <a:defRPr sz="800" b="0" i="1">
                <a:solidFill>
                  <a:srgbClr val="0B1736"/>
                </a:solidFill>
                <a:latin typeface="Arial"/>
              </a:defRPr>
            </a:pPr>
            <a:r>
              <a:t>Uniform vs. SASTO*</a:t>
            </a:r>
          </a:p>
        </p:txBody>
      </p:sp>
      <p:sp>
        <p:nvSpPr>
          <p:cNvPr id="23" name="Rounded Rectangle 22"/>
          <p:cNvSpPr/>
          <p:nvPr/>
        </p:nvSpPr>
        <p:spPr>
          <a:xfrm>
            <a:off x="164592" y="15755111"/>
            <a:ext cx="10643616" cy="411480"/>
          </a:xfrm>
          <a:prstGeom prst="roundRect">
            <a:avLst>
              <a:gd name="adj" fmla="val 15000"/>
            </a:avLst>
          </a:prstGeom>
          <a:solidFill>
            <a:srgbClr val="0A3D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64592" y="15755111"/>
            <a:ext cx="10643616" cy="411480"/>
          </a:xfrm>
          <a:prstGeom prst="rect">
            <a:avLst/>
          </a:prstGeom>
          <a:noFill/>
        </p:spPr>
        <p:txBody>
          <a:bodyPr wrap="square"/>
          <a:lstStyle/>
          <a:p>
            <a:pPr algn="ctr">
              <a:spcBef>
                <a:spcPts val="0"/>
              </a:spcBef>
              <a:spcAft>
                <a:spcPts val="0"/>
              </a:spcAft>
              <a:defRPr sz="2800" b="1" i="0">
                <a:solidFill>
                  <a:srgbClr val="FFFFFF"/>
                </a:solidFill>
                <a:latin typeface="Arial Black"/>
              </a:defRPr>
            </a:pPr>
            <a:r>
              <a:t>RESEARCH OBJECTIVES</a:t>
            </a:r>
          </a:p>
        </p:txBody>
      </p:sp>
      <p:sp>
        <p:nvSpPr>
          <p:cNvPr id="25" name="Rounded Rectangle 24"/>
          <p:cNvSpPr/>
          <p:nvPr/>
        </p:nvSpPr>
        <p:spPr>
          <a:xfrm>
            <a:off x="164592" y="16166591"/>
            <a:ext cx="10643616" cy="2743200"/>
          </a:xfrm>
          <a:prstGeom prst="roundRect">
            <a:avLst>
              <a:gd name="adj" fmla="val 40000"/>
            </a:avLst>
          </a:prstGeom>
          <a:solidFill>
            <a:srgbClr val="F7F9FC"/>
          </a:solidFill>
          <a:ln w="12700">
            <a:solidFill>
              <a:srgbClr val="B7C5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256032" y="16258031"/>
            <a:ext cx="237744" cy="237744"/>
          </a:xfrm>
          <a:prstGeom prst="roundRect">
            <a:avLst>
              <a:gd name="adj" fmla="val 50000"/>
            </a:avLst>
          </a:prstGeom>
          <a:solidFill>
            <a:srgbClr val="008C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56032" y="16258031"/>
            <a:ext cx="237744" cy="237744"/>
          </a:xfrm>
          <a:prstGeom prst="rect">
            <a:avLst/>
          </a:prstGeom>
          <a:noFill/>
        </p:spPr>
        <p:txBody>
          <a:bodyPr wrap="square"/>
          <a:lstStyle/>
          <a:p>
            <a:pPr algn="ctr">
              <a:spcBef>
                <a:spcPts val="0"/>
              </a:spcBef>
              <a:spcAft>
                <a:spcPts val="0"/>
              </a:spcAft>
              <a:defRPr sz="1100" b="1" i="0">
                <a:solidFill>
                  <a:srgbClr val="FFFFFF"/>
                </a:solidFill>
                <a:latin typeface="Arial"/>
              </a:defRPr>
            </a:pPr>
            <a:r>
              <a:t>1</a:t>
            </a:r>
          </a:p>
        </p:txBody>
      </p:sp>
      <p:sp>
        <p:nvSpPr>
          <p:cNvPr id="28" name="TextBox 27"/>
          <p:cNvSpPr txBox="1"/>
          <p:nvPr/>
        </p:nvSpPr>
        <p:spPr>
          <a:xfrm>
            <a:off x="566928" y="16248887"/>
            <a:ext cx="1280160" cy="219456"/>
          </a:xfrm>
          <a:prstGeom prst="rect">
            <a:avLst/>
          </a:prstGeom>
          <a:noFill/>
        </p:spPr>
        <p:txBody>
          <a:bodyPr wrap="square"/>
          <a:lstStyle/>
          <a:p>
            <a:pPr algn="l">
              <a:spcBef>
                <a:spcPts val="0"/>
              </a:spcBef>
              <a:spcAft>
                <a:spcPts val="0"/>
              </a:spcAft>
              <a:defRPr sz="1100" b="1" i="0">
                <a:solidFill>
                  <a:srgbClr val="008C9E"/>
                </a:solidFill>
                <a:latin typeface="Arial"/>
              </a:defRPr>
            </a:pPr>
            <a:r>
              <a:t>SPEED</a:t>
            </a:r>
          </a:p>
        </p:txBody>
      </p:sp>
      <p:sp>
        <p:nvSpPr>
          <p:cNvPr id="29" name="TextBox 28"/>
          <p:cNvSpPr txBox="1"/>
          <p:nvPr/>
        </p:nvSpPr>
        <p:spPr>
          <a:xfrm>
            <a:off x="1865376" y="16248887"/>
            <a:ext cx="8851392" cy="219456"/>
          </a:xfrm>
          <a:prstGeom prst="rect">
            <a:avLst/>
          </a:prstGeom>
          <a:noFill/>
        </p:spPr>
        <p:txBody>
          <a:bodyPr wrap="square"/>
          <a:lstStyle/>
          <a:p>
            <a:pPr algn="l">
              <a:spcBef>
                <a:spcPts val="0"/>
              </a:spcBef>
              <a:spcAft>
                <a:spcPts val="0"/>
              </a:spcAft>
              <a:defRPr sz="1000" b="0" i="0">
                <a:solidFill>
                  <a:srgbClr val="0B1736"/>
                </a:solidFill>
                <a:latin typeface="Arial"/>
              </a:defRPr>
            </a:pPr>
            <a:r>
              <a:t>23-92x speedup via deep ensemble surrogate replacing FEA during optimization</a:t>
            </a:r>
          </a:p>
        </p:txBody>
      </p:sp>
      <p:sp>
        <p:nvSpPr>
          <p:cNvPr id="30" name="Rounded Rectangle 29"/>
          <p:cNvSpPr/>
          <p:nvPr/>
        </p:nvSpPr>
        <p:spPr>
          <a:xfrm>
            <a:off x="256032" y="16587215"/>
            <a:ext cx="237744" cy="237744"/>
          </a:xfrm>
          <a:prstGeom prst="roundRect">
            <a:avLst>
              <a:gd name="adj" fmla="val 50000"/>
            </a:avLst>
          </a:prstGeom>
          <a:solidFill>
            <a:srgbClr val="008C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56032" y="16587215"/>
            <a:ext cx="237744" cy="237744"/>
          </a:xfrm>
          <a:prstGeom prst="rect">
            <a:avLst/>
          </a:prstGeom>
          <a:noFill/>
        </p:spPr>
        <p:txBody>
          <a:bodyPr wrap="square"/>
          <a:lstStyle/>
          <a:p>
            <a:pPr algn="ctr">
              <a:spcBef>
                <a:spcPts val="0"/>
              </a:spcBef>
              <a:spcAft>
                <a:spcPts val="0"/>
              </a:spcAft>
              <a:defRPr sz="1100" b="1" i="0">
                <a:solidFill>
                  <a:srgbClr val="FFFFFF"/>
                </a:solidFill>
                <a:latin typeface="Arial"/>
              </a:defRPr>
            </a:pPr>
            <a:r>
              <a:t>2</a:t>
            </a:r>
          </a:p>
        </p:txBody>
      </p:sp>
      <p:sp>
        <p:nvSpPr>
          <p:cNvPr id="32" name="TextBox 31"/>
          <p:cNvSpPr txBox="1"/>
          <p:nvPr/>
        </p:nvSpPr>
        <p:spPr>
          <a:xfrm>
            <a:off x="566928" y="16578071"/>
            <a:ext cx="1280160" cy="219456"/>
          </a:xfrm>
          <a:prstGeom prst="rect">
            <a:avLst/>
          </a:prstGeom>
          <a:noFill/>
        </p:spPr>
        <p:txBody>
          <a:bodyPr wrap="square"/>
          <a:lstStyle/>
          <a:p>
            <a:pPr algn="l">
              <a:spcBef>
                <a:spcPts val="0"/>
              </a:spcBef>
              <a:spcAft>
                <a:spcPts val="0"/>
              </a:spcAft>
              <a:defRPr sz="1100" b="1" i="0">
                <a:solidFill>
                  <a:srgbClr val="008C9E"/>
                </a:solidFill>
                <a:latin typeface="Arial"/>
              </a:defRPr>
            </a:pPr>
            <a:r>
              <a:t>PRINTABILITY</a:t>
            </a:r>
          </a:p>
        </p:txBody>
      </p:sp>
      <p:sp>
        <p:nvSpPr>
          <p:cNvPr id="33" name="TextBox 32"/>
          <p:cNvSpPr txBox="1"/>
          <p:nvPr/>
        </p:nvSpPr>
        <p:spPr>
          <a:xfrm>
            <a:off x="1865376" y="16578071"/>
            <a:ext cx="8851392" cy="219456"/>
          </a:xfrm>
          <a:prstGeom prst="rect">
            <a:avLst/>
          </a:prstGeom>
          <a:noFill/>
        </p:spPr>
        <p:txBody>
          <a:bodyPr wrap="square"/>
          <a:lstStyle/>
          <a:p>
            <a:pPr algn="l">
              <a:spcBef>
                <a:spcPts val="0"/>
              </a:spcBef>
              <a:spcAft>
                <a:spcPts val="0"/>
              </a:spcAft>
              <a:defRPr sz="1000" b="0" i="0">
                <a:solidFill>
                  <a:srgbClr val="0B1736"/>
                </a:solidFill>
                <a:latin typeface="Arial"/>
              </a:defRPr>
            </a:pPr>
            <a:r>
              <a:t>6-connected topology -&gt; single-mesh watertight STL for AM toolpath</a:t>
            </a:r>
          </a:p>
        </p:txBody>
      </p:sp>
      <p:sp>
        <p:nvSpPr>
          <p:cNvPr id="34" name="Rounded Rectangle 33"/>
          <p:cNvSpPr/>
          <p:nvPr/>
        </p:nvSpPr>
        <p:spPr>
          <a:xfrm>
            <a:off x="256032" y="16916399"/>
            <a:ext cx="237744" cy="237744"/>
          </a:xfrm>
          <a:prstGeom prst="roundRect">
            <a:avLst>
              <a:gd name="adj" fmla="val 50000"/>
            </a:avLst>
          </a:prstGeom>
          <a:solidFill>
            <a:srgbClr val="CFA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56032" y="16916399"/>
            <a:ext cx="237744" cy="237744"/>
          </a:xfrm>
          <a:prstGeom prst="rect">
            <a:avLst/>
          </a:prstGeom>
          <a:noFill/>
        </p:spPr>
        <p:txBody>
          <a:bodyPr wrap="square"/>
          <a:lstStyle/>
          <a:p>
            <a:pPr algn="ctr">
              <a:spcBef>
                <a:spcPts val="0"/>
              </a:spcBef>
              <a:spcAft>
                <a:spcPts val="0"/>
              </a:spcAft>
              <a:defRPr sz="1100" b="1" i="0">
                <a:solidFill>
                  <a:srgbClr val="FFFFFF"/>
                </a:solidFill>
                <a:latin typeface="Arial"/>
              </a:defRPr>
            </a:pPr>
            <a:r>
              <a:t>3</a:t>
            </a:r>
          </a:p>
        </p:txBody>
      </p:sp>
      <p:sp>
        <p:nvSpPr>
          <p:cNvPr id="36" name="TextBox 35"/>
          <p:cNvSpPr txBox="1"/>
          <p:nvPr/>
        </p:nvSpPr>
        <p:spPr>
          <a:xfrm>
            <a:off x="566928" y="16907255"/>
            <a:ext cx="1280160" cy="219456"/>
          </a:xfrm>
          <a:prstGeom prst="rect">
            <a:avLst/>
          </a:prstGeom>
          <a:noFill/>
        </p:spPr>
        <p:txBody>
          <a:bodyPr wrap="square"/>
          <a:lstStyle/>
          <a:p>
            <a:pPr algn="l">
              <a:spcBef>
                <a:spcPts val="0"/>
              </a:spcBef>
              <a:spcAft>
                <a:spcPts val="0"/>
              </a:spcAft>
              <a:defRPr sz="1100" b="1" i="0">
                <a:solidFill>
                  <a:srgbClr val="CFA535"/>
                </a:solidFill>
                <a:latin typeface="Arial"/>
              </a:defRPr>
            </a:pPr>
            <a:r>
              <a:t>EFFICIENCY</a:t>
            </a:r>
          </a:p>
        </p:txBody>
      </p:sp>
      <p:sp>
        <p:nvSpPr>
          <p:cNvPr id="37" name="TextBox 36"/>
          <p:cNvSpPr txBox="1"/>
          <p:nvPr/>
        </p:nvSpPr>
        <p:spPr>
          <a:xfrm>
            <a:off x="1865376" y="16907255"/>
            <a:ext cx="8851392" cy="219456"/>
          </a:xfrm>
          <a:prstGeom prst="rect">
            <a:avLst/>
          </a:prstGeom>
          <a:noFill/>
        </p:spPr>
        <p:txBody>
          <a:bodyPr wrap="square"/>
          <a:lstStyle/>
          <a:p>
            <a:pPr algn="l">
              <a:spcBef>
                <a:spcPts val="0"/>
              </a:spcBef>
              <a:spcAft>
                <a:spcPts val="0"/>
              </a:spcAft>
              <a:defRPr sz="1000" b="0" i="0">
                <a:solidFill>
                  <a:srgbClr val="0B1736"/>
                </a:solidFill>
                <a:latin typeface="Arial"/>
              </a:defRPr>
            </a:pPr>
            <a:r>
              <a:t>23.5% +/- 7.8% mean material reduction (up to 45.0%) across 1,114 geometries</a:t>
            </a:r>
          </a:p>
        </p:txBody>
      </p:sp>
      <p:sp>
        <p:nvSpPr>
          <p:cNvPr id="38" name="Rounded Rectangle 37"/>
          <p:cNvSpPr/>
          <p:nvPr/>
        </p:nvSpPr>
        <p:spPr>
          <a:xfrm>
            <a:off x="256032" y="17245583"/>
            <a:ext cx="237744" cy="237744"/>
          </a:xfrm>
          <a:prstGeom prst="roundRect">
            <a:avLst>
              <a:gd name="adj" fmla="val 50000"/>
            </a:avLst>
          </a:prstGeom>
          <a:solidFill>
            <a:srgbClr val="D726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56032" y="17245583"/>
            <a:ext cx="237744" cy="237744"/>
          </a:xfrm>
          <a:prstGeom prst="rect">
            <a:avLst/>
          </a:prstGeom>
          <a:noFill/>
        </p:spPr>
        <p:txBody>
          <a:bodyPr wrap="square"/>
          <a:lstStyle/>
          <a:p>
            <a:pPr algn="ctr">
              <a:spcBef>
                <a:spcPts val="0"/>
              </a:spcBef>
              <a:spcAft>
                <a:spcPts val="0"/>
              </a:spcAft>
              <a:defRPr sz="1100" b="1" i="0">
                <a:solidFill>
                  <a:srgbClr val="FFFFFF"/>
                </a:solidFill>
                <a:latin typeface="Arial"/>
              </a:defRPr>
            </a:pPr>
            <a:r>
              <a:t>4</a:t>
            </a:r>
          </a:p>
        </p:txBody>
      </p:sp>
      <p:sp>
        <p:nvSpPr>
          <p:cNvPr id="40" name="TextBox 39"/>
          <p:cNvSpPr txBox="1"/>
          <p:nvPr/>
        </p:nvSpPr>
        <p:spPr>
          <a:xfrm>
            <a:off x="566928" y="17236439"/>
            <a:ext cx="1280160" cy="219456"/>
          </a:xfrm>
          <a:prstGeom prst="rect">
            <a:avLst/>
          </a:prstGeom>
          <a:noFill/>
        </p:spPr>
        <p:txBody>
          <a:bodyPr wrap="square"/>
          <a:lstStyle/>
          <a:p>
            <a:pPr algn="l">
              <a:spcBef>
                <a:spcPts val="0"/>
              </a:spcBef>
              <a:spcAft>
                <a:spcPts val="0"/>
              </a:spcAft>
              <a:defRPr sz="1100" b="1" i="0">
                <a:solidFill>
                  <a:srgbClr val="D7263D"/>
                </a:solidFill>
                <a:latin typeface="Arial"/>
              </a:defRPr>
            </a:pPr>
            <a:r>
              <a:t>SAFETY</a:t>
            </a:r>
          </a:p>
        </p:txBody>
      </p:sp>
      <p:sp>
        <p:nvSpPr>
          <p:cNvPr id="41" name="TextBox 40"/>
          <p:cNvSpPr txBox="1"/>
          <p:nvPr/>
        </p:nvSpPr>
        <p:spPr>
          <a:xfrm>
            <a:off x="1865376" y="17236439"/>
            <a:ext cx="8851392" cy="219456"/>
          </a:xfrm>
          <a:prstGeom prst="rect">
            <a:avLst/>
          </a:prstGeom>
          <a:noFill/>
        </p:spPr>
        <p:txBody>
          <a:bodyPr wrap="square"/>
          <a:lstStyle/>
          <a:p>
            <a:pPr algn="l">
              <a:spcBef>
                <a:spcPts val="0"/>
              </a:spcBef>
              <a:spcAft>
                <a:spcPts val="0"/>
              </a:spcAft>
              <a:defRPr sz="1000" b="0" i="0">
                <a:solidFill>
                  <a:srgbClr val="0B1736"/>
                </a:solidFill>
                <a:latin typeface="Arial"/>
              </a:defRPr>
            </a:pPr>
            <a:r>
              <a:t>0/1,114 FEA violations; conformal P(violation) &lt;= 0.09%</a:t>
            </a:r>
          </a:p>
        </p:txBody>
      </p:sp>
      <p:sp>
        <p:nvSpPr>
          <p:cNvPr id="42" name="Rounded Rectangle 41"/>
          <p:cNvSpPr/>
          <p:nvPr/>
        </p:nvSpPr>
        <p:spPr>
          <a:xfrm>
            <a:off x="530352" y="17684495"/>
            <a:ext cx="2286000" cy="475488"/>
          </a:xfrm>
          <a:prstGeom prst="roundRect">
            <a:avLst>
              <a:gd name="adj" fmla="val 25000"/>
            </a:avLst>
          </a:prstGeom>
          <a:solidFill>
            <a:srgbClr val="008C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30352" y="17702783"/>
            <a:ext cx="2286000" cy="438912"/>
          </a:xfrm>
          <a:prstGeom prst="rect">
            <a:avLst/>
          </a:prstGeom>
          <a:noFill/>
        </p:spPr>
        <p:txBody>
          <a:bodyPr wrap="square"/>
          <a:lstStyle/>
          <a:p>
            <a:pPr algn="ctr">
              <a:spcBef>
                <a:spcPts val="0"/>
              </a:spcBef>
              <a:spcAft>
                <a:spcPts val="0"/>
              </a:spcAft>
              <a:defRPr sz="900" b="1" i="0">
                <a:solidFill>
                  <a:srgbClr val="FFFFFF"/>
                </a:solidFill>
                <a:latin typeface="Arial"/>
              </a:defRPr>
            </a:pPr>
            <a:r>
              <a:t>Data</a:t>
            </a:r>
            <a:br/>
            <a:r>
              <a:t>Generation</a:t>
            </a:r>
          </a:p>
        </p:txBody>
      </p:sp>
      <p:sp>
        <p:nvSpPr>
          <p:cNvPr id="44" name="TextBox 43"/>
          <p:cNvSpPr txBox="1"/>
          <p:nvPr/>
        </p:nvSpPr>
        <p:spPr>
          <a:xfrm>
            <a:off x="2834640" y="17775935"/>
            <a:ext cx="219456" cy="274320"/>
          </a:xfrm>
          <a:prstGeom prst="rect">
            <a:avLst/>
          </a:prstGeom>
          <a:noFill/>
        </p:spPr>
        <p:txBody>
          <a:bodyPr wrap="square"/>
          <a:lstStyle/>
          <a:p>
            <a:pPr algn="ctr">
              <a:spcBef>
                <a:spcPts val="0"/>
              </a:spcBef>
              <a:spcAft>
                <a:spcPts val="0"/>
              </a:spcAft>
              <a:defRPr sz="1400" b="1" i="0">
                <a:solidFill>
                  <a:srgbClr val="CFA535"/>
                </a:solidFill>
                <a:latin typeface="Arial"/>
              </a:defRPr>
            </a:pPr>
            <a:r>
              <a:t>-&gt;</a:t>
            </a:r>
          </a:p>
        </p:txBody>
      </p:sp>
      <p:sp>
        <p:nvSpPr>
          <p:cNvPr id="45" name="Rounded Rectangle 44"/>
          <p:cNvSpPr/>
          <p:nvPr/>
        </p:nvSpPr>
        <p:spPr>
          <a:xfrm>
            <a:off x="3072384" y="17684495"/>
            <a:ext cx="2286000" cy="475488"/>
          </a:xfrm>
          <a:prstGeom prst="roundRect">
            <a:avLst>
              <a:gd name="adj" fmla="val 25000"/>
            </a:avLst>
          </a:prstGeom>
          <a:solidFill>
            <a:srgbClr val="008C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072384" y="17702783"/>
            <a:ext cx="2286000" cy="438912"/>
          </a:xfrm>
          <a:prstGeom prst="rect">
            <a:avLst/>
          </a:prstGeom>
          <a:noFill/>
        </p:spPr>
        <p:txBody>
          <a:bodyPr wrap="square"/>
          <a:lstStyle/>
          <a:p>
            <a:pPr algn="ctr">
              <a:spcBef>
                <a:spcPts val="0"/>
              </a:spcBef>
              <a:spcAft>
                <a:spcPts val="0"/>
              </a:spcAft>
              <a:defRPr sz="900" b="1" i="0">
                <a:solidFill>
                  <a:srgbClr val="FFFFFF"/>
                </a:solidFill>
                <a:latin typeface="Arial"/>
              </a:defRPr>
            </a:pPr>
            <a:r>
              <a:t>Surrogate</a:t>
            </a:r>
            <a:br/>
            <a:r>
              <a:t>Training</a:t>
            </a:r>
          </a:p>
        </p:txBody>
      </p:sp>
      <p:sp>
        <p:nvSpPr>
          <p:cNvPr id="47" name="TextBox 46"/>
          <p:cNvSpPr txBox="1"/>
          <p:nvPr/>
        </p:nvSpPr>
        <p:spPr>
          <a:xfrm>
            <a:off x="5376672" y="17775935"/>
            <a:ext cx="219456" cy="274320"/>
          </a:xfrm>
          <a:prstGeom prst="rect">
            <a:avLst/>
          </a:prstGeom>
          <a:noFill/>
        </p:spPr>
        <p:txBody>
          <a:bodyPr wrap="square"/>
          <a:lstStyle/>
          <a:p>
            <a:pPr algn="ctr">
              <a:spcBef>
                <a:spcPts val="0"/>
              </a:spcBef>
              <a:spcAft>
                <a:spcPts val="0"/>
              </a:spcAft>
              <a:defRPr sz="1400" b="1" i="0">
                <a:solidFill>
                  <a:srgbClr val="CFA535"/>
                </a:solidFill>
                <a:latin typeface="Arial"/>
              </a:defRPr>
            </a:pPr>
            <a:r>
              <a:t>-&gt;</a:t>
            </a:r>
          </a:p>
        </p:txBody>
      </p:sp>
      <p:sp>
        <p:nvSpPr>
          <p:cNvPr id="48" name="Rounded Rectangle 47"/>
          <p:cNvSpPr/>
          <p:nvPr/>
        </p:nvSpPr>
        <p:spPr>
          <a:xfrm>
            <a:off x="5614416" y="17684495"/>
            <a:ext cx="2286000" cy="475488"/>
          </a:xfrm>
          <a:prstGeom prst="roundRect">
            <a:avLst>
              <a:gd name="adj" fmla="val 25000"/>
            </a:avLst>
          </a:prstGeom>
          <a:solidFill>
            <a:srgbClr val="008C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614416" y="17702783"/>
            <a:ext cx="2286000" cy="438912"/>
          </a:xfrm>
          <a:prstGeom prst="rect">
            <a:avLst/>
          </a:prstGeom>
          <a:noFill/>
        </p:spPr>
        <p:txBody>
          <a:bodyPr wrap="square"/>
          <a:lstStyle/>
          <a:p>
            <a:pPr algn="ctr">
              <a:spcBef>
                <a:spcPts val="0"/>
              </a:spcBef>
              <a:spcAft>
                <a:spcPts val="0"/>
              </a:spcAft>
              <a:defRPr sz="900" b="1" i="0">
                <a:solidFill>
                  <a:srgbClr val="FFFFFF"/>
                </a:solidFill>
                <a:latin typeface="Arial"/>
              </a:defRPr>
            </a:pPr>
            <a:r>
              <a:t>SASTO</a:t>
            </a:r>
            <a:br/>
            <a:r>
              <a:t>Optimize</a:t>
            </a:r>
          </a:p>
        </p:txBody>
      </p:sp>
      <p:sp>
        <p:nvSpPr>
          <p:cNvPr id="50" name="TextBox 49"/>
          <p:cNvSpPr txBox="1"/>
          <p:nvPr/>
        </p:nvSpPr>
        <p:spPr>
          <a:xfrm>
            <a:off x="7918704" y="17775935"/>
            <a:ext cx="219456" cy="274320"/>
          </a:xfrm>
          <a:prstGeom prst="rect">
            <a:avLst/>
          </a:prstGeom>
          <a:noFill/>
        </p:spPr>
        <p:txBody>
          <a:bodyPr wrap="square"/>
          <a:lstStyle/>
          <a:p>
            <a:pPr algn="ctr">
              <a:spcBef>
                <a:spcPts val="0"/>
              </a:spcBef>
              <a:spcAft>
                <a:spcPts val="0"/>
              </a:spcAft>
              <a:defRPr sz="1400" b="1" i="0">
                <a:solidFill>
                  <a:srgbClr val="CFA535"/>
                </a:solidFill>
                <a:latin typeface="Arial"/>
              </a:defRPr>
            </a:pPr>
            <a:r>
              <a:t>-&gt;</a:t>
            </a:r>
          </a:p>
        </p:txBody>
      </p:sp>
      <p:sp>
        <p:nvSpPr>
          <p:cNvPr id="51" name="Rounded Rectangle 50"/>
          <p:cNvSpPr/>
          <p:nvPr/>
        </p:nvSpPr>
        <p:spPr>
          <a:xfrm>
            <a:off x="8156448" y="17684495"/>
            <a:ext cx="2286000" cy="475488"/>
          </a:xfrm>
          <a:prstGeom prst="roundRect">
            <a:avLst>
              <a:gd name="adj" fmla="val 25000"/>
            </a:avLst>
          </a:prstGeom>
          <a:solidFill>
            <a:srgbClr val="008C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156448" y="17702783"/>
            <a:ext cx="2286000" cy="438912"/>
          </a:xfrm>
          <a:prstGeom prst="rect">
            <a:avLst/>
          </a:prstGeom>
          <a:noFill/>
        </p:spPr>
        <p:txBody>
          <a:bodyPr wrap="square"/>
          <a:lstStyle/>
          <a:p>
            <a:pPr algn="ctr">
              <a:spcBef>
                <a:spcPts val="0"/>
              </a:spcBef>
              <a:spcAft>
                <a:spcPts val="0"/>
              </a:spcAft>
              <a:defRPr sz="900" b="1" i="0">
                <a:solidFill>
                  <a:srgbClr val="FFFFFF"/>
                </a:solidFill>
                <a:latin typeface="Arial"/>
              </a:defRPr>
            </a:pPr>
            <a:r>
              <a:t>Validate</a:t>
            </a:r>
            <a:br/>
            <a:r>
              <a:t>&amp; Certify</a:t>
            </a:r>
          </a:p>
        </p:txBody>
      </p:sp>
      <p:sp>
        <p:nvSpPr>
          <p:cNvPr id="53" name="Rounded Rectangle 52"/>
          <p:cNvSpPr/>
          <p:nvPr/>
        </p:nvSpPr>
        <p:spPr>
          <a:xfrm>
            <a:off x="164592" y="18946367"/>
            <a:ext cx="10643616" cy="411480"/>
          </a:xfrm>
          <a:prstGeom prst="roundRect">
            <a:avLst>
              <a:gd name="adj" fmla="val 15000"/>
            </a:avLst>
          </a:prstGeom>
          <a:solidFill>
            <a:srgbClr val="0A3D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64592" y="18946367"/>
            <a:ext cx="10643616" cy="411480"/>
          </a:xfrm>
          <a:prstGeom prst="rect">
            <a:avLst/>
          </a:prstGeom>
          <a:noFill/>
        </p:spPr>
        <p:txBody>
          <a:bodyPr wrap="square"/>
          <a:lstStyle/>
          <a:p>
            <a:pPr algn="ctr">
              <a:spcBef>
                <a:spcPts val="0"/>
              </a:spcBef>
              <a:spcAft>
                <a:spcPts val="0"/>
              </a:spcAft>
              <a:defRPr sz="2800" b="1" i="0">
                <a:solidFill>
                  <a:srgbClr val="FFFFFF"/>
                </a:solidFill>
                <a:latin typeface="Arial Black"/>
              </a:defRPr>
            </a:pPr>
            <a:r>
              <a:t>PROBLEM FRAMING</a:t>
            </a:r>
          </a:p>
        </p:txBody>
      </p:sp>
      <p:sp>
        <p:nvSpPr>
          <p:cNvPr id="55" name="Rounded Rectangle 54"/>
          <p:cNvSpPr/>
          <p:nvPr/>
        </p:nvSpPr>
        <p:spPr>
          <a:xfrm>
            <a:off x="164592" y="19357847"/>
            <a:ext cx="10643616" cy="13395960"/>
          </a:xfrm>
          <a:prstGeom prst="roundRect">
            <a:avLst>
              <a:gd name="adj" fmla="val 40000"/>
            </a:avLst>
          </a:prstGeom>
          <a:solidFill>
            <a:srgbClr val="F7F9FC"/>
          </a:solidFill>
          <a:ln w="12700">
            <a:solidFill>
              <a:srgbClr val="B7C5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256032" y="19449287"/>
            <a:ext cx="10460736" cy="182880"/>
          </a:xfrm>
          <a:prstGeom prst="rect">
            <a:avLst/>
          </a:prstGeom>
          <a:noFill/>
        </p:spPr>
        <p:txBody>
          <a:bodyPr wrap="square"/>
          <a:lstStyle/>
          <a:p>
            <a:pPr algn="l">
              <a:spcBef>
                <a:spcPts val="0"/>
              </a:spcBef>
              <a:spcAft>
                <a:spcPts val="0"/>
              </a:spcAft>
              <a:defRPr sz="1200" b="1" i="0">
                <a:solidFill>
                  <a:srgbClr val="008C9E"/>
                </a:solidFill>
                <a:latin typeface="Arial"/>
              </a:defRPr>
            </a:pPr>
            <a:r>
              <a:t>Material &amp; Design Constraints</a:t>
            </a:r>
          </a:p>
        </p:txBody>
      </p:sp>
      <p:graphicFrame>
        <p:nvGraphicFramePr>
          <p:cNvPr id="57" name="Table 56"/>
          <p:cNvGraphicFramePr>
            <a:graphicFrameLocks noGrp="1"/>
          </p:cNvGraphicFramePr>
          <p:nvPr/>
        </p:nvGraphicFramePr>
        <p:xfrm>
          <a:off x="256032" y="19668743"/>
          <a:ext cx="10460734" cy="1609344"/>
        </p:xfrm>
        <a:graphic>
          <a:graphicData uri="http://schemas.openxmlformats.org/drawingml/2006/table">
            <a:tbl>
              <a:tblPr firstRow="1" bandRow="1">
                <a:tableStyleId>{5C22544A-7EE6-4342-B048-85BDC9FD1C3A}</a:tableStyleId>
              </a:tblPr>
              <a:tblGrid>
                <a:gridCol w="4184294"/>
                <a:gridCol w="3138220"/>
                <a:gridCol w="3138220"/>
              </a:tblGrid>
              <a:tr h="201168">
                <a:tc>
                  <a:txBody>
                    <a:bodyPr/>
                    <a:lstStyle/>
                    <a:p>
                      <a:pPr algn="l">
                        <a:defRPr sz="1000" b="1">
                          <a:solidFill>
                            <a:srgbClr val="FFFFFF"/>
                          </a:solidFill>
                          <a:latin typeface="Arial"/>
                        </a:defRPr>
                      </a:pPr>
                      <a:r>
                        <a:t>Parameter</a:t>
                      </a:r>
                    </a:p>
                  </a:txBody>
                  <a:tcPr>
                    <a:solidFill>
                      <a:srgbClr val="0A3D9A"/>
                    </a:solidFill>
                  </a:tcPr>
                </a:tc>
                <a:tc>
                  <a:txBody>
                    <a:bodyPr/>
                    <a:lstStyle/>
                    <a:p>
                      <a:pPr algn="l">
                        <a:defRPr sz="1000" b="1">
                          <a:solidFill>
                            <a:srgbClr val="FFFFFF"/>
                          </a:solidFill>
                          <a:latin typeface="Arial"/>
                        </a:defRPr>
                      </a:pPr>
                      <a:r>
                        <a:t>Value</a:t>
                      </a:r>
                    </a:p>
                  </a:txBody>
                  <a:tcPr>
                    <a:solidFill>
                      <a:srgbClr val="0A3D9A"/>
                    </a:solidFill>
                  </a:tcPr>
                </a:tc>
                <a:tc>
                  <a:txBody>
                    <a:bodyPr/>
                    <a:lstStyle/>
                    <a:p>
                      <a:pPr algn="l">
                        <a:defRPr sz="1000" b="1">
                          <a:solidFill>
                            <a:srgbClr val="FFFFFF"/>
                          </a:solidFill>
                          <a:latin typeface="Arial"/>
                        </a:defRPr>
                      </a:pPr>
                      <a:r>
                        <a:t>Source</a:t>
                      </a:r>
                    </a:p>
                  </a:txBody>
                  <a:tcPr>
                    <a:solidFill>
                      <a:srgbClr val="0A3D9A"/>
                    </a:solidFill>
                  </a:tcPr>
                </a:tc>
              </a:tr>
              <a:tr h="201168">
                <a:tc>
                  <a:txBody>
                    <a:bodyPr/>
                    <a:lstStyle/>
                    <a:p>
                      <a:pPr algn="l">
                        <a:defRPr sz="1000">
                          <a:solidFill>
                            <a:srgbClr val="0B1736"/>
                          </a:solidFill>
                          <a:latin typeface="Arial"/>
                        </a:defRPr>
                      </a:pPr>
                      <a:r>
                        <a:t>E (Young's modulus)</a:t>
                      </a:r>
                    </a:p>
                  </a:txBody>
                  <a:tcPr>
                    <a:solidFill>
                      <a:srgbClr val="F7F9FC"/>
                    </a:solidFill>
                  </a:tcPr>
                </a:tc>
                <a:tc>
                  <a:txBody>
                    <a:bodyPr/>
                    <a:lstStyle/>
                    <a:p>
                      <a:pPr algn="l">
                        <a:defRPr sz="1000">
                          <a:solidFill>
                            <a:srgbClr val="0B1736"/>
                          </a:solidFill>
                          <a:latin typeface="Arial"/>
                        </a:defRPr>
                      </a:pPr>
                      <a:r>
                        <a:t>25 GPa</a:t>
                      </a:r>
                    </a:p>
                  </a:txBody>
                  <a:tcPr>
                    <a:solidFill>
                      <a:srgbClr val="F7F9FC"/>
                    </a:solidFill>
                  </a:tcPr>
                </a:tc>
                <a:tc>
                  <a:txBody>
                    <a:bodyPr/>
                    <a:lstStyle/>
                    <a:p>
                      <a:pPr algn="l">
                        <a:defRPr sz="1000">
                          <a:solidFill>
                            <a:srgbClr val="0B1736"/>
                          </a:solidFill>
                          <a:latin typeface="Arial"/>
                        </a:defRPr>
                      </a:pPr>
                      <a:r>
                        <a:t>Isotropic concrete</a:t>
                      </a:r>
                    </a:p>
                  </a:txBody>
                  <a:tcPr>
                    <a:solidFill>
                      <a:srgbClr val="F7F9FC"/>
                    </a:solidFill>
                  </a:tcPr>
                </a:tc>
              </a:tr>
              <a:tr h="201168">
                <a:tc>
                  <a:txBody>
                    <a:bodyPr/>
                    <a:lstStyle/>
                    <a:p>
                      <a:pPr algn="l">
                        <a:defRPr sz="1000">
                          <a:solidFill>
                            <a:srgbClr val="0B1736"/>
                          </a:solidFill>
                          <a:latin typeface="Arial"/>
                        </a:defRPr>
                      </a:pPr>
                      <a:r>
                        <a:t>v (Poisson's ratio)</a:t>
                      </a:r>
                    </a:p>
                  </a:txBody>
                  <a:tcPr>
                    <a:solidFill>
                      <a:srgbClr val="EEF2FA"/>
                    </a:solidFill>
                  </a:tcPr>
                </a:tc>
                <a:tc>
                  <a:txBody>
                    <a:bodyPr/>
                    <a:lstStyle/>
                    <a:p>
                      <a:pPr algn="l">
                        <a:defRPr sz="1000">
                          <a:solidFill>
                            <a:srgbClr val="0B1736"/>
                          </a:solidFill>
                          <a:latin typeface="Arial"/>
                        </a:defRPr>
                      </a:pPr>
                      <a:r>
                        <a:t>0.20</a:t>
                      </a:r>
                    </a:p>
                  </a:txBody>
                  <a:tcPr>
                    <a:solidFill>
                      <a:srgbClr val="EEF2FA"/>
                    </a:solidFill>
                  </a:tcPr>
                </a:tc>
                <a:tc>
                  <a:txBody>
                    <a:bodyPr/>
                    <a:lstStyle/>
                    <a:p>
                      <a:pPr algn="l">
                        <a:defRPr sz="1000">
                          <a:solidFill>
                            <a:srgbClr val="0B1736"/>
                          </a:solidFill>
                          <a:latin typeface="Arial"/>
                        </a:defRPr>
                      </a:pPr>
                      <a:r>
                        <a:t>--</a:t>
                      </a:r>
                    </a:p>
                  </a:txBody>
                  <a:tcPr>
                    <a:solidFill>
                      <a:srgbClr val="EEF2FA"/>
                    </a:solidFill>
                  </a:tcPr>
                </a:tc>
              </a:tr>
              <a:tr h="201168">
                <a:tc>
                  <a:txBody>
                    <a:bodyPr/>
                    <a:lstStyle/>
                    <a:p>
                      <a:pPr algn="l">
                        <a:defRPr sz="1000">
                          <a:solidFill>
                            <a:srgbClr val="0B1736"/>
                          </a:solidFill>
                          <a:latin typeface="Arial"/>
                        </a:defRPr>
                      </a:pPr>
                      <a:r>
                        <a:t>f'c (compressive)</a:t>
                      </a:r>
                    </a:p>
                  </a:txBody>
                  <a:tcPr>
                    <a:solidFill>
                      <a:srgbClr val="F7F9FC"/>
                    </a:solidFill>
                  </a:tcPr>
                </a:tc>
                <a:tc>
                  <a:txBody>
                    <a:bodyPr/>
                    <a:lstStyle/>
                    <a:p>
                      <a:pPr algn="l">
                        <a:defRPr sz="1000">
                          <a:solidFill>
                            <a:srgbClr val="0B1736"/>
                          </a:solidFill>
                          <a:latin typeface="Arial"/>
                        </a:defRPr>
                      </a:pPr>
                      <a:r>
                        <a:t>30 MPa</a:t>
                      </a:r>
                    </a:p>
                  </a:txBody>
                  <a:tcPr>
                    <a:solidFill>
                      <a:srgbClr val="F7F9FC"/>
                    </a:solidFill>
                  </a:tcPr>
                </a:tc>
                <a:tc>
                  <a:txBody>
                    <a:bodyPr/>
                    <a:lstStyle/>
                    <a:p>
                      <a:pPr algn="l">
                        <a:defRPr sz="1000">
                          <a:solidFill>
                            <a:srgbClr val="0B1736"/>
                          </a:solidFill>
                          <a:latin typeface="Arial"/>
                        </a:defRPr>
                      </a:pPr>
                      <a:r>
                        <a:t>Standard mix</a:t>
                      </a:r>
                    </a:p>
                  </a:txBody>
                  <a:tcPr>
                    <a:solidFill>
                      <a:srgbClr val="F7F9FC"/>
                    </a:solidFill>
                  </a:tcPr>
                </a:tc>
              </a:tr>
              <a:tr h="201168">
                <a:tc>
                  <a:txBody>
                    <a:bodyPr/>
                    <a:lstStyle/>
                    <a:p>
                      <a:pPr algn="l">
                        <a:defRPr sz="1000">
                          <a:solidFill>
                            <a:srgbClr val="0B1736"/>
                          </a:solidFill>
                          <a:latin typeface="Arial"/>
                        </a:defRPr>
                      </a:pPr>
                      <a:r>
                        <a:t>sigma_VM,allow</a:t>
                      </a:r>
                    </a:p>
                  </a:txBody>
                  <a:tcPr>
                    <a:solidFill>
                      <a:srgbClr val="EEF2FA"/>
                    </a:solidFill>
                  </a:tcPr>
                </a:tc>
                <a:tc>
                  <a:txBody>
                    <a:bodyPr/>
                    <a:lstStyle/>
                    <a:p>
                      <a:pPr algn="l">
                        <a:defRPr sz="1000">
                          <a:solidFill>
                            <a:srgbClr val="0B1736"/>
                          </a:solidFill>
                          <a:latin typeface="Arial"/>
                        </a:defRPr>
                      </a:pPr>
                      <a:r>
                        <a:t>5.0 MPa</a:t>
                      </a:r>
                    </a:p>
                  </a:txBody>
                  <a:tcPr>
                    <a:solidFill>
                      <a:srgbClr val="EEF2FA"/>
                    </a:solidFill>
                  </a:tcPr>
                </a:tc>
                <a:tc>
                  <a:txBody>
                    <a:bodyPr/>
                    <a:lstStyle/>
                    <a:p>
                      <a:pPr algn="l">
                        <a:defRPr sz="1000">
                          <a:solidFill>
                            <a:srgbClr val="0B1736"/>
                          </a:solidFill>
                          <a:latin typeface="Arial"/>
                        </a:defRPr>
                      </a:pPr>
                      <a:r>
                        <a:t>f'c / (gamma_m * gamma_f)</a:t>
                      </a:r>
                    </a:p>
                  </a:txBody>
                  <a:tcPr>
                    <a:solidFill>
                      <a:srgbClr val="EEF2FA"/>
                    </a:solidFill>
                  </a:tcPr>
                </a:tc>
              </a:tr>
              <a:tr h="201168">
                <a:tc>
                  <a:txBody>
                    <a:bodyPr/>
                    <a:lstStyle/>
                    <a:p>
                      <a:pPr algn="l">
                        <a:defRPr sz="1000">
                          <a:solidFill>
                            <a:srgbClr val="0B1736"/>
                          </a:solidFill>
                          <a:latin typeface="Arial"/>
                        </a:defRPr>
                      </a:pPr>
                      <a:r>
                        <a:t>Dead load</a:t>
                      </a:r>
                    </a:p>
                  </a:txBody>
                  <a:tcPr>
                    <a:solidFill>
                      <a:srgbClr val="F7F9FC"/>
                    </a:solidFill>
                  </a:tcPr>
                </a:tc>
                <a:tc>
                  <a:txBody>
                    <a:bodyPr/>
                    <a:lstStyle/>
                    <a:p>
                      <a:pPr algn="l">
                        <a:defRPr sz="1000">
                          <a:solidFill>
                            <a:srgbClr val="0B1736"/>
                          </a:solidFill>
                          <a:latin typeface="Arial"/>
                        </a:defRPr>
                      </a:pPr>
                      <a:r>
                        <a:t>Self-weight</a:t>
                      </a:r>
                    </a:p>
                  </a:txBody>
                  <a:tcPr>
                    <a:solidFill>
                      <a:srgbClr val="F7F9FC"/>
                    </a:solidFill>
                  </a:tcPr>
                </a:tc>
                <a:tc>
                  <a:txBody>
                    <a:bodyPr/>
                    <a:lstStyle/>
                    <a:p>
                      <a:pPr algn="l">
                        <a:defRPr sz="1000">
                          <a:solidFill>
                            <a:srgbClr val="0B1736"/>
                          </a:solidFill>
                          <a:latin typeface="Arial"/>
                        </a:defRPr>
                      </a:pPr>
                      <a:r>
                        <a:t>ASCE 7-22 ASD</a:t>
                      </a:r>
                    </a:p>
                  </a:txBody>
                  <a:tcPr>
                    <a:solidFill>
                      <a:srgbClr val="F7F9FC"/>
                    </a:solidFill>
                  </a:tcPr>
                </a:tc>
              </a:tr>
              <a:tr h="201168">
                <a:tc>
                  <a:txBody>
                    <a:bodyPr/>
                    <a:lstStyle/>
                    <a:p>
                      <a:pPr algn="l">
                        <a:defRPr sz="1000">
                          <a:solidFill>
                            <a:srgbClr val="0B1736"/>
                          </a:solidFill>
                          <a:latin typeface="Arial"/>
                        </a:defRPr>
                      </a:pPr>
                      <a:r>
                        <a:t>Live load</a:t>
                      </a:r>
                    </a:p>
                  </a:txBody>
                  <a:tcPr>
                    <a:solidFill>
                      <a:srgbClr val="EEF2FA"/>
                    </a:solidFill>
                  </a:tcPr>
                </a:tc>
                <a:tc>
                  <a:txBody>
                    <a:bodyPr/>
                    <a:lstStyle/>
                    <a:p>
                      <a:pPr algn="l">
                        <a:defRPr sz="1000">
                          <a:solidFill>
                            <a:srgbClr val="0B1736"/>
                          </a:solidFill>
                          <a:latin typeface="Arial"/>
                        </a:defRPr>
                      </a:pPr>
                      <a:r>
                        <a:t>1.92 kPa</a:t>
                      </a:r>
                    </a:p>
                  </a:txBody>
                  <a:tcPr>
                    <a:solidFill>
                      <a:srgbClr val="EEF2FA"/>
                    </a:solidFill>
                  </a:tcPr>
                </a:tc>
                <a:tc>
                  <a:txBody>
                    <a:bodyPr/>
                    <a:lstStyle/>
                    <a:p>
                      <a:pPr algn="l">
                        <a:defRPr sz="1000">
                          <a:solidFill>
                            <a:srgbClr val="0B1736"/>
                          </a:solidFill>
                          <a:latin typeface="Arial"/>
                        </a:defRPr>
                      </a:pPr>
                      <a:r>
                        <a:t>ASCE 7-22 Table 4-1</a:t>
                      </a:r>
                    </a:p>
                  </a:txBody>
                  <a:tcPr>
                    <a:solidFill>
                      <a:srgbClr val="EEF2FA"/>
                    </a:solidFill>
                  </a:tcPr>
                </a:tc>
              </a:tr>
              <a:tr h="201168">
                <a:tc>
                  <a:txBody>
                    <a:bodyPr/>
                    <a:lstStyle/>
                    <a:p>
                      <a:pPr algn="l">
                        <a:defRPr sz="1000">
                          <a:solidFill>
                            <a:srgbClr val="0B1736"/>
                          </a:solidFill>
                          <a:latin typeface="Arial"/>
                        </a:defRPr>
                      </a:pPr>
                      <a:r>
                        <a:t>Wind load</a:t>
                      </a:r>
                    </a:p>
                  </a:txBody>
                  <a:tcPr>
                    <a:solidFill>
                      <a:srgbClr val="F7F9FC"/>
                    </a:solidFill>
                  </a:tcPr>
                </a:tc>
                <a:tc>
                  <a:txBody>
                    <a:bodyPr/>
                    <a:lstStyle/>
                    <a:p>
                      <a:pPr algn="l">
                        <a:defRPr sz="1000">
                          <a:solidFill>
                            <a:srgbClr val="0B1736"/>
                          </a:solidFill>
                          <a:latin typeface="Arial"/>
                        </a:defRPr>
                      </a:pPr>
                      <a:r>
                        <a:t>0.96 kPa lateral</a:t>
                      </a:r>
                    </a:p>
                  </a:txBody>
                  <a:tcPr>
                    <a:solidFill>
                      <a:srgbClr val="F7F9FC"/>
                    </a:solidFill>
                  </a:tcPr>
                </a:tc>
                <a:tc>
                  <a:txBody>
                    <a:bodyPr/>
                    <a:lstStyle/>
                    <a:p>
                      <a:pPr algn="l">
                        <a:defRPr sz="1000">
                          <a:solidFill>
                            <a:srgbClr val="0B1736"/>
                          </a:solidFill>
                          <a:latin typeface="Arial"/>
                        </a:defRPr>
                      </a:pPr>
                      <a:r>
                        <a:t>ASCE 7-22 Ch. 26-30</a:t>
                      </a:r>
                    </a:p>
                  </a:txBody>
                  <a:tcPr>
                    <a:solidFill>
                      <a:srgbClr val="F7F9FC"/>
                    </a:solidFill>
                  </a:tcPr>
                </a:tc>
              </a:tr>
            </a:tbl>
          </a:graphicData>
        </a:graphic>
      </p:graphicFrame>
      <p:sp>
        <p:nvSpPr>
          <p:cNvPr id="58" name="Rounded Rectangle 57"/>
          <p:cNvSpPr/>
          <p:nvPr/>
        </p:nvSpPr>
        <p:spPr>
          <a:xfrm>
            <a:off x="256032" y="21351239"/>
            <a:ext cx="10460736" cy="347472"/>
          </a:xfrm>
          <a:prstGeom prst="roundRect">
            <a:avLst>
              <a:gd name="adj" fmla="val 25000"/>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310896" y="21378671"/>
            <a:ext cx="10351008" cy="292608"/>
          </a:xfrm>
          <a:prstGeom prst="rect">
            <a:avLst/>
          </a:prstGeom>
          <a:noFill/>
        </p:spPr>
        <p:txBody>
          <a:bodyPr wrap="square"/>
          <a:lstStyle/>
          <a:p>
            <a:pPr algn="ctr">
              <a:spcBef>
                <a:spcPts val="0"/>
              </a:spcBef>
              <a:spcAft>
                <a:spcPts val="0"/>
              </a:spcAft>
              <a:defRPr sz="1000" b="0" i="0">
                <a:solidFill>
                  <a:srgbClr val="0B1736"/>
                </a:solidFill>
                <a:latin typeface="Arial"/>
              </a:defRPr>
            </a:pPr>
            <a:r>
              <a:t>sigma_VM,allow = f'c / (gamma_m x gamma_f) = 30 / (3.0 x 2.0) = 5.0 MPa</a:t>
            </a:r>
          </a:p>
        </p:txBody>
      </p:sp>
      <p:sp>
        <p:nvSpPr>
          <p:cNvPr id="60" name="Rounded Rectangle 59"/>
          <p:cNvSpPr/>
          <p:nvPr/>
        </p:nvSpPr>
        <p:spPr>
          <a:xfrm>
            <a:off x="256032" y="21735287"/>
            <a:ext cx="10460736" cy="347472"/>
          </a:xfrm>
          <a:prstGeom prst="roundRect">
            <a:avLst>
              <a:gd name="adj" fmla="val 25000"/>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10896" y="21762719"/>
            <a:ext cx="10351008" cy="292608"/>
          </a:xfrm>
          <a:prstGeom prst="rect">
            <a:avLst/>
          </a:prstGeom>
          <a:noFill/>
        </p:spPr>
        <p:txBody>
          <a:bodyPr wrap="square"/>
          <a:lstStyle/>
          <a:p>
            <a:pPr algn="ctr">
              <a:spcBef>
                <a:spcPts val="0"/>
              </a:spcBef>
              <a:spcAft>
                <a:spcPts val="0"/>
              </a:spcAft>
              <a:defRPr sz="1000" b="0" i="0">
                <a:solidFill>
                  <a:srgbClr val="0B1736"/>
                </a:solidFill>
                <a:latin typeface="Arial"/>
              </a:defRPr>
            </a:pPr>
            <a:r>
              <a:t>Conservative bound: mu_sigma + k*sigma_sigma,  k=1.0 -&gt; P(violation) &lt;= 0.09%</a:t>
            </a:r>
          </a:p>
        </p:txBody>
      </p:sp>
      <p:sp>
        <p:nvSpPr>
          <p:cNvPr id="62" name="TextBox 61"/>
          <p:cNvSpPr txBox="1"/>
          <p:nvPr/>
        </p:nvSpPr>
        <p:spPr>
          <a:xfrm>
            <a:off x="256032" y="22174199"/>
            <a:ext cx="10460736" cy="182880"/>
          </a:xfrm>
          <a:prstGeom prst="rect">
            <a:avLst/>
          </a:prstGeom>
          <a:noFill/>
        </p:spPr>
        <p:txBody>
          <a:bodyPr wrap="square"/>
          <a:lstStyle/>
          <a:p>
            <a:pPr algn="l">
              <a:spcBef>
                <a:spcPts val="0"/>
              </a:spcBef>
              <a:spcAft>
                <a:spcPts val="0"/>
              </a:spcAft>
              <a:defRPr sz="1200" b="1" i="0">
                <a:solidFill>
                  <a:srgbClr val="0B1736"/>
                </a:solidFill>
                <a:latin typeface="Arial"/>
              </a:defRPr>
            </a:pPr>
            <a:r>
              <a:t>Optimization Objective</a:t>
            </a:r>
          </a:p>
        </p:txBody>
      </p:sp>
      <p:pic>
        <p:nvPicPr>
          <p:cNvPr id="63" name="Picture 62" descr="fig16_optimization_objective.png"/>
          <p:cNvPicPr>
            <a:picLocks noChangeAspect="1"/>
          </p:cNvPicPr>
          <p:nvPr/>
        </p:nvPicPr>
        <p:blipFill>
          <a:blip r:embed="rId6"/>
          <a:stretch>
            <a:fillRect/>
          </a:stretch>
        </p:blipFill>
        <p:spPr>
          <a:xfrm>
            <a:off x="3557645" y="22375367"/>
            <a:ext cx="3857509" cy="1097280"/>
          </a:xfrm>
          <a:prstGeom prst="rect">
            <a:avLst/>
          </a:prstGeom>
        </p:spPr>
      </p:pic>
      <p:sp>
        <p:nvSpPr>
          <p:cNvPr id="64" name="TextBox 63"/>
          <p:cNvSpPr txBox="1"/>
          <p:nvPr/>
        </p:nvSpPr>
        <p:spPr>
          <a:xfrm>
            <a:off x="256032" y="23509223"/>
            <a:ext cx="10460736" cy="182880"/>
          </a:xfrm>
          <a:prstGeom prst="rect">
            <a:avLst/>
          </a:prstGeom>
          <a:noFill/>
        </p:spPr>
        <p:txBody>
          <a:bodyPr wrap="square"/>
          <a:lstStyle/>
          <a:p>
            <a:pPr algn="l">
              <a:spcBef>
                <a:spcPts val="0"/>
              </a:spcBef>
              <a:spcAft>
                <a:spcPts val="0"/>
              </a:spcAft>
              <a:defRPr sz="1200" b="1" i="0">
                <a:solidFill>
                  <a:srgbClr val="0B1736"/>
                </a:solidFill>
                <a:latin typeface="Arial"/>
              </a:defRPr>
            </a:pPr>
            <a:r>
              <a:t>Sensitivity via Surrogate Backpropagation</a:t>
            </a:r>
          </a:p>
        </p:txBody>
      </p:sp>
      <p:pic>
        <p:nvPicPr>
          <p:cNvPr id="65" name="Picture 64" descr="fig17_sensitivity_formula.png"/>
          <p:cNvPicPr>
            <a:picLocks noChangeAspect="1"/>
          </p:cNvPicPr>
          <p:nvPr/>
        </p:nvPicPr>
        <p:blipFill>
          <a:blip r:embed="rId7"/>
          <a:stretch>
            <a:fillRect/>
          </a:stretch>
        </p:blipFill>
        <p:spPr>
          <a:xfrm>
            <a:off x="2684032" y="23710391"/>
            <a:ext cx="5604734" cy="1097280"/>
          </a:xfrm>
          <a:prstGeom prst="rect">
            <a:avLst/>
          </a:prstGeom>
        </p:spPr>
      </p:pic>
      <p:sp>
        <p:nvSpPr>
          <p:cNvPr id="66" name="TextBox 65"/>
          <p:cNvSpPr txBox="1"/>
          <p:nvPr/>
        </p:nvSpPr>
        <p:spPr>
          <a:xfrm>
            <a:off x="256032" y="24844247"/>
            <a:ext cx="10460736" cy="182880"/>
          </a:xfrm>
          <a:prstGeom prst="rect">
            <a:avLst/>
          </a:prstGeom>
          <a:noFill/>
        </p:spPr>
        <p:txBody>
          <a:bodyPr wrap="square"/>
          <a:lstStyle/>
          <a:p>
            <a:pPr algn="l">
              <a:spcBef>
                <a:spcPts val="0"/>
              </a:spcBef>
              <a:spcAft>
                <a:spcPts val="0"/>
              </a:spcAft>
              <a:defRPr sz="1200" b="1" i="0">
                <a:solidFill>
                  <a:srgbClr val="0B1736"/>
                </a:solidFill>
                <a:latin typeface="Arial"/>
              </a:defRPr>
            </a:pPr>
            <a:r>
              <a:t>Part-Aware Thickness Constraint</a:t>
            </a:r>
          </a:p>
        </p:txBody>
      </p:sp>
      <p:pic>
        <p:nvPicPr>
          <p:cNvPr id="67" name="Picture 66" descr="fig14_part_aware_thickness.png"/>
          <p:cNvPicPr>
            <a:picLocks noChangeAspect="1"/>
          </p:cNvPicPr>
          <p:nvPr/>
        </p:nvPicPr>
        <p:blipFill>
          <a:blip r:embed="rId8"/>
          <a:stretch>
            <a:fillRect/>
          </a:stretch>
        </p:blipFill>
        <p:spPr>
          <a:xfrm>
            <a:off x="256032" y="26853413"/>
            <a:ext cx="10460736" cy="3726637"/>
          </a:xfrm>
          <a:prstGeom prst="rect">
            <a:avLst/>
          </a:prstGeom>
        </p:spPr>
      </p:pic>
      <p:sp>
        <p:nvSpPr>
          <p:cNvPr id="68" name="TextBox 67"/>
          <p:cNvSpPr txBox="1"/>
          <p:nvPr/>
        </p:nvSpPr>
        <p:spPr>
          <a:xfrm>
            <a:off x="256032" y="32461200"/>
            <a:ext cx="10460736" cy="182880"/>
          </a:xfrm>
          <a:prstGeom prst="rect">
            <a:avLst/>
          </a:prstGeom>
          <a:noFill/>
        </p:spPr>
        <p:txBody>
          <a:bodyPr wrap="square"/>
          <a:lstStyle/>
          <a:p>
            <a:pPr algn="ctr">
              <a:spcBef>
                <a:spcPts val="0"/>
              </a:spcBef>
              <a:spcAft>
                <a:spcPts val="0"/>
              </a:spcAft>
              <a:defRPr sz="800" b="0" i="1">
                <a:solidFill>
                  <a:srgbClr val="0B1736"/>
                </a:solidFill>
                <a:latin typeface="Arial"/>
              </a:defRPr>
            </a:pPr>
            <a:r>
              <a:t>Fig. 5. Part-aware: 86.8% interior wall removal, no exterior degradation</a:t>
            </a:r>
          </a:p>
        </p:txBody>
      </p:sp>
      <p:sp>
        <p:nvSpPr>
          <p:cNvPr id="69" name="Rounded Rectangle 68"/>
          <p:cNvSpPr/>
          <p:nvPr/>
        </p:nvSpPr>
        <p:spPr>
          <a:xfrm>
            <a:off x="11137392" y="3063240"/>
            <a:ext cx="21616416" cy="411480"/>
          </a:xfrm>
          <a:prstGeom prst="roundRect">
            <a:avLst>
              <a:gd name="adj" fmla="val 15000"/>
            </a:avLst>
          </a:prstGeom>
          <a:solidFill>
            <a:srgbClr val="0A3D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1137392" y="3063240"/>
            <a:ext cx="21616416" cy="411480"/>
          </a:xfrm>
          <a:prstGeom prst="rect">
            <a:avLst/>
          </a:prstGeom>
          <a:noFill/>
        </p:spPr>
        <p:txBody>
          <a:bodyPr wrap="square"/>
          <a:lstStyle/>
          <a:p>
            <a:pPr algn="ctr">
              <a:spcBef>
                <a:spcPts val="0"/>
              </a:spcBef>
              <a:spcAft>
                <a:spcPts val="0"/>
              </a:spcAft>
              <a:defRPr sz="2800" b="1" i="0">
                <a:solidFill>
                  <a:srgbClr val="FFFFFF"/>
                </a:solidFill>
                <a:latin typeface="Arial Black"/>
              </a:defRPr>
            </a:pPr>
            <a:r>
              <a:t>ENGINEERING METHODOLOGY</a:t>
            </a:r>
          </a:p>
        </p:txBody>
      </p:sp>
      <p:sp>
        <p:nvSpPr>
          <p:cNvPr id="71" name="Rounded Rectangle 70"/>
          <p:cNvSpPr/>
          <p:nvPr/>
        </p:nvSpPr>
        <p:spPr>
          <a:xfrm>
            <a:off x="11137392" y="3474720"/>
            <a:ext cx="21616416" cy="15087600"/>
          </a:xfrm>
          <a:prstGeom prst="roundRect">
            <a:avLst>
              <a:gd name="adj" fmla="val 40000"/>
            </a:avLst>
          </a:prstGeom>
          <a:solidFill>
            <a:srgbClr val="F7F9FC"/>
          </a:solidFill>
          <a:ln w="12700">
            <a:solidFill>
              <a:srgbClr val="B7C5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ounded Rectangle 71"/>
          <p:cNvSpPr/>
          <p:nvPr/>
        </p:nvSpPr>
        <p:spPr>
          <a:xfrm>
            <a:off x="11228832" y="3566160"/>
            <a:ext cx="10652760" cy="7132320"/>
          </a:xfrm>
          <a:prstGeom prst="roundRect">
            <a:avLst>
              <a:gd name="adj" fmla="val 30000"/>
            </a:avLst>
          </a:prstGeom>
          <a:solidFill>
            <a:srgbClr val="F7F9FC"/>
          </a:solidFill>
          <a:ln w="6350">
            <a:solidFill>
              <a:srgbClr val="B7C5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11301984" y="3621024"/>
            <a:ext cx="10506456" cy="201168"/>
          </a:xfrm>
          <a:prstGeom prst="rect">
            <a:avLst/>
          </a:prstGeom>
          <a:noFill/>
        </p:spPr>
        <p:txBody>
          <a:bodyPr wrap="square"/>
          <a:lstStyle/>
          <a:p>
            <a:pPr algn="l">
              <a:spcBef>
                <a:spcPts val="0"/>
              </a:spcBef>
              <a:spcAft>
                <a:spcPts val="0"/>
              </a:spcAft>
              <a:defRPr sz="1200" b="1" i="0">
                <a:solidFill>
                  <a:srgbClr val="0B1736"/>
                </a:solidFill>
                <a:latin typeface="Arial"/>
              </a:defRPr>
            </a:pPr>
            <a:r>
              <a:t>Dataset Generation Pipeline</a:t>
            </a:r>
          </a:p>
        </p:txBody>
      </p:sp>
      <p:pic>
        <p:nvPicPr>
          <p:cNvPr id="74" name="Picture 73" descr="fig03_dataset_pipeline.png"/>
          <p:cNvPicPr>
            <a:picLocks noChangeAspect="1"/>
          </p:cNvPicPr>
          <p:nvPr/>
        </p:nvPicPr>
        <p:blipFill>
          <a:blip r:embed="rId9"/>
          <a:stretch>
            <a:fillRect/>
          </a:stretch>
        </p:blipFill>
        <p:spPr>
          <a:xfrm>
            <a:off x="13723555" y="3840480"/>
            <a:ext cx="5663313" cy="2743200"/>
          </a:xfrm>
          <a:prstGeom prst="rect">
            <a:avLst/>
          </a:prstGeom>
        </p:spPr>
      </p:pic>
      <p:sp>
        <p:nvSpPr>
          <p:cNvPr id="75" name="TextBox 74"/>
          <p:cNvSpPr txBox="1"/>
          <p:nvPr/>
        </p:nvSpPr>
        <p:spPr>
          <a:xfrm>
            <a:off x="11301984" y="6601968"/>
            <a:ext cx="10506456" cy="182880"/>
          </a:xfrm>
          <a:prstGeom prst="rect">
            <a:avLst/>
          </a:prstGeom>
          <a:noFill/>
        </p:spPr>
        <p:txBody>
          <a:bodyPr wrap="square"/>
          <a:lstStyle/>
          <a:p>
            <a:pPr algn="ctr">
              <a:spcBef>
                <a:spcPts val="0"/>
              </a:spcBef>
              <a:spcAft>
                <a:spcPts val="0"/>
              </a:spcAft>
              <a:defRPr sz="800" b="0" i="1">
                <a:solidFill>
                  <a:srgbClr val="0B1736"/>
                </a:solidFill>
                <a:latin typeface="Arial"/>
              </a:defRPr>
            </a:pPr>
            <a:r>
              <a:t>Fig. 6. 14,293 wireframes -&gt; 11,178 FEA sims -&gt; 128^3 voxel grids</a:t>
            </a:r>
          </a:p>
        </p:txBody>
      </p:sp>
      <p:graphicFrame>
        <p:nvGraphicFramePr>
          <p:cNvPr id="76" name="Table 75"/>
          <p:cNvGraphicFramePr>
            <a:graphicFrameLocks noGrp="1"/>
          </p:cNvGraphicFramePr>
          <p:nvPr/>
        </p:nvGraphicFramePr>
        <p:xfrm>
          <a:off x="11301984" y="6821424"/>
          <a:ext cx="10506455" cy="804672"/>
        </p:xfrm>
        <a:graphic>
          <a:graphicData uri="http://schemas.openxmlformats.org/drawingml/2006/table">
            <a:tbl>
              <a:tblPr firstRow="1" bandRow="1">
                <a:tableStyleId>{5C22544A-7EE6-4342-B048-85BDC9FD1C3A}</a:tableStyleId>
              </a:tblPr>
              <a:tblGrid>
                <a:gridCol w="3151936"/>
                <a:gridCol w="2626614"/>
                <a:gridCol w="4727905"/>
              </a:tblGrid>
              <a:tr h="201168">
                <a:tc>
                  <a:txBody>
                    <a:bodyPr/>
                    <a:lstStyle/>
                    <a:p>
                      <a:pPr algn="l">
                        <a:defRPr sz="1000" b="1">
                          <a:solidFill>
                            <a:srgbClr val="FFFFFF"/>
                          </a:solidFill>
                          <a:latin typeface="Arial"/>
                        </a:defRPr>
                      </a:pPr>
                      <a:r>
                        <a:t>Split</a:t>
                      </a:r>
                    </a:p>
                  </a:txBody>
                  <a:tcPr>
                    <a:solidFill>
                      <a:srgbClr val="0A3D9A"/>
                    </a:solidFill>
                  </a:tcPr>
                </a:tc>
                <a:tc>
                  <a:txBody>
                    <a:bodyPr/>
                    <a:lstStyle/>
                    <a:p>
                      <a:pPr algn="l">
                        <a:defRPr sz="1000" b="1">
                          <a:solidFill>
                            <a:srgbClr val="FFFFFF"/>
                          </a:solidFill>
                          <a:latin typeface="Arial"/>
                        </a:defRPr>
                      </a:pPr>
                      <a:r>
                        <a:t>n</a:t>
                      </a:r>
                    </a:p>
                  </a:txBody>
                  <a:tcPr>
                    <a:solidFill>
                      <a:srgbClr val="0A3D9A"/>
                    </a:solidFill>
                  </a:tcPr>
                </a:tc>
                <a:tc>
                  <a:txBody>
                    <a:bodyPr/>
                    <a:lstStyle/>
                    <a:p>
                      <a:pPr algn="l">
                        <a:defRPr sz="1000" b="1">
                          <a:solidFill>
                            <a:srgbClr val="FFFFFF"/>
                          </a:solidFill>
                          <a:latin typeface="Arial"/>
                        </a:defRPr>
                      </a:pPr>
                      <a:r>
                        <a:t>Targets</a:t>
                      </a:r>
                    </a:p>
                  </a:txBody>
                  <a:tcPr>
                    <a:solidFill>
                      <a:srgbClr val="0A3D9A"/>
                    </a:solidFill>
                  </a:tcPr>
                </a:tc>
              </a:tr>
              <a:tr h="201168">
                <a:tc>
                  <a:txBody>
                    <a:bodyPr/>
                    <a:lstStyle/>
                    <a:p>
                      <a:pPr algn="l">
                        <a:defRPr sz="1000">
                          <a:solidFill>
                            <a:srgbClr val="0B1736"/>
                          </a:solidFill>
                          <a:latin typeface="Arial"/>
                        </a:defRPr>
                      </a:pPr>
                      <a:r>
                        <a:t>Train</a:t>
                      </a:r>
                    </a:p>
                  </a:txBody>
                  <a:tcPr>
                    <a:solidFill>
                      <a:srgbClr val="F7F9FC"/>
                    </a:solidFill>
                  </a:tcPr>
                </a:tc>
                <a:tc>
                  <a:txBody>
                    <a:bodyPr/>
                    <a:lstStyle/>
                    <a:p>
                      <a:pPr algn="l">
                        <a:defRPr sz="1000">
                          <a:solidFill>
                            <a:srgbClr val="0B1736"/>
                          </a:solidFill>
                          <a:latin typeface="Arial"/>
                        </a:defRPr>
                      </a:pPr>
                      <a:r>
                        <a:t>8,943</a:t>
                      </a:r>
                    </a:p>
                  </a:txBody>
                  <a:tcPr>
                    <a:solidFill>
                      <a:srgbClr val="F7F9FC"/>
                    </a:solidFill>
                  </a:tcPr>
                </a:tc>
                <a:tc>
                  <a:txBody>
                    <a:bodyPr/>
                    <a:lstStyle/>
                    <a:p>
                      <a:pPr algn="l">
                        <a:defRPr sz="1000">
                          <a:solidFill>
                            <a:srgbClr val="0B1736"/>
                          </a:solidFill>
                          <a:latin typeface="Arial"/>
                        </a:defRPr>
                      </a:pPr>
                      <a:r>
                        <a:t>sigma_VM, u_max, C</a:t>
                      </a:r>
                    </a:p>
                  </a:txBody>
                  <a:tcPr>
                    <a:solidFill>
                      <a:srgbClr val="F7F9FC"/>
                    </a:solidFill>
                  </a:tcPr>
                </a:tc>
              </a:tr>
              <a:tr h="201168">
                <a:tc>
                  <a:txBody>
                    <a:bodyPr/>
                    <a:lstStyle/>
                    <a:p>
                      <a:pPr algn="l">
                        <a:defRPr sz="1000">
                          <a:solidFill>
                            <a:srgbClr val="0B1736"/>
                          </a:solidFill>
                          <a:latin typeface="Arial"/>
                        </a:defRPr>
                      </a:pPr>
                      <a:r>
                        <a:t>Validation</a:t>
                      </a:r>
                    </a:p>
                  </a:txBody>
                  <a:tcPr>
                    <a:solidFill>
                      <a:srgbClr val="EEF2FA"/>
                    </a:solidFill>
                  </a:tcPr>
                </a:tc>
                <a:tc>
                  <a:txBody>
                    <a:bodyPr/>
                    <a:lstStyle/>
                    <a:p>
                      <a:pPr algn="l">
                        <a:defRPr sz="1000">
                          <a:solidFill>
                            <a:srgbClr val="0B1736"/>
                          </a:solidFill>
                          <a:latin typeface="Arial"/>
                        </a:defRPr>
                      </a:pPr>
                      <a:r>
                        <a:t>1,121</a:t>
                      </a:r>
                    </a:p>
                  </a:txBody>
                  <a:tcPr>
                    <a:solidFill>
                      <a:srgbClr val="EEF2FA"/>
                    </a:solidFill>
                  </a:tcPr>
                </a:tc>
                <a:tc>
                  <a:txBody>
                    <a:bodyPr/>
                    <a:lstStyle/>
                    <a:p>
                      <a:pPr algn="l">
                        <a:defRPr sz="1000">
                          <a:solidFill>
                            <a:srgbClr val="0B1736"/>
                          </a:solidFill>
                          <a:latin typeface="Arial"/>
                        </a:defRPr>
                      </a:pPr>
                      <a:r>
                        <a:t>--</a:t>
                      </a:r>
                    </a:p>
                  </a:txBody>
                  <a:tcPr>
                    <a:solidFill>
                      <a:srgbClr val="EEF2FA"/>
                    </a:solidFill>
                  </a:tcPr>
                </a:tc>
              </a:tr>
              <a:tr h="201168">
                <a:tc>
                  <a:txBody>
                    <a:bodyPr/>
                    <a:lstStyle/>
                    <a:p>
                      <a:pPr algn="l">
                        <a:defRPr sz="1000">
                          <a:solidFill>
                            <a:srgbClr val="0B1736"/>
                          </a:solidFill>
                          <a:latin typeface="Arial"/>
                        </a:defRPr>
                      </a:pPr>
                      <a:r>
                        <a:t>Test</a:t>
                      </a:r>
                    </a:p>
                  </a:txBody>
                  <a:tcPr>
                    <a:solidFill>
                      <a:srgbClr val="F7F9FC"/>
                    </a:solidFill>
                  </a:tcPr>
                </a:tc>
                <a:tc>
                  <a:txBody>
                    <a:bodyPr/>
                    <a:lstStyle/>
                    <a:p>
                      <a:pPr algn="l">
                        <a:defRPr sz="1000">
                          <a:solidFill>
                            <a:srgbClr val="0B1736"/>
                          </a:solidFill>
                          <a:latin typeface="Arial"/>
                        </a:defRPr>
                      </a:pPr>
                      <a:r>
                        <a:t>1,114</a:t>
                      </a:r>
                    </a:p>
                  </a:txBody>
                  <a:tcPr>
                    <a:solidFill>
                      <a:srgbClr val="F7F9FC"/>
                    </a:solidFill>
                  </a:tcPr>
                </a:tc>
                <a:tc>
                  <a:txBody>
                    <a:bodyPr/>
                    <a:lstStyle/>
                    <a:p>
                      <a:pPr algn="l">
                        <a:defRPr sz="1000">
                          <a:solidFill>
                            <a:srgbClr val="0B1736"/>
                          </a:solidFill>
                          <a:latin typeface="Arial"/>
                        </a:defRPr>
                      </a:pPr>
                      <a:r>
                        <a:t>Ground-truth FEA</a:t>
                      </a:r>
                    </a:p>
                  </a:txBody>
                  <a:tcPr>
                    <a:solidFill>
                      <a:srgbClr val="F7F9FC"/>
                    </a:solidFill>
                  </a:tcPr>
                </a:tc>
              </a:tr>
            </a:tbl>
          </a:graphicData>
        </a:graphic>
      </p:graphicFrame>
      <p:sp>
        <p:nvSpPr>
          <p:cNvPr id="77" name="TextBox 76"/>
          <p:cNvSpPr txBox="1"/>
          <p:nvPr/>
        </p:nvSpPr>
        <p:spPr>
          <a:xfrm>
            <a:off x="11301984" y="7680960"/>
            <a:ext cx="10506456" cy="1645920"/>
          </a:xfrm>
          <a:prstGeom prst="rect">
            <a:avLst/>
          </a:prstGeom>
          <a:noFill/>
        </p:spPr>
        <p:txBody>
          <a:bodyPr wrap="square"/>
          <a:lstStyle/>
          <a:p>
            <a:pPr algn="l">
              <a:spcBef>
                <a:spcPts val="0"/>
              </a:spcBef>
              <a:spcAft>
                <a:spcPts val="0"/>
              </a:spcAft>
              <a:defRPr sz="900" b="0" i="0">
                <a:solidFill>
                  <a:srgbClr val="0B1736"/>
                </a:solidFill>
                <a:latin typeface="Arial"/>
              </a:defRPr>
            </a:pPr>
            <a:r>
              <a:t>Pipeline: (1) 3DWire wireframe -&gt; volumetric parts via extrusion (ext walls 4 voxels ~316 mm, int walls 2 voxels ~158 mm); (2) boolean fusion via FreeCAD; (3) tetrahedral meshing via Gmsh (50k-200k elements); (4) SfePy FEA under ASCE 7-22 ASD loads; (5) voxelization onto 128^3 grid.</a:t>
            </a:r>
            <a:br/>
            <a:br/>
            <a:r>
              <a:t>Data filtering: 3,115/14,293 (21.8%) rejected for diverged displacement (&gt;1.0 m), degenerate compliance (&lt;1e-6 J), or invalid stress (&lt;=0 Pa). Retained data spans 4.9 orders of magnitude in stress and 7.7 orders in compliance.</a:t>
            </a:r>
          </a:p>
        </p:txBody>
      </p:sp>
      <p:sp>
        <p:nvSpPr>
          <p:cNvPr id="78" name="Rounded Rectangle 77"/>
          <p:cNvSpPr/>
          <p:nvPr/>
        </p:nvSpPr>
        <p:spPr>
          <a:xfrm>
            <a:off x="22009608" y="3566160"/>
            <a:ext cx="10652760" cy="7132320"/>
          </a:xfrm>
          <a:prstGeom prst="roundRect">
            <a:avLst>
              <a:gd name="adj" fmla="val 30000"/>
            </a:avLst>
          </a:prstGeom>
          <a:solidFill>
            <a:srgbClr val="F7F9FC"/>
          </a:solidFill>
          <a:ln w="6350">
            <a:solidFill>
              <a:srgbClr val="B7C5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22082760" y="3621024"/>
            <a:ext cx="10506456" cy="201168"/>
          </a:xfrm>
          <a:prstGeom prst="rect">
            <a:avLst/>
          </a:prstGeom>
          <a:noFill/>
        </p:spPr>
        <p:txBody>
          <a:bodyPr wrap="square"/>
          <a:lstStyle/>
          <a:p>
            <a:pPr algn="l">
              <a:spcBef>
                <a:spcPts val="0"/>
              </a:spcBef>
              <a:spcAft>
                <a:spcPts val="0"/>
              </a:spcAft>
              <a:defRPr sz="1200" b="1" i="0">
                <a:solidFill>
                  <a:srgbClr val="0B1736"/>
                </a:solidFill>
                <a:latin typeface="Arial"/>
              </a:defRPr>
            </a:pPr>
            <a:r>
              <a:t>Deep Ensemble Surrogate (5x8.76M params)</a:t>
            </a:r>
          </a:p>
        </p:txBody>
      </p:sp>
      <p:sp>
        <p:nvSpPr>
          <p:cNvPr id="80" name="Rounded Rectangle 79"/>
          <p:cNvSpPr/>
          <p:nvPr/>
        </p:nvSpPr>
        <p:spPr>
          <a:xfrm>
            <a:off x="31290768" y="3621024"/>
            <a:ext cx="1280160" cy="201168"/>
          </a:xfrm>
          <a:prstGeom prst="roundRect">
            <a:avLst>
              <a:gd name="adj" fmla="val 30000"/>
            </a:avLst>
          </a:prstGeom>
          <a:solidFill>
            <a:srgbClr val="D726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31290768" y="3621024"/>
            <a:ext cx="1280160" cy="201168"/>
          </a:xfrm>
          <a:prstGeom prst="rect">
            <a:avLst/>
          </a:prstGeom>
          <a:noFill/>
        </p:spPr>
        <p:txBody>
          <a:bodyPr wrap="square"/>
          <a:lstStyle/>
          <a:p>
            <a:pPr algn="ctr">
              <a:spcBef>
                <a:spcPts val="0"/>
              </a:spcBef>
              <a:spcAft>
                <a:spcPts val="0"/>
              </a:spcAft>
              <a:defRPr sz="900" b="1" i="0">
                <a:solidFill>
                  <a:srgbClr val="FFFFFF"/>
                </a:solidFill>
                <a:latin typeface="Arial"/>
              </a:defRPr>
            </a:pPr>
            <a:r>
              <a:t>x5 ENSEMBLE</a:t>
            </a:r>
          </a:p>
        </p:txBody>
      </p:sp>
      <p:pic>
        <p:nvPicPr>
          <p:cNvPr id="82" name="Picture 81" descr="fig04_architecture.png"/>
          <p:cNvPicPr>
            <a:picLocks noChangeAspect="1"/>
          </p:cNvPicPr>
          <p:nvPr/>
        </p:nvPicPr>
        <p:blipFill>
          <a:blip r:embed="rId10"/>
          <a:stretch>
            <a:fillRect/>
          </a:stretch>
        </p:blipFill>
        <p:spPr>
          <a:xfrm>
            <a:off x="23721402" y="3858768"/>
            <a:ext cx="7229171" cy="3657600"/>
          </a:xfrm>
          <a:prstGeom prst="rect">
            <a:avLst/>
          </a:prstGeom>
        </p:spPr>
      </p:pic>
      <p:sp>
        <p:nvSpPr>
          <p:cNvPr id="83" name="TextBox 82"/>
          <p:cNvSpPr txBox="1"/>
          <p:nvPr/>
        </p:nvSpPr>
        <p:spPr>
          <a:xfrm>
            <a:off x="22082760" y="7552944"/>
            <a:ext cx="10506456" cy="182880"/>
          </a:xfrm>
          <a:prstGeom prst="rect">
            <a:avLst/>
          </a:prstGeom>
          <a:noFill/>
        </p:spPr>
        <p:txBody>
          <a:bodyPr wrap="square"/>
          <a:lstStyle/>
          <a:p>
            <a:pPr algn="ctr">
              <a:spcBef>
                <a:spcPts val="0"/>
              </a:spcBef>
              <a:spcAft>
                <a:spcPts val="0"/>
              </a:spcAft>
              <a:defRPr sz="800" b="0" i="1">
                <a:solidFill>
                  <a:srgbClr val="0B1736"/>
                </a:solidFill>
                <a:latin typeface="Arial"/>
              </a:defRPr>
            </a:pPr>
            <a:r>
              <a:t>Fig. 7. Dual pooling -&gt; 512-d -&gt; 3 scalar outputs per member</a:t>
            </a:r>
          </a:p>
        </p:txBody>
      </p:sp>
      <p:graphicFrame>
        <p:nvGraphicFramePr>
          <p:cNvPr id="84" name="Table 83"/>
          <p:cNvGraphicFramePr>
            <a:graphicFrameLocks noGrp="1"/>
          </p:cNvGraphicFramePr>
          <p:nvPr/>
        </p:nvGraphicFramePr>
        <p:xfrm>
          <a:off x="22082760" y="7772400"/>
          <a:ext cx="10506455" cy="1207008"/>
        </p:xfrm>
        <a:graphic>
          <a:graphicData uri="http://schemas.openxmlformats.org/drawingml/2006/table">
            <a:tbl>
              <a:tblPr firstRow="1" bandRow="1">
                <a:tableStyleId>{5C22544A-7EE6-4342-B048-85BDC9FD1C3A}</a:tableStyleId>
              </a:tblPr>
              <a:tblGrid>
                <a:gridCol w="4202582"/>
                <a:gridCol w="6303873"/>
              </a:tblGrid>
              <a:tr h="201168">
                <a:tc>
                  <a:txBody>
                    <a:bodyPr/>
                    <a:lstStyle/>
                    <a:p>
                      <a:pPr algn="l">
                        <a:defRPr sz="1000" b="1">
                          <a:solidFill>
                            <a:srgbClr val="FFFFFF"/>
                          </a:solidFill>
                          <a:latin typeface="Arial"/>
                        </a:defRPr>
                      </a:pPr>
                      <a:r>
                        <a:t>Parameter</a:t>
                      </a:r>
                    </a:p>
                  </a:txBody>
                  <a:tcPr>
                    <a:solidFill>
                      <a:srgbClr val="0A3D9A"/>
                    </a:solidFill>
                  </a:tcPr>
                </a:tc>
                <a:tc>
                  <a:txBody>
                    <a:bodyPr/>
                    <a:lstStyle/>
                    <a:p>
                      <a:pPr algn="l">
                        <a:defRPr sz="1000" b="1">
                          <a:solidFill>
                            <a:srgbClr val="FFFFFF"/>
                          </a:solidFill>
                          <a:latin typeface="Arial"/>
                        </a:defRPr>
                      </a:pPr>
                      <a:r>
                        <a:t>Value</a:t>
                      </a:r>
                    </a:p>
                  </a:txBody>
                  <a:tcPr>
                    <a:solidFill>
                      <a:srgbClr val="0A3D9A"/>
                    </a:solidFill>
                  </a:tcPr>
                </a:tc>
              </a:tr>
              <a:tr h="201168">
                <a:tc>
                  <a:txBody>
                    <a:bodyPr/>
                    <a:lstStyle/>
                    <a:p>
                      <a:pPr algn="l">
                        <a:defRPr sz="1000">
                          <a:solidFill>
                            <a:srgbClr val="0B1736"/>
                          </a:solidFill>
                          <a:latin typeface="Arial"/>
                        </a:defRPr>
                      </a:pPr>
                      <a:r>
                        <a:t>Ensemble size</a:t>
                      </a:r>
                    </a:p>
                  </a:txBody>
                  <a:tcPr>
                    <a:solidFill>
                      <a:srgbClr val="F7F9FC"/>
                    </a:solidFill>
                  </a:tcPr>
                </a:tc>
                <a:tc>
                  <a:txBody>
                    <a:bodyPr/>
                    <a:lstStyle/>
                    <a:p>
                      <a:pPr algn="l">
                        <a:defRPr sz="1000">
                          <a:solidFill>
                            <a:srgbClr val="0B1736"/>
                          </a:solidFill>
                          <a:latin typeface="Arial"/>
                        </a:defRPr>
                      </a:pPr>
                      <a:r>
                        <a:t>M=5 (43.8M total)</a:t>
                      </a:r>
                    </a:p>
                  </a:txBody>
                  <a:tcPr>
                    <a:solidFill>
                      <a:srgbClr val="F7F9FC"/>
                    </a:solidFill>
                  </a:tcPr>
                </a:tc>
              </a:tr>
              <a:tr h="201168">
                <a:tc>
                  <a:txBody>
                    <a:bodyPr/>
                    <a:lstStyle/>
                    <a:p>
                      <a:pPr algn="l">
                        <a:defRPr sz="1000">
                          <a:solidFill>
                            <a:srgbClr val="0B1736"/>
                          </a:solidFill>
                          <a:latin typeface="Arial"/>
                        </a:defRPr>
                      </a:pPr>
                      <a:r>
                        <a:t>Input</a:t>
                      </a:r>
                    </a:p>
                  </a:txBody>
                  <a:tcPr>
                    <a:solidFill>
                      <a:srgbClr val="EEF2FA"/>
                    </a:solidFill>
                  </a:tcPr>
                </a:tc>
                <a:tc>
                  <a:txBody>
                    <a:bodyPr/>
                    <a:lstStyle/>
                    <a:p>
                      <a:pPr algn="l">
                        <a:defRPr sz="1000">
                          <a:solidFill>
                            <a:srgbClr val="0B1736"/>
                          </a:solidFill>
                          <a:latin typeface="Arial"/>
                        </a:defRPr>
                      </a:pPr>
                      <a:r>
                        <a:t>7-ch 128^3 + 10-d feature</a:t>
                      </a:r>
                    </a:p>
                  </a:txBody>
                  <a:tcPr>
                    <a:solidFill>
                      <a:srgbClr val="EEF2FA"/>
                    </a:solidFill>
                  </a:tcPr>
                </a:tc>
              </a:tr>
              <a:tr h="201168">
                <a:tc>
                  <a:txBody>
                    <a:bodyPr/>
                    <a:lstStyle/>
                    <a:p>
                      <a:pPr algn="l">
                        <a:defRPr sz="1000">
                          <a:solidFill>
                            <a:srgbClr val="0B1736"/>
                          </a:solidFill>
                          <a:latin typeface="Arial"/>
                        </a:defRPr>
                      </a:pPr>
                      <a:r>
                        <a:t>Regularization</a:t>
                      </a:r>
                    </a:p>
                  </a:txBody>
                  <a:tcPr>
                    <a:solidFill>
                      <a:srgbClr val="F7F9FC"/>
                    </a:solidFill>
                  </a:tcPr>
                </a:tc>
                <a:tc>
                  <a:txBody>
                    <a:bodyPr/>
                    <a:lstStyle/>
                    <a:p>
                      <a:pPr algn="l">
                        <a:defRPr sz="1000">
                          <a:solidFill>
                            <a:srgbClr val="0B1736"/>
                          </a:solidFill>
                          <a:latin typeface="Arial"/>
                        </a:defRPr>
                      </a:pPr>
                      <a:r>
                        <a:t>dropout 0.15, WD 1e-4</a:t>
                      </a:r>
                    </a:p>
                  </a:txBody>
                  <a:tcPr>
                    <a:solidFill>
                      <a:srgbClr val="F7F9FC"/>
                    </a:solidFill>
                  </a:tcPr>
                </a:tc>
              </a:tr>
              <a:tr h="201168">
                <a:tc>
                  <a:txBody>
                    <a:bodyPr/>
                    <a:lstStyle/>
                    <a:p>
                      <a:pPr algn="l">
                        <a:defRPr sz="1000">
                          <a:solidFill>
                            <a:srgbClr val="0B1736"/>
                          </a:solidFill>
                          <a:latin typeface="Arial"/>
                        </a:defRPr>
                      </a:pPr>
                      <a:r>
                        <a:t>Normalization</a:t>
                      </a:r>
                    </a:p>
                  </a:txBody>
                  <a:tcPr>
                    <a:solidFill>
                      <a:srgbClr val="EEF2FA"/>
                    </a:solidFill>
                  </a:tcPr>
                </a:tc>
                <a:tc>
                  <a:txBody>
                    <a:bodyPr/>
                    <a:lstStyle/>
                    <a:p>
                      <a:pPr algn="l">
                        <a:defRPr sz="1000">
                          <a:solidFill>
                            <a:srgbClr val="0B1736"/>
                          </a:solidFill>
                          <a:latin typeface="Arial"/>
                        </a:defRPr>
                      </a:pPr>
                      <a:r>
                        <a:t>log(1+|y|) -&gt; z-score</a:t>
                      </a:r>
                    </a:p>
                  </a:txBody>
                  <a:tcPr>
                    <a:solidFill>
                      <a:srgbClr val="EEF2FA"/>
                    </a:solidFill>
                  </a:tcPr>
                </a:tc>
              </a:tr>
              <a:tr h="201168">
                <a:tc>
                  <a:txBody>
                    <a:bodyPr/>
                    <a:lstStyle/>
                    <a:p>
                      <a:pPr algn="l">
                        <a:defRPr sz="1000">
                          <a:solidFill>
                            <a:srgbClr val="0B1736"/>
                          </a:solidFill>
                          <a:latin typeface="Arial"/>
                        </a:defRPr>
                      </a:pPr>
                      <a:r>
                        <a:t>Outputs</a:t>
                      </a:r>
                    </a:p>
                  </a:txBody>
                  <a:tcPr>
                    <a:solidFill>
                      <a:srgbClr val="F7F9FC"/>
                    </a:solidFill>
                  </a:tcPr>
                </a:tc>
                <a:tc>
                  <a:txBody>
                    <a:bodyPr/>
                    <a:lstStyle/>
                    <a:p>
                      <a:pPr algn="l">
                        <a:defRPr sz="1000">
                          <a:solidFill>
                            <a:srgbClr val="0B1736"/>
                          </a:solidFill>
                          <a:latin typeface="Arial"/>
                        </a:defRPr>
                      </a:pPr>
                      <a:r>
                        <a:t>peak sigma_VM, max u, C</a:t>
                      </a:r>
                    </a:p>
                  </a:txBody>
                  <a:tcPr>
                    <a:solidFill>
                      <a:srgbClr val="F7F9FC"/>
                    </a:solidFill>
                  </a:tcPr>
                </a:tc>
              </a:tr>
            </a:tbl>
          </a:graphicData>
        </a:graphic>
      </p:graphicFrame>
      <p:sp>
        <p:nvSpPr>
          <p:cNvPr id="85" name="TextBox 84"/>
          <p:cNvSpPr txBox="1"/>
          <p:nvPr/>
        </p:nvSpPr>
        <p:spPr>
          <a:xfrm>
            <a:off x="22082760" y="9034272"/>
            <a:ext cx="10506456" cy="1097280"/>
          </a:xfrm>
          <a:prstGeom prst="rect">
            <a:avLst/>
          </a:prstGeom>
          <a:noFill/>
        </p:spPr>
        <p:txBody>
          <a:bodyPr wrap="square"/>
          <a:lstStyle/>
          <a:p>
            <a:pPr algn="l">
              <a:spcBef>
                <a:spcPts val="0"/>
              </a:spcBef>
              <a:spcAft>
                <a:spcPts val="0"/>
              </a:spcAft>
              <a:defRPr sz="900" b="0" i="0">
                <a:solidFill>
                  <a:srgbClr val="0B1736"/>
                </a:solidFill>
                <a:latin typeface="Arial"/>
              </a:defRPr>
            </a:pPr>
            <a:r>
              <a:t>Architecture: 4 conv stages (128-&gt;64-&gt;32-&gt;16-&gt;8), 3 SE-ResBlocks with squeeze-excitation, dual pooling (avg+max) -&gt; 512-d embed + 128-d feature MLP. Head: 640-&gt;512-&gt;256-&gt;3 with skip.</a:t>
            </a:r>
            <a:br/>
            <a:br/>
            <a:r>
              <a:t>Training: Huber loss, AdamW lr=5e-4, cosine anneal, EMA 0.999, AMP, grad clip ||.||&lt;=1. Aug: 90 deg rot, flips, noise sigma=0.02. Dropout 0.15, stochastic depth 0-0.1.</a:t>
            </a:r>
          </a:p>
        </p:txBody>
      </p:sp>
      <p:sp>
        <p:nvSpPr>
          <p:cNvPr id="86" name="Rounded Rectangle 85"/>
          <p:cNvSpPr/>
          <p:nvPr/>
        </p:nvSpPr>
        <p:spPr>
          <a:xfrm>
            <a:off x="11228832" y="10826496"/>
            <a:ext cx="10652760" cy="7644383"/>
          </a:xfrm>
          <a:prstGeom prst="roundRect">
            <a:avLst>
              <a:gd name="adj" fmla="val 30000"/>
            </a:avLst>
          </a:prstGeom>
          <a:solidFill>
            <a:srgbClr val="F7F9FC"/>
          </a:solidFill>
          <a:ln w="6350">
            <a:solidFill>
              <a:srgbClr val="B7C5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11301984" y="10881360"/>
            <a:ext cx="10506456" cy="201168"/>
          </a:xfrm>
          <a:prstGeom prst="rect">
            <a:avLst/>
          </a:prstGeom>
          <a:noFill/>
        </p:spPr>
        <p:txBody>
          <a:bodyPr wrap="square"/>
          <a:lstStyle/>
          <a:p>
            <a:pPr algn="l">
              <a:spcBef>
                <a:spcPts val="0"/>
              </a:spcBef>
              <a:spcAft>
                <a:spcPts val="0"/>
              </a:spcAft>
              <a:defRPr sz="1200" b="1" i="0">
                <a:solidFill>
                  <a:srgbClr val="0B1736"/>
                </a:solidFill>
                <a:latin typeface="Arial"/>
              </a:defRPr>
            </a:pPr>
            <a:r>
              <a:t>SASTO Algorithm - Sensitivity-Guided Erosion</a:t>
            </a:r>
          </a:p>
        </p:txBody>
      </p:sp>
      <p:pic>
        <p:nvPicPr>
          <p:cNvPr id="88" name="Picture 87" descr="fig05_sasto_flowchart.png"/>
          <p:cNvPicPr>
            <a:picLocks noChangeAspect="1"/>
          </p:cNvPicPr>
          <p:nvPr/>
        </p:nvPicPr>
        <p:blipFill>
          <a:blip r:embed="rId11"/>
          <a:stretch>
            <a:fillRect/>
          </a:stretch>
        </p:blipFill>
        <p:spPr>
          <a:xfrm>
            <a:off x="14545075" y="11119104"/>
            <a:ext cx="4020273" cy="2926080"/>
          </a:xfrm>
          <a:prstGeom prst="rect">
            <a:avLst/>
          </a:prstGeom>
        </p:spPr>
      </p:pic>
      <p:sp>
        <p:nvSpPr>
          <p:cNvPr id="89" name="TextBox 88"/>
          <p:cNvSpPr txBox="1"/>
          <p:nvPr/>
        </p:nvSpPr>
        <p:spPr>
          <a:xfrm>
            <a:off x="11301984" y="14063472"/>
            <a:ext cx="10506456" cy="182880"/>
          </a:xfrm>
          <a:prstGeom prst="rect">
            <a:avLst/>
          </a:prstGeom>
          <a:noFill/>
        </p:spPr>
        <p:txBody>
          <a:bodyPr wrap="square"/>
          <a:lstStyle/>
          <a:p>
            <a:pPr algn="ctr">
              <a:spcBef>
                <a:spcPts val="0"/>
              </a:spcBef>
              <a:spcAft>
                <a:spcPts val="0"/>
              </a:spcAft>
              <a:defRPr sz="800" b="0" i="1">
                <a:solidFill>
                  <a:srgbClr val="0B1736"/>
                </a:solidFill>
                <a:latin typeface="Arial"/>
              </a:defRPr>
            </a:pPr>
            <a:r>
              <a:t>Fig. 8. Three-phase optimization. Phase 1 removes &gt;99% of material.</a:t>
            </a:r>
          </a:p>
        </p:txBody>
      </p:sp>
      <p:sp>
        <p:nvSpPr>
          <p:cNvPr id="90" name="Rounded Rectangle 89"/>
          <p:cNvSpPr/>
          <p:nvPr/>
        </p:nvSpPr>
        <p:spPr>
          <a:xfrm>
            <a:off x="11301984" y="14282928"/>
            <a:ext cx="10506456" cy="182880"/>
          </a:xfrm>
          <a:prstGeom prst="roundRect">
            <a:avLst>
              <a:gd name="adj" fmla="val 15000"/>
            </a:avLst>
          </a:prstGeom>
          <a:solidFill>
            <a:srgbClr val="008C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11375136" y="14282928"/>
            <a:ext cx="10360152" cy="182880"/>
          </a:xfrm>
          <a:prstGeom prst="rect">
            <a:avLst/>
          </a:prstGeom>
          <a:noFill/>
        </p:spPr>
        <p:txBody>
          <a:bodyPr wrap="square"/>
          <a:lstStyle/>
          <a:p>
            <a:pPr algn="l">
              <a:spcBef>
                <a:spcPts val="0"/>
              </a:spcBef>
              <a:spcAft>
                <a:spcPts val="0"/>
              </a:spcAft>
              <a:defRPr sz="900" b="1" i="0">
                <a:solidFill>
                  <a:srgbClr val="FFFFFF"/>
                </a:solidFill>
                <a:latin typeface="Arial"/>
              </a:defRPr>
            </a:pPr>
            <a:r>
              <a:t>Phase 1: Sensitivity-Guided Erosion</a:t>
            </a:r>
          </a:p>
        </p:txBody>
      </p:sp>
      <p:sp>
        <p:nvSpPr>
          <p:cNvPr id="92" name="TextBox 91"/>
          <p:cNvSpPr txBox="1"/>
          <p:nvPr/>
        </p:nvSpPr>
        <p:spPr>
          <a:xfrm>
            <a:off x="11375136" y="14484096"/>
            <a:ext cx="10360152" cy="365760"/>
          </a:xfrm>
          <a:prstGeom prst="rect">
            <a:avLst/>
          </a:prstGeom>
          <a:noFill/>
        </p:spPr>
        <p:txBody>
          <a:bodyPr wrap="square"/>
          <a:lstStyle/>
          <a:p>
            <a:pPr algn="l">
              <a:spcBef>
                <a:spcPts val="0"/>
              </a:spcBef>
              <a:spcAft>
                <a:spcPts val="0"/>
              </a:spcAft>
              <a:defRPr sz="800" b="0" i="0">
                <a:solidFill>
                  <a:srgbClr val="0B1736"/>
                </a:solidFill>
                <a:latin typeface="Arial"/>
              </a:defRPr>
            </a:pPr>
            <a:r>
              <a:t>Sort by descending s_i; batch-remove 6-simple-points; if violated -&gt; undo, halve B -&gt; max(B/2,10). &gt;99% of removal.</a:t>
            </a:r>
          </a:p>
        </p:txBody>
      </p:sp>
      <p:sp>
        <p:nvSpPr>
          <p:cNvPr id="93" name="Rounded Rectangle 92"/>
          <p:cNvSpPr/>
          <p:nvPr/>
        </p:nvSpPr>
        <p:spPr>
          <a:xfrm>
            <a:off x="11301984" y="14868144"/>
            <a:ext cx="10506456" cy="182880"/>
          </a:xfrm>
          <a:prstGeom prst="roundRect">
            <a:avLst>
              <a:gd name="adj" fmla="val 15000"/>
            </a:avLst>
          </a:prstGeom>
          <a:solidFill>
            <a:srgbClr val="CFA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11375136" y="14868144"/>
            <a:ext cx="10360152" cy="182880"/>
          </a:xfrm>
          <a:prstGeom prst="rect">
            <a:avLst/>
          </a:prstGeom>
          <a:noFill/>
        </p:spPr>
        <p:txBody>
          <a:bodyPr wrap="square"/>
          <a:lstStyle/>
          <a:p>
            <a:pPr algn="l">
              <a:spcBef>
                <a:spcPts val="0"/>
              </a:spcBef>
              <a:spcAft>
                <a:spcPts val="0"/>
              </a:spcAft>
              <a:defRPr sz="900" b="1" i="0">
                <a:solidFill>
                  <a:srgbClr val="FFFFFF"/>
                </a:solidFill>
                <a:latin typeface="Arial"/>
              </a:defRPr>
            </a:pPr>
            <a:r>
              <a:t>Phase 2: Fine-Grained Endgame</a:t>
            </a:r>
          </a:p>
        </p:txBody>
      </p:sp>
      <p:sp>
        <p:nvSpPr>
          <p:cNvPr id="95" name="TextBox 94"/>
          <p:cNvSpPr txBox="1"/>
          <p:nvPr/>
        </p:nvSpPr>
        <p:spPr>
          <a:xfrm>
            <a:off x="11375136" y="15069312"/>
            <a:ext cx="10360152" cy="365760"/>
          </a:xfrm>
          <a:prstGeom prst="rect">
            <a:avLst/>
          </a:prstGeom>
          <a:noFill/>
        </p:spPr>
        <p:txBody>
          <a:bodyPr wrap="square"/>
          <a:lstStyle/>
          <a:p>
            <a:pPr algn="l">
              <a:spcBef>
                <a:spcPts val="0"/>
              </a:spcBef>
              <a:spcAft>
                <a:spcPts val="0"/>
              </a:spcAft>
              <a:defRPr sz="800" b="0" i="0">
                <a:solidFill>
                  <a:srgbClr val="0B1736"/>
                </a:solidFill>
                <a:latin typeface="Arial"/>
              </a:defRPr>
            </a:pPr>
            <a:r>
              <a:t>Re-run Phase 1 with B in {5, 1} to squeeze remaining feasible removals near constraint boundary.</a:t>
            </a:r>
          </a:p>
        </p:txBody>
      </p:sp>
      <p:sp>
        <p:nvSpPr>
          <p:cNvPr id="96" name="Rounded Rectangle 95"/>
          <p:cNvSpPr/>
          <p:nvPr/>
        </p:nvSpPr>
        <p:spPr>
          <a:xfrm>
            <a:off x="11301984" y="15453360"/>
            <a:ext cx="10506456" cy="182880"/>
          </a:xfrm>
          <a:prstGeom prst="roundRect">
            <a:avLst>
              <a:gd name="adj" fmla="val 15000"/>
            </a:avLst>
          </a:prstGeom>
          <a:solidFill>
            <a:srgbClr val="D726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11375136" y="15453360"/>
            <a:ext cx="10360152" cy="182880"/>
          </a:xfrm>
          <a:prstGeom prst="rect">
            <a:avLst/>
          </a:prstGeom>
          <a:noFill/>
        </p:spPr>
        <p:txBody>
          <a:bodyPr wrap="square"/>
          <a:lstStyle/>
          <a:p>
            <a:pPr algn="l">
              <a:spcBef>
                <a:spcPts val="0"/>
              </a:spcBef>
              <a:spcAft>
                <a:spcPts val="0"/>
              </a:spcAft>
              <a:defRPr sz="900" b="1" i="0">
                <a:solidFill>
                  <a:srgbClr val="FFFFFF"/>
                </a:solidFill>
                <a:latin typeface="Arial"/>
              </a:defRPr>
            </a:pPr>
            <a:r>
              <a:t>Phase 3: Swap Refinement</a:t>
            </a:r>
          </a:p>
        </p:txBody>
      </p:sp>
      <p:sp>
        <p:nvSpPr>
          <p:cNvPr id="98" name="TextBox 97"/>
          <p:cNvSpPr txBox="1"/>
          <p:nvPr/>
        </p:nvSpPr>
        <p:spPr>
          <a:xfrm>
            <a:off x="11375136" y="15654528"/>
            <a:ext cx="10360152" cy="365760"/>
          </a:xfrm>
          <a:prstGeom prst="rect">
            <a:avLst/>
          </a:prstGeom>
          <a:noFill/>
        </p:spPr>
        <p:txBody>
          <a:bodyPr wrap="square"/>
          <a:lstStyle/>
          <a:p>
            <a:pPr algn="l">
              <a:spcBef>
                <a:spcPts val="0"/>
              </a:spcBef>
              <a:spcAft>
                <a:spcPts val="0"/>
              </a:spcAft>
              <a:defRPr sz="800" b="0" i="0">
                <a:solidFill>
                  <a:srgbClr val="0B1736"/>
                </a:solidFill>
                <a:latin typeface="Arial"/>
              </a:defRPr>
            </a:pPr>
            <a:r>
              <a:t>Thick interior voxels (dist &gt;= 3) swapped with removed neighbors; accept if volume decreases &amp; constraints hold.</a:t>
            </a:r>
          </a:p>
        </p:txBody>
      </p:sp>
      <p:sp>
        <p:nvSpPr>
          <p:cNvPr id="99" name="TextBox 98"/>
          <p:cNvSpPr txBox="1"/>
          <p:nvPr/>
        </p:nvSpPr>
        <p:spPr>
          <a:xfrm>
            <a:off x="11301984" y="16038576"/>
            <a:ext cx="10506456" cy="438912"/>
          </a:xfrm>
          <a:prstGeom prst="rect">
            <a:avLst/>
          </a:prstGeom>
          <a:noFill/>
        </p:spPr>
        <p:txBody>
          <a:bodyPr wrap="square"/>
          <a:lstStyle/>
          <a:p>
            <a:pPr algn="l">
              <a:spcBef>
                <a:spcPts val="0"/>
              </a:spcBef>
              <a:spcAft>
                <a:spcPts val="0"/>
              </a:spcAft>
              <a:defRPr sz="800" b="0" i="0">
                <a:solidFill>
                  <a:srgbClr val="0B1736"/>
                </a:solidFill>
                <a:latin typeface="Arial"/>
              </a:defRPr>
            </a:pPr>
            <a:r>
              <a:t>Post-processing: fill enclosed air pockets (&lt;=50 voxels), remove shard voxels (&lt;2 face-neighbors), SDF -&gt; marching cubes -&gt; Laplacian smoothing -&gt; watertight STL.</a:t>
            </a:r>
          </a:p>
        </p:txBody>
      </p:sp>
      <p:sp>
        <p:nvSpPr>
          <p:cNvPr id="100" name="Rounded Rectangle 99"/>
          <p:cNvSpPr/>
          <p:nvPr/>
        </p:nvSpPr>
        <p:spPr>
          <a:xfrm>
            <a:off x="22009608" y="10826496"/>
            <a:ext cx="10652760" cy="7644383"/>
          </a:xfrm>
          <a:prstGeom prst="roundRect">
            <a:avLst>
              <a:gd name="adj" fmla="val 30000"/>
            </a:avLst>
          </a:prstGeom>
          <a:solidFill>
            <a:srgbClr val="F7F9FC"/>
          </a:solidFill>
          <a:ln w="6350">
            <a:solidFill>
              <a:srgbClr val="B7C5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22082760" y="10881360"/>
            <a:ext cx="10506456" cy="201168"/>
          </a:xfrm>
          <a:prstGeom prst="rect">
            <a:avLst/>
          </a:prstGeom>
          <a:noFill/>
        </p:spPr>
        <p:txBody>
          <a:bodyPr wrap="square"/>
          <a:lstStyle/>
          <a:p>
            <a:pPr algn="l">
              <a:spcBef>
                <a:spcPts val="0"/>
              </a:spcBef>
              <a:spcAft>
                <a:spcPts val="0"/>
              </a:spcAft>
              <a:defRPr sz="1200" b="1" i="0">
                <a:solidFill>
                  <a:srgbClr val="0B1736"/>
                </a:solidFill>
                <a:latin typeface="Arial"/>
              </a:defRPr>
            </a:pPr>
            <a:r>
              <a:t>Topology: 6-Connectivity Guarantee</a:t>
            </a:r>
          </a:p>
        </p:txBody>
      </p:sp>
      <p:pic>
        <p:nvPicPr>
          <p:cNvPr id="102" name="Picture 101" descr="fig06_connectivity.png"/>
          <p:cNvPicPr>
            <a:picLocks noChangeAspect="1"/>
          </p:cNvPicPr>
          <p:nvPr/>
        </p:nvPicPr>
        <p:blipFill>
          <a:blip r:embed="rId12"/>
          <a:stretch>
            <a:fillRect/>
          </a:stretch>
        </p:blipFill>
        <p:spPr>
          <a:xfrm>
            <a:off x="25011315" y="11119104"/>
            <a:ext cx="4649344" cy="2560320"/>
          </a:xfrm>
          <a:prstGeom prst="rect">
            <a:avLst/>
          </a:prstGeom>
        </p:spPr>
      </p:pic>
      <p:sp>
        <p:nvSpPr>
          <p:cNvPr id="103" name="TextBox 102"/>
          <p:cNvSpPr txBox="1"/>
          <p:nvPr/>
        </p:nvSpPr>
        <p:spPr>
          <a:xfrm>
            <a:off x="22082760" y="13716000"/>
            <a:ext cx="10506456" cy="182880"/>
          </a:xfrm>
          <a:prstGeom prst="rect">
            <a:avLst/>
          </a:prstGeom>
          <a:noFill/>
        </p:spPr>
        <p:txBody>
          <a:bodyPr wrap="square"/>
          <a:lstStyle/>
          <a:p>
            <a:pPr algn="ctr">
              <a:spcBef>
                <a:spcPts val="0"/>
              </a:spcBef>
              <a:spcAft>
                <a:spcPts val="0"/>
              </a:spcAft>
              <a:defRPr sz="800" b="0" i="1">
                <a:solidFill>
                  <a:srgbClr val="0B1736"/>
                </a:solidFill>
                <a:latin typeface="Arial"/>
              </a:defRPr>
            </a:pPr>
            <a:r>
              <a:t>Fig. 9. 6-conn eliminates floating fragments incompatible with AM toolpaths</a:t>
            </a:r>
          </a:p>
        </p:txBody>
      </p:sp>
      <p:sp>
        <p:nvSpPr>
          <p:cNvPr id="104" name="Rounded Rectangle 103"/>
          <p:cNvSpPr/>
          <p:nvPr/>
        </p:nvSpPr>
        <p:spPr>
          <a:xfrm>
            <a:off x="22082760" y="13935456"/>
            <a:ext cx="10506456" cy="365760"/>
          </a:xfrm>
          <a:prstGeom prst="roundRect">
            <a:avLst>
              <a:gd name="adj" fmla="val 20000"/>
            </a:avLst>
          </a:prstGeom>
          <a:solidFill>
            <a:srgbClr val="E8EEF8"/>
          </a:solidFill>
          <a:ln w="12700">
            <a:solidFill>
              <a:srgbClr val="008C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22137624" y="13972032"/>
            <a:ext cx="10396728" cy="292608"/>
          </a:xfrm>
          <a:prstGeom prst="rect">
            <a:avLst/>
          </a:prstGeom>
          <a:noFill/>
        </p:spPr>
        <p:txBody>
          <a:bodyPr wrap="square"/>
          <a:lstStyle/>
          <a:p>
            <a:pPr algn="ctr">
              <a:spcBef>
                <a:spcPts val="0"/>
              </a:spcBef>
              <a:spcAft>
                <a:spcPts val="0"/>
              </a:spcAft>
              <a:defRPr sz="800" b="0" i="0">
                <a:solidFill>
                  <a:srgbClr val="0B1736"/>
                </a:solidFill>
                <a:latin typeface="Arial"/>
              </a:defRPr>
            </a:pPr>
            <a:r>
              <a:t>Proposition: A binary voxel field with exactly one 6-connected foreground component yields a single-component marching-cubes surface mesh.</a:t>
            </a:r>
          </a:p>
        </p:txBody>
      </p:sp>
      <p:sp>
        <p:nvSpPr>
          <p:cNvPr id="106" name="TextBox 105"/>
          <p:cNvSpPr txBox="1"/>
          <p:nvPr/>
        </p:nvSpPr>
        <p:spPr>
          <a:xfrm>
            <a:off x="22082760" y="14337792"/>
            <a:ext cx="10506456" cy="182880"/>
          </a:xfrm>
          <a:prstGeom prst="rect">
            <a:avLst/>
          </a:prstGeom>
          <a:noFill/>
        </p:spPr>
        <p:txBody>
          <a:bodyPr wrap="square"/>
          <a:lstStyle/>
          <a:p>
            <a:pPr algn="l">
              <a:spcBef>
                <a:spcPts val="0"/>
              </a:spcBef>
              <a:spcAft>
                <a:spcPts val="0"/>
              </a:spcAft>
              <a:defRPr sz="1000" b="1" i="0">
                <a:solidFill>
                  <a:srgbClr val="0B1736"/>
                </a:solidFill>
                <a:latin typeface="Arial"/>
              </a:defRPr>
            </a:pPr>
            <a:r>
              <a:t>6-Simple Point Test (Kong &amp; Rosenfeld 1989)</a:t>
            </a:r>
          </a:p>
        </p:txBody>
      </p:sp>
      <p:sp>
        <p:nvSpPr>
          <p:cNvPr id="107" name="Rounded Rectangle 106"/>
          <p:cNvSpPr/>
          <p:nvPr/>
        </p:nvSpPr>
        <p:spPr>
          <a:xfrm>
            <a:off x="22082760" y="14538960"/>
            <a:ext cx="10506456" cy="347472"/>
          </a:xfrm>
          <a:prstGeom prst="roundRect">
            <a:avLst>
              <a:gd name="adj" fmla="val 25000"/>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22137623" y="14566392"/>
            <a:ext cx="10396728" cy="292608"/>
          </a:xfrm>
          <a:prstGeom prst="rect">
            <a:avLst/>
          </a:prstGeom>
          <a:noFill/>
        </p:spPr>
        <p:txBody>
          <a:bodyPr wrap="square"/>
          <a:lstStyle/>
          <a:p>
            <a:pPr algn="ctr">
              <a:spcBef>
                <a:spcPts val="0"/>
              </a:spcBef>
              <a:spcAft>
                <a:spcPts val="0"/>
              </a:spcAft>
              <a:defRPr sz="1000" b="0" i="0">
                <a:solidFill>
                  <a:srgbClr val="0B1736"/>
                </a:solidFill>
                <a:latin typeface="Arial"/>
              </a:defRPr>
            </a:pPr>
            <a:r>
              <a:t>SP6(v) = 1 iff |C6(rho' &amp; N26(v))| = 1 AND |C26(rho_bar' &amp; N26(v) U {v})| = 1</a:t>
            </a:r>
          </a:p>
        </p:txBody>
      </p:sp>
      <p:sp>
        <p:nvSpPr>
          <p:cNvPr id="109" name="TextBox 108"/>
          <p:cNvSpPr txBox="1"/>
          <p:nvPr/>
        </p:nvSpPr>
        <p:spPr>
          <a:xfrm>
            <a:off x="22082760" y="14923008"/>
            <a:ext cx="10506456" cy="457200"/>
          </a:xfrm>
          <a:prstGeom prst="rect">
            <a:avLst/>
          </a:prstGeom>
          <a:noFill/>
        </p:spPr>
        <p:txBody>
          <a:bodyPr wrap="square"/>
          <a:lstStyle/>
          <a:p>
            <a:pPr algn="l">
              <a:spcBef>
                <a:spcPts val="0"/>
              </a:spcBef>
              <a:spcAft>
                <a:spcPts val="0"/>
              </a:spcAft>
              <a:defRPr sz="800" b="0" i="0">
                <a:solidFill>
                  <a:srgbClr val="0B1736"/>
                </a:solidFill>
                <a:latin typeface="Arial"/>
              </a:defRPr>
            </a:pPr>
            <a:r>
              <a:t>Foreground uses 6-connectivity; background uses complementary 26-connectivity. This (6,26) pairing prevents diagonal-only attachments that violate marching cubes assumptions. Standard (26,6) pairing produces thousands of floating fragments.</a:t>
            </a:r>
          </a:p>
        </p:txBody>
      </p:sp>
      <p:sp>
        <p:nvSpPr>
          <p:cNvPr id="110" name="Rounded Rectangle 109"/>
          <p:cNvSpPr/>
          <p:nvPr/>
        </p:nvSpPr>
        <p:spPr>
          <a:xfrm>
            <a:off x="11137392" y="18598896"/>
            <a:ext cx="21616416" cy="411480"/>
          </a:xfrm>
          <a:prstGeom prst="roundRect">
            <a:avLst>
              <a:gd name="adj" fmla="val 15000"/>
            </a:avLst>
          </a:prstGeom>
          <a:solidFill>
            <a:srgbClr val="0A3D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11137392" y="18598896"/>
            <a:ext cx="21616416" cy="411480"/>
          </a:xfrm>
          <a:prstGeom prst="rect">
            <a:avLst/>
          </a:prstGeom>
          <a:noFill/>
        </p:spPr>
        <p:txBody>
          <a:bodyPr wrap="square"/>
          <a:lstStyle/>
          <a:p>
            <a:pPr algn="ctr">
              <a:spcBef>
                <a:spcPts val="0"/>
              </a:spcBef>
              <a:spcAft>
                <a:spcPts val="0"/>
              </a:spcAft>
              <a:defRPr sz="2800" b="1" i="0">
                <a:solidFill>
                  <a:srgbClr val="FFFFFF"/>
                </a:solidFill>
                <a:latin typeface="Arial Black"/>
              </a:defRPr>
            </a:pPr>
            <a:r>
              <a:t>RESULTS &amp; IN-SILICO VALIDATION</a:t>
            </a:r>
          </a:p>
        </p:txBody>
      </p:sp>
      <p:sp>
        <p:nvSpPr>
          <p:cNvPr id="112" name="Rounded Rectangle 111"/>
          <p:cNvSpPr/>
          <p:nvPr/>
        </p:nvSpPr>
        <p:spPr>
          <a:xfrm>
            <a:off x="11137392" y="19010376"/>
            <a:ext cx="21616416" cy="13743432"/>
          </a:xfrm>
          <a:prstGeom prst="roundRect">
            <a:avLst>
              <a:gd name="adj" fmla="val 40000"/>
            </a:avLst>
          </a:prstGeom>
          <a:solidFill>
            <a:srgbClr val="F7F9FC"/>
          </a:solidFill>
          <a:ln w="12700">
            <a:solidFill>
              <a:srgbClr val="B7C5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11228832" y="19101816"/>
            <a:ext cx="7059168" cy="182880"/>
          </a:xfrm>
          <a:prstGeom prst="rect">
            <a:avLst/>
          </a:prstGeom>
          <a:noFill/>
        </p:spPr>
        <p:txBody>
          <a:bodyPr wrap="square"/>
          <a:lstStyle/>
          <a:p>
            <a:pPr algn="l">
              <a:spcBef>
                <a:spcPts val="0"/>
              </a:spcBef>
              <a:spcAft>
                <a:spcPts val="0"/>
              </a:spcAft>
              <a:defRPr sz="1100" b="1" i="0">
                <a:solidFill>
                  <a:srgbClr val="0B1736"/>
                </a:solidFill>
                <a:latin typeface="Arial"/>
              </a:defRPr>
            </a:pPr>
            <a:r>
              <a:t>Reference Case (Sample 00472)</a:t>
            </a:r>
          </a:p>
        </p:txBody>
      </p:sp>
      <p:pic>
        <p:nvPicPr>
          <p:cNvPr id="114" name="Picture 113" descr="fig_ref_comparison.png"/>
          <p:cNvPicPr>
            <a:picLocks noChangeAspect="1"/>
          </p:cNvPicPr>
          <p:nvPr/>
        </p:nvPicPr>
        <p:blipFill>
          <a:blip r:embed="rId13"/>
          <a:stretch>
            <a:fillRect/>
          </a:stretch>
        </p:blipFill>
        <p:spPr>
          <a:xfrm>
            <a:off x="13049090" y="19321272"/>
            <a:ext cx="3418651" cy="2926080"/>
          </a:xfrm>
          <a:prstGeom prst="rect">
            <a:avLst/>
          </a:prstGeom>
        </p:spPr>
      </p:pic>
      <p:sp>
        <p:nvSpPr>
          <p:cNvPr id="115" name="Rounded Rectangle 114"/>
          <p:cNvSpPr/>
          <p:nvPr/>
        </p:nvSpPr>
        <p:spPr>
          <a:xfrm>
            <a:off x="14118336" y="21479256"/>
            <a:ext cx="1280160" cy="201168"/>
          </a:xfrm>
          <a:prstGeom prst="roundRect">
            <a:avLst>
              <a:gd name="adj" fmla="val 30000"/>
            </a:avLst>
          </a:prstGeom>
          <a:solidFill>
            <a:srgbClr val="D726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14118336" y="21479256"/>
            <a:ext cx="1280160" cy="201168"/>
          </a:xfrm>
          <a:prstGeom prst="rect">
            <a:avLst/>
          </a:prstGeom>
          <a:noFill/>
        </p:spPr>
        <p:txBody>
          <a:bodyPr wrap="square"/>
          <a:lstStyle/>
          <a:p>
            <a:pPr algn="ctr">
              <a:spcBef>
                <a:spcPts val="0"/>
              </a:spcBef>
              <a:spcAft>
                <a:spcPts val="0"/>
              </a:spcAft>
              <a:defRPr sz="900" b="1" i="0">
                <a:solidFill>
                  <a:srgbClr val="FFFFFF"/>
                </a:solidFill>
                <a:latin typeface="Arial"/>
              </a:defRPr>
            </a:pPr>
            <a:r>
              <a:t>-45.0% material</a:t>
            </a:r>
          </a:p>
        </p:txBody>
      </p:sp>
      <p:sp>
        <p:nvSpPr>
          <p:cNvPr id="117" name="TextBox 116"/>
          <p:cNvSpPr txBox="1"/>
          <p:nvPr/>
        </p:nvSpPr>
        <p:spPr>
          <a:xfrm>
            <a:off x="11228832" y="22283928"/>
            <a:ext cx="7059168" cy="182880"/>
          </a:xfrm>
          <a:prstGeom prst="rect">
            <a:avLst/>
          </a:prstGeom>
          <a:noFill/>
        </p:spPr>
        <p:txBody>
          <a:bodyPr wrap="square"/>
          <a:lstStyle/>
          <a:p>
            <a:pPr algn="ctr">
              <a:spcBef>
                <a:spcPts val="0"/>
              </a:spcBef>
              <a:spcAft>
                <a:spcPts val="0"/>
              </a:spcAft>
              <a:defRPr sz="800" b="0" i="1">
                <a:solidFill>
                  <a:srgbClr val="0B1736"/>
                </a:solidFill>
                <a:latin typeface="Arial"/>
              </a:defRPr>
            </a:pPr>
            <a:r>
              <a:t>Before/after 3D renders</a:t>
            </a:r>
          </a:p>
        </p:txBody>
      </p:sp>
      <p:pic>
        <p:nvPicPr>
          <p:cNvPr id="118" name="Picture 117" descr="fig19_reference_table.png"/>
          <p:cNvPicPr>
            <a:picLocks noChangeAspect="1"/>
          </p:cNvPicPr>
          <p:nvPr/>
        </p:nvPicPr>
        <p:blipFill>
          <a:blip r:embed="rId14"/>
          <a:stretch>
            <a:fillRect/>
          </a:stretch>
        </p:blipFill>
        <p:spPr>
          <a:xfrm>
            <a:off x="12548307" y="22503384"/>
            <a:ext cx="4420217" cy="1828800"/>
          </a:xfrm>
          <a:prstGeom prst="rect">
            <a:avLst/>
          </a:prstGeom>
        </p:spPr>
      </p:pic>
      <p:sp>
        <p:nvSpPr>
          <p:cNvPr id="119" name="TextBox 118"/>
          <p:cNvSpPr txBox="1"/>
          <p:nvPr/>
        </p:nvSpPr>
        <p:spPr>
          <a:xfrm>
            <a:off x="11228832" y="24368760"/>
            <a:ext cx="7059168" cy="457200"/>
          </a:xfrm>
          <a:prstGeom prst="rect">
            <a:avLst/>
          </a:prstGeom>
          <a:noFill/>
        </p:spPr>
        <p:txBody>
          <a:bodyPr wrap="square"/>
          <a:lstStyle/>
          <a:p>
            <a:pPr algn="l">
              <a:spcBef>
                <a:spcPts val="0"/>
              </a:spcBef>
              <a:spcAft>
                <a:spcPts val="0"/>
              </a:spcAft>
              <a:defRPr sz="800" b="0" i="0">
                <a:solidFill>
                  <a:srgbClr val="0B1736"/>
                </a:solidFill>
                <a:latin typeface="Arial"/>
              </a:defRPr>
            </a:pPr>
            <a:r>
              <a:t>SASTO-PA achieves 10.7pp more reduction than SASTO-U (34.3%) by permitting 1-voxel interior walls.</a:t>
            </a:r>
          </a:p>
        </p:txBody>
      </p:sp>
      <p:sp>
        <p:nvSpPr>
          <p:cNvPr id="120" name="TextBox 119"/>
          <p:cNvSpPr txBox="1"/>
          <p:nvPr/>
        </p:nvSpPr>
        <p:spPr>
          <a:xfrm>
            <a:off x="18416016" y="19101816"/>
            <a:ext cx="7059168" cy="182880"/>
          </a:xfrm>
          <a:prstGeom prst="rect">
            <a:avLst/>
          </a:prstGeom>
          <a:noFill/>
        </p:spPr>
        <p:txBody>
          <a:bodyPr wrap="square"/>
          <a:lstStyle/>
          <a:p>
            <a:pPr algn="l">
              <a:spcBef>
                <a:spcPts val="0"/>
              </a:spcBef>
              <a:spcAft>
                <a:spcPts val="0"/>
              </a:spcAft>
              <a:defRPr sz="1100" b="1" i="0">
                <a:solidFill>
                  <a:srgbClr val="0B1736"/>
                </a:solidFill>
                <a:latin typeface="Arial"/>
              </a:defRPr>
            </a:pPr>
            <a:r>
              <a:t>1,114-Geometry Generalization</a:t>
            </a:r>
          </a:p>
        </p:txBody>
      </p:sp>
      <p:pic>
        <p:nvPicPr>
          <p:cNvPr id="121" name="Picture 120" descr="fig07_histogram.png"/>
          <p:cNvPicPr>
            <a:picLocks noChangeAspect="1"/>
          </p:cNvPicPr>
          <p:nvPr/>
        </p:nvPicPr>
        <p:blipFill>
          <a:blip r:embed="rId15"/>
          <a:stretch>
            <a:fillRect/>
          </a:stretch>
        </p:blipFill>
        <p:spPr>
          <a:xfrm>
            <a:off x="19751040" y="19321272"/>
            <a:ext cx="4389120" cy="2194560"/>
          </a:xfrm>
          <a:prstGeom prst="rect">
            <a:avLst/>
          </a:prstGeom>
        </p:spPr>
      </p:pic>
      <p:sp>
        <p:nvSpPr>
          <p:cNvPr id="122" name="TextBox 121"/>
          <p:cNvSpPr txBox="1"/>
          <p:nvPr/>
        </p:nvSpPr>
        <p:spPr>
          <a:xfrm>
            <a:off x="18416016" y="21552408"/>
            <a:ext cx="7059168" cy="182880"/>
          </a:xfrm>
          <a:prstGeom prst="rect">
            <a:avLst/>
          </a:prstGeom>
          <a:noFill/>
        </p:spPr>
        <p:txBody>
          <a:bodyPr wrap="square"/>
          <a:lstStyle/>
          <a:p>
            <a:pPr algn="ctr">
              <a:spcBef>
                <a:spcPts val="0"/>
              </a:spcBef>
              <a:spcAft>
                <a:spcPts val="0"/>
              </a:spcAft>
              <a:defRPr sz="800" b="0" i="1">
                <a:solidFill>
                  <a:srgbClr val="0B1736"/>
                </a:solidFill>
                <a:latin typeface="Arial"/>
              </a:defRPr>
            </a:pPr>
            <a:r>
              <a:t>Fig. 10. Volume reduction | n=1,114 | mu=23.5%+/-7.8%</a:t>
            </a:r>
          </a:p>
        </p:txBody>
      </p:sp>
      <p:sp>
        <p:nvSpPr>
          <p:cNvPr id="123" name="TextBox 122"/>
          <p:cNvSpPr txBox="1"/>
          <p:nvPr/>
        </p:nvSpPr>
        <p:spPr>
          <a:xfrm>
            <a:off x="18416016" y="21753576"/>
            <a:ext cx="7059168" cy="420624"/>
          </a:xfrm>
          <a:prstGeom prst="rect">
            <a:avLst/>
          </a:prstGeom>
          <a:noFill/>
        </p:spPr>
        <p:txBody>
          <a:bodyPr wrap="square"/>
          <a:lstStyle/>
          <a:p>
            <a:pPr algn="l">
              <a:spcBef>
                <a:spcPts val="0"/>
              </a:spcBef>
              <a:spcAft>
                <a:spcPts val="0"/>
              </a:spcAft>
              <a:defRPr sz="800" b="0" i="0">
                <a:solidFill>
                  <a:srgbClr val="0B1736"/>
                </a:solidFill>
                <a:latin typeface="Arial"/>
              </a:defRPr>
            </a:pPr>
            <a:r>
              <a:t>Across all 1,114 held-out test geometries, SASTO-PA achieves mean 23.5% +/- 7.8% material reduction. Maximum 45.0% on individual designs.</a:t>
            </a:r>
          </a:p>
        </p:txBody>
      </p:sp>
      <p:pic>
        <p:nvPicPr>
          <p:cNvPr id="124" name="Picture 123" descr="fig08_per_part.png"/>
          <p:cNvPicPr>
            <a:picLocks noChangeAspect="1"/>
          </p:cNvPicPr>
          <p:nvPr/>
        </p:nvPicPr>
        <p:blipFill>
          <a:blip r:embed="rId16"/>
          <a:stretch>
            <a:fillRect/>
          </a:stretch>
        </p:blipFill>
        <p:spPr>
          <a:xfrm>
            <a:off x="19750096" y="22210776"/>
            <a:ext cx="4391007" cy="1920240"/>
          </a:xfrm>
          <a:prstGeom prst="rect">
            <a:avLst/>
          </a:prstGeom>
        </p:spPr>
      </p:pic>
      <p:sp>
        <p:nvSpPr>
          <p:cNvPr id="125" name="TextBox 124"/>
          <p:cNvSpPr txBox="1"/>
          <p:nvPr/>
        </p:nvSpPr>
        <p:spPr>
          <a:xfrm>
            <a:off x="18416016" y="24167592"/>
            <a:ext cx="7059168" cy="182880"/>
          </a:xfrm>
          <a:prstGeom prst="rect">
            <a:avLst/>
          </a:prstGeom>
          <a:noFill/>
        </p:spPr>
        <p:txBody>
          <a:bodyPr wrap="square"/>
          <a:lstStyle/>
          <a:p>
            <a:pPr algn="ctr">
              <a:spcBef>
                <a:spcPts val="0"/>
              </a:spcBef>
              <a:spcAft>
                <a:spcPts val="0"/>
              </a:spcAft>
              <a:defRPr sz="800" b="0" i="1">
                <a:solidFill>
                  <a:srgbClr val="0B1736"/>
                </a:solidFill>
                <a:latin typeface="Arial"/>
              </a:defRPr>
            </a:pPr>
            <a:r>
              <a:t>Fig. 11. Per-part retention: load-bearing &gt;91%</a:t>
            </a:r>
          </a:p>
        </p:txBody>
      </p:sp>
      <p:sp>
        <p:nvSpPr>
          <p:cNvPr id="126" name="TextBox 125"/>
          <p:cNvSpPr txBox="1"/>
          <p:nvPr/>
        </p:nvSpPr>
        <p:spPr>
          <a:xfrm>
            <a:off x="18416016" y="24368760"/>
            <a:ext cx="7059168" cy="457200"/>
          </a:xfrm>
          <a:prstGeom prst="rect">
            <a:avLst/>
          </a:prstGeom>
          <a:noFill/>
        </p:spPr>
        <p:txBody>
          <a:bodyPr wrap="square"/>
          <a:lstStyle/>
          <a:p>
            <a:pPr algn="l">
              <a:spcBef>
                <a:spcPts val="0"/>
              </a:spcBef>
              <a:spcAft>
                <a:spcPts val="0"/>
              </a:spcAft>
              <a:defRPr sz="800" b="0" i="0">
                <a:solidFill>
                  <a:srgbClr val="0B1736"/>
                </a:solidFill>
                <a:latin typeface="Arial"/>
              </a:defRPr>
            </a:pPr>
            <a:r>
              <a:t>Exterior walls and roof retain &gt;91% of material (load-bearing). Interior walls are the primary target, consistent with non-structural classification.</a:t>
            </a:r>
          </a:p>
        </p:txBody>
      </p:sp>
      <p:sp>
        <p:nvSpPr>
          <p:cNvPr id="127" name="TextBox 126"/>
          <p:cNvSpPr txBox="1"/>
          <p:nvPr/>
        </p:nvSpPr>
        <p:spPr>
          <a:xfrm>
            <a:off x="25603200" y="19101816"/>
            <a:ext cx="7059168" cy="182880"/>
          </a:xfrm>
          <a:prstGeom prst="rect">
            <a:avLst/>
          </a:prstGeom>
          <a:noFill/>
        </p:spPr>
        <p:txBody>
          <a:bodyPr wrap="square"/>
          <a:lstStyle/>
          <a:p>
            <a:pPr algn="l">
              <a:spcBef>
                <a:spcPts val="0"/>
              </a:spcBef>
              <a:spcAft>
                <a:spcPts val="0"/>
              </a:spcAft>
              <a:defRPr sz="1100" b="1" i="0">
                <a:solidFill>
                  <a:srgbClr val="0B1736"/>
                </a:solidFill>
                <a:latin typeface="Arial"/>
              </a:defRPr>
            </a:pPr>
            <a:r>
              <a:t>Speedup vs. SIMP</a:t>
            </a:r>
          </a:p>
        </p:txBody>
      </p:sp>
      <p:pic>
        <p:nvPicPr>
          <p:cNvPr id="128" name="Picture 127" descr="fig09_speedup.png"/>
          <p:cNvPicPr>
            <a:picLocks noChangeAspect="1"/>
          </p:cNvPicPr>
          <p:nvPr/>
        </p:nvPicPr>
        <p:blipFill>
          <a:blip r:embed="rId17"/>
          <a:stretch>
            <a:fillRect/>
          </a:stretch>
        </p:blipFill>
        <p:spPr>
          <a:xfrm>
            <a:off x="26842450" y="19321272"/>
            <a:ext cx="4580667" cy="1828800"/>
          </a:xfrm>
          <a:prstGeom prst="rect">
            <a:avLst/>
          </a:prstGeom>
        </p:spPr>
      </p:pic>
      <p:sp>
        <p:nvSpPr>
          <p:cNvPr id="129" name="TextBox 128"/>
          <p:cNvSpPr txBox="1"/>
          <p:nvPr/>
        </p:nvSpPr>
        <p:spPr>
          <a:xfrm>
            <a:off x="25603200" y="21186648"/>
            <a:ext cx="7059168" cy="182880"/>
          </a:xfrm>
          <a:prstGeom prst="rect">
            <a:avLst/>
          </a:prstGeom>
          <a:noFill/>
        </p:spPr>
        <p:txBody>
          <a:bodyPr wrap="square"/>
          <a:lstStyle/>
          <a:p>
            <a:pPr algn="ctr">
              <a:spcBef>
                <a:spcPts val="0"/>
              </a:spcBef>
              <a:spcAft>
                <a:spcPts val="0"/>
              </a:spcAft>
              <a:defRPr sz="800" b="0" i="1">
                <a:solidFill>
                  <a:srgbClr val="0B1736"/>
                </a:solidFill>
                <a:latin typeface="Arial"/>
              </a:defRPr>
            </a:pPr>
            <a:r>
              <a:t>Fig. 12. SIMP 64^3: 94s vs SASTO 128^3: 50s</a:t>
            </a:r>
          </a:p>
        </p:txBody>
      </p:sp>
      <p:sp>
        <p:nvSpPr>
          <p:cNvPr id="130" name="TextBox 129"/>
          <p:cNvSpPr txBox="1"/>
          <p:nvPr/>
        </p:nvSpPr>
        <p:spPr>
          <a:xfrm>
            <a:off x="25603200" y="21387816"/>
            <a:ext cx="7059168" cy="365760"/>
          </a:xfrm>
          <a:prstGeom prst="rect">
            <a:avLst/>
          </a:prstGeom>
          <a:noFill/>
        </p:spPr>
        <p:txBody>
          <a:bodyPr wrap="square"/>
          <a:lstStyle/>
          <a:p>
            <a:pPr algn="l">
              <a:spcBef>
                <a:spcPts val="0"/>
              </a:spcBef>
              <a:spcAft>
                <a:spcPts val="0"/>
              </a:spcAft>
              <a:defRPr sz="800" b="0" i="0">
                <a:solidFill>
                  <a:srgbClr val="0B1736"/>
                </a:solidFill>
                <a:latin typeface="Arial"/>
              </a:defRPr>
            </a:pPr>
            <a:r>
              <a:t>SASTO at 128^3 (median 50s, consumer GPU) vs. SIMP at 64^3 (94s) and 128^3 (77 min).</a:t>
            </a:r>
          </a:p>
        </p:txBody>
      </p:sp>
      <p:sp>
        <p:nvSpPr>
          <p:cNvPr id="131" name="TextBox 130"/>
          <p:cNvSpPr txBox="1"/>
          <p:nvPr/>
        </p:nvSpPr>
        <p:spPr>
          <a:xfrm>
            <a:off x="25603200" y="21790152"/>
            <a:ext cx="7059168" cy="182880"/>
          </a:xfrm>
          <a:prstGeom prst="rect">
            <a:avLst/>
          </a:prstGeom>
          <a:noFill/>
        </p:spPr>
        <p:txBody>
          <a:bodyPr wrap="square"/>
          <a:lstStyle/>
          <a:p>
            <a:pPr algn="l">
              <a:spcBef>
                <a:spcPts val="0"/>
              </a:spcBef>
              <a:spcAft>
                <a:spcPts val="0"/>
              </a:spcAft>
              <a:defRPr sz="1100" b="1" i="0">
                <a:solidFill>
                  <a:srgbClr val="0B1736"/>
                </a:solidFill>
                <a:latin typeface="Arial"/>
              </a:defRPr>
            </a:pPr>
            <a:r>
              <a:t>Independent FEA Re-analysis (n=1,114)</a:t>
            </a:r>
          </a:p>
        </p:txBody>
      </p:sp>
      <p:pic>
        <p:nvPicPr>
          <p:cNvPr id="132" name="Picture 131" descr="fig10_fea_compliance.png"/>
          <p:cNvPicPr>
            <a:picLocks noChangeAspect="1"/>
          </p:cNvPicPr>
          <p:nvPr/>
        </p:nvPicPr>
        <p:blipFill>
          <a:blip r:embed="rId18"/>
          <a:stretch>
            <a:fillRect/>
          </a:stretch>
        </p:blipFill>
        <p:spPr>
          <a:xfrm>
            <a:off x="27066915" y="22009608"/>
            <a:ext cx="4131736" cy="2103120"/>
          </a:xfrm>
          <a:prstGeom prst="rect">
            <a:avLst/>
          </a:prstGeom>
        </p:spPr>
      </p:pic>
      <p:sp>
        <p:nvSpPr>
          <p:cNvPr id="133" name="Rounded Rectangle 132"/>
          <p:cNvSpPr/>
          <p:nvPr/>
        </p:nvSpPr>
        <p:spPr>
          <a:xfrm>
            <a:off x="25658064" y="22101048"/>
            <a:ext cx="1371600" cy="182880"/>
          </a:xfrm>
          <a:prstGeom prst="roundRect">
            <a:avLst>
              <a:gd name="adj" fmla="val 30000"/>
            </a:avLst>
          </a:prstGeom>
          <a:solidFill>
            <a:srgbClr val="008C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TextBox 133"/>
          <p:cNvSpPr txBox="1"/>
          <p:nvPr/>
        </p:nvSpPr>
        <p:spPr>
          <a:xfrm>
            <a:off x="25658064" y="22101048"/>
            <a:ext cx="1371600" cy="182880"/>
          </a:xfrm>
          <a:prstGeom prst="rect">
            <a:avLst/>
          </a:prstGeom>
          <a:noFill/>
        </p:spPr>
        <p:txBody>
          <a:bodyPr wrap="square"/>
          <a:lstStyle/>
          <a:p>
            <a:pPr algn="ctr">
              <a:spcBef>
                <a:spcPts val="0"/>
              </a:spcBef>
              <a:spcAft>
                <a:spcPts val="0"/>
              </a:spcAft>
              <a:defRPr sz="900" b="1" i="0">
                <a:solidFill>
                  <a:srgbClr val="FFFFFF"/>
                </a:solidFill>
                <a:latin typeface="Arial"/>
              </a:defRPr>
            </a:pPr>
            <a:r>
              <a:t>0/1,114 violations</a:t>
            </a:r>
          </a:p>
        </p:txBody>
      </p:sp>
      <p:sp>
        <p:nvSpPr>
          <p:cNvPr id="135" name="Rounded Rectangle 134"/>
          <p:cNvSpPr/>
          <p:nvPr/>
        </p:nvSpPr>
        <p:spPr>
          <a:xfrm>
            <a:off x="25658064" y="22320504"/>
            <a:ext cx="1463040" cy="182880"/>
          </a:xfrm>
          <a:prstGeom prst="roundRect">
            <a:avLst>
              <a:gd name="adj" fmla="val 30000"/>
            </a:avLst>
          </a:prstGeom>
          <a:solidFill>
            <a:srgbClr val="008C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TextBox 135"/>
          <p:cNvSpPr txBox="1"/>
          <p:nvPr/>
        </p:nvSpPr>
        <p:spPr>
          <a:xfrm>
            <a:off x="25658064" y="22320504"/>
            <a:ext cx="1463040" cy="182880"/>
          </a:xfrm>
          <a:prstGeom prst="rect">
            <a:avLst/>
          </a:prstGeom>
          <a:noFill/>
        </p:spPr>
        <p:txBody>
          <a:bodyPr wrap="square"/>
          <a:lstStyle/>
          <a:p>
            <a:pPr algn="ctr">
              <a:spcBef>
                <a:spcPts val="0"/>
              </a:spcBef>
              <a:spcAft>
                <a:spcPts val="0"/>
              </a:spcAft>
              <a:defRPr sz="900" b="1" i="0">
                <a:solidFill>
                  <a:srgbClr val="FFFFFF"/>
                </a:solidFill>
                <a:latin typeface="Arial"/>
              </a:defRPr>
            </a:pPr>
            <a:r>
              <a:t>P(violation) &lt;= 0.09%</a:t>
            </a:r>
          </a:p>
        </p:txBody>
      </p:sp>
      <p:sp>
        <p:nvSpPr>
          <p:cNvPr id="137" name="TextBox 136"/>
          <p:cNvSpPr txBox="1"/>
          <p:nvPr/>
        </p:nvSpPr>
        <p:spPr>
          <a:xfrm>
            <a:off x="25603200" y="24149304"/>
            <a:ext cx="7059168" cy="182880"/>
          </a:xfrm>
          <a:prstGeom prst="rect">
            <a:avLst/>
          </a:prstGeom>
          <a:noFill/>
        </p:spPr>
        <p:txBody>
          <a:bodyPr wrap="square"/>
          <a:lstStyle/>
          <a:p>
            <a:pPr algn="ctr">
              <a:spcBef>
                <a:spcPts val="0"/>
              </a:spcBef>
              <a:spcAft>
                <a:spcPts val="0"/>
              </a:spcAft>
              <a:defRPr sz="800" b="0" i="1">
                <a:solidFill>
                  <a:srgbClr val="0B1736"/>
                </a:solidFill>
                <a:latin typeface="Arial"/>
              </a:defRPr>
            </a:pPr>
            <a:r>
              <a:t>Fig. 13. All C_opt/C_base &lt;= 1.15. Max: 1.004</a:t>
            </a:r>
          </a:p>
        </p:txBody>
      </p:sp>
      <p:sp>
        <p:nvSpPr>
          <p:cNvPr id="138" name="TextBox 137"/>
          <p:cNvSpPr txBox="1"/>
          <p:nvPr/>
        </p:nvSpPr>
        <p:spPr>
          <a:xfrm>
            <a:off x="25603200" y="24350472"/>
            <a:ext cx="7059168" cy="457200"/>
          </a:xfrm>
          <a:prstGeom prst="rect">
            <a:avLst/>
          </a:prstGeom>
          <a:noFill/>
        </p:spPr>
        <p:txBody>
          <a:bodyPr wrap="square"/>
          <a:lstStyle/>
          <a:p>
            <a:pPr algn="l">
              <a:spcBef>
                <a:spcPts val="0"/>
              </a:spcBef>
              <a:spcAft>
                <a:spcPts val="0"/>
              </a:spcAft>
              <a:defRPr sz="800" b="0" i="0">
                <a:solidFill>
                  <a:srgbClr val="0B1736"/>
                </a:solidFill>
                <a:latin typeface="Arial"/>
              </a:defRPr>
            </a:pPr>
            <a:r>
              <a:t>Same-method FEA reanalysis on all 1,114 optimized designs: zero violations. Max compliance ratio = 1.004 (vs 1.15 limit). Confirms surrogate conservatism.</a:t>
            </a:r>
          </a:p>
        </p:txBody>
      </p:sp>
      <p:sp>
        <p:nvSpPr>
          <p:cNvPr id="139" name="Rounded Rectangle 138"/>
          <p:cNvSpPr/>
          <p:nvPr/>
        </p:nvSpPr>
        <p:spPr>
          <a:xfrm>
            <a:off x="11228832" y="31565087"/>
            <a:ext cx="21433536" cy="1097280"/>
          </a:xfrm>
          <a:prstGeom prst="roundRect">
            <a:avLst>
              <a:gd name="adj" fmla="val 30000"/>
            </a:avLst>
          </a:prstGeom>
          <a:solidFill>
            <a:srgbClr val="0A3D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0" name="Picture 139" descr="fig20_stats_banner.png"/>
          <p:cNvPicPr>
            <a:picLocks noChangeAspect="1"/>
          </p:cNvPicPr>
          <p:nvPr/>
        </p:nvPicPr>
        <p:blipFill>
          <a:blip r:embed="rId19"/>
          <a:stretch>
            <a:fillRect/>
          </a:stretch>
        </p:blipFill>
        <p:spPr>
          <a:xfrm>
            <a:off x="15362906" y="31565087"/>
            <a:ext cx="13165386" cy="1097280"/>
          </a:xfrm>
          <a:prstGeom prst="rect">
            <a:avLst/>
          </a:prstGeom>
        </p:spPr>
      </p:pic>
      <p:sp>
        <p:nvSpPr>
          <p:cNvPr id="141" name="Rounded Rectangle 140"/>
          <p:cNvSpPr/>
          <p:nvPr/>
        </p:nvSpPr>
        <p:spPr>
          <a:xfrm>
            <a:off x="33082992" y="3063240"/>
            <a:ext cx="10643616" cy="411480"/>
          </a:xfrm>
          <a:prstGeom prst="roundRect">
            <a:avLst>
              <a:gd name="adj" fmla="val 15000"/>
            </a:avLst>
          </a:prstGeom>
          <a:solidFill>
            <a:srgbClr val="0A3D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TextBox 141"/>
          <p:cNvSpPr txBox="1"/>
          <p:nvPr/>
        </p:nvSpPr>
        <p:spPr>
          <a:xfrm>
            <a:off x="33082992" y="3063240"/>
            <a:ext cx="10643616" cy="411480"/>
          </a:xfrm>
          <a:prstGeom prst="rect">
            <a:avLst/>
          </a:prstGeom>
          <a:noFill/>
        </p:spPr>
        <p:txBody>
          <a:bodyPr wrap="square"/>
          <a:lstStyle/>
          <a:p>
            <a:pPr algn="ctr">
              <a:spcBef>
                <a:spcPts val="0"/>
              </a:spcBef>
              <a:spcAft>
                <a:spcPts val="0"/>
              </a:spcAft>
              <a:defRPr sz="2800" b="1" i="0">
                <a:solidFill>
                  <a:srgbClr val="FFFFFF"/>
                </a:solidFill>
                <a:latin typeface="Arial Black"/>
              </a:defRPr>
            </a:pPr>
            <a:r>
              <a:t>STATISTICAL ANALYSIS</a:t>
            </a:r>
          </a:p>
        </p:txBody>
      </p:sp>
      <p:sp>
        <p:nvSpPr>
          <p:cNvPr id="143" name="Rounded Rectangle 142"/>
          <p:cNvSpPr/>
          <p:nvPr/>
        </p:nvSpPr>
        <p:spPr>
          <a:xfrm>
            <a:off x="33082992" y="3474720"/>
            <a:ext cx="10643616" cy="12984480"/>
          </a:xfrm>
          <a:prstGeom prst="roundRect">
            <a:avLst>
              <a:gd name="adj" fmla="val 40000"/>
            </a:avLst>
          </a:prstGeom>
          <a:solidFill>
            <a:srgbClr val="F7F9FC"/>
          </a:solidFill>
          <a:ln w="12700">
            <a:solidFill>
              <a:srgbClr val="B7C5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TextBox 143"/>
          <p:cNvSpPr txBox="1"/>
          <p:nvPr/>
        </p:nvSpPr>
        <p:spPr>
          <a:xfrm>
            <a:off x="33174432" y="3566160"/>
            <a:ext cx="10460736" cy="182880"/>
          </a:xfrm>
          <a:prstGeom prst="rect">
            <a:avLst/>
          </a:prstGeom>
          <a:noFill/>
        </p:spPr>
        <p:txBody>
          <a:bodyPr wrap="square"/>
          <a:lstStyle/>
          <a:p>
            <a:pPr algn="l">
              <a:spcBef>
                <a:spcPts val="0"/>
              </a:spcBef>
              <a:spcAft>
                <a:spcPts val="0"/>
              </a:spcAft>
              <a:defRPr sz="1200" b="1" i="0">
                <a:solidFill>
                  <a:srgbClr val="0B1736"/>
                </a:solidFill>
                <a:latin typeface="Arial"/>
              </a:defRPr>
            </a:pPr>
            <a:r>
              <a:t>Surrogate Model Performance</a:t>
            </a:r>
          </a:p>
        </p:txBody>
      </p:sp>
      <p:pic>
        <p:nvPicPr>
          <p:cNvPr id="145" name="Picture 144" descr="fig15_surrogate_table.png"/>
          <p:cNvPicPr>
            <a:picLocks noChangeAspect="1"/>
          </p:cNvPicPr>
          <p:nvPr/>
        </p:nvPicPr>
        <p:blipFill>
          <a:blip r:embed="rId20"/>
          <a:stretch>
            <a:fillRect/>
          </a:stretch>
        </p:blipFill>
        <p:spPr>
          <a:xfrm>
            <a:off x="35855745" y="3767328"/>
            <a:ext cx="5098109" cy="1280160"/>
          </a:xfrm>
          <a:prstGeom prst="rect">
            <a:avLst/>
          </a:prstGeom>
        </p:spPr>
      </p:pic>
      <p:sp>
        <p:nvSpPr>
          <p:cNvPr id="146" name="Rounded Rectangle 145"/>
          <p:cNvSpPr/>
          <p:nvPr/>
        </p:nvSpPr>
        <p:spPr>
          <a:xfrm>
            <a:off x="33174432" y="5084064"/>
            <a:ext cx="10460736" cy="310896"/>
          </a:xfrm>
          <a:prstGeom prst="roundRect">
            <a:avLst>
              <a:gd name="adj" fmla="val 20000"/>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TextBox 146"/>
          <p:cNvSpPr txBox="1"/>
          <p:nvPr/>
        </p:nvSpPr>
        <p:spPr>
          <a:xfrm>
            <a:off x="33229296" y="5120640"/>
            <a:ext cx="10351008" cy="237744"/>
          </a:xfrm>
          <a:prstGeom prst="rect">
            <a:avLst/>
          </a:prstGeom>
          <a:noFill/>
        </p:spPr>
        <p:txBody>
          <a:bodyPr wrap="square"/>
          <a:lstStyle/>
          <a:p>
            <a:pPr algn="ctr">
              <a:spcBef>
                <a:spcPts val="0"/>
              </a:spcBef>
              <a:spcAft>
                <a:spcPts val="0"/>
              </a:spcAft>
              <a:defRPr sz="800" b="0" i="0">
                <a:solidFill>
                  <a:srgbClr val="0B1736"/>
                </a:solidFill>
                <a:latin typeface="Arial"/>
              </a:defRPr>
            </a:pPr>
            <a:r>
              <a:t>Ranking accuracy (Spearman rho), not pointwise prediction, drives optimization safety. Compliance rho=0.948 -&gt; correct voxel ordering for removal.</a:t>
            </a:r>
          </a:p>
        </p:txBody>
      </p:sp>
      <p:sp>
        <p:nvSpPr>
          <p:cNvPr id="148" name="TextBox 147"/>
          <p:cNvSpPr txBox="1"/>
          <p:nvPr/>
        </p:nvSpPr>
        <p:spPr>
          <a:xfrm>
            <a:off x="33174432" y="5431536"/>
            <a:ext cx="10460736" cy="182880"/>
          </a:xfrm>
          <a:prstGeom prst="rect">
            <a:avLst/>
          </a:prstGeom>
          <a:noFill/>
        </p:spPr>
        <p:txBody>
          <a:bodyPr wrap="square"/>
          <a:lstStyle/>
          <a:p>
            <a:pPr algn="l">
              <a:spcBef>
                <a:spcPts val="0"/>
              </a:spcBef>
              <a:spcAft>
                <a:spcPts val="0"/>
              </a:spcAft>
              <a:defRPr sz="1200" b="1" i="0">
                <a:solidFill>
                  <a:srgbClr val="0B1736"/>
                </a:solidFill>
                <a:latin typeface="Arial"/>
              </a:defRPr>
            </a:pPr>
            <a:r>
              <a:t>Optimization Convergence</a:t>
            </a:r>
          </a:p>
        </p:txBody>
      </p:sp>
      <p:pic>
        <p:nvPicPr>
          <p:cNvPr id="149" name="Picture 148" descr="fig11_convergence.png"/>
          <p:cNvPicPr>
            <a:picLocks noChangeAspect="1"/>
          </p:cNvPicPr>
          <p:nvPr/>
        </p:nvPicPr>
        <p:blipFill>
          <a:blip r:embed="rId21"/>
          <a:stretch>
            <a:fillRect/>
          </a:stretch>
        </p:blipFill>
        <p:spPr>
          <a:xfrm>
            <a:off x="35556556" y="5632704"/>
            <a:ext cx="5696487" cy="2103120"/>
          </a:xfrm>
          <a:prstGeom prst="rect">
            <a:avLst/>
          </a:prstGeom>
        </p:spPr>
      </p:pic>
      <p:sp>
        <p:nvSpPr>
          <p:cNvPr id="150" name="TextBox 149"/>
          <p:cNvSpPr txBox="1"/>
          <p:nvPr/>
        </p:nvSpPr>
        <p:spPr>
          <a:xfrm>
            <a:off x="33174432" y="7772400"/>
            <a:ext cx="10460736" cy="182880"/>
          </a:xfrm>
          <a:prstGeom prst="rect">
            <a:avLst/>
          </a:prstGeom>
          <a:noFill/>
        </p:spPr>
        <p:txBody>
          <a:bodyPr wrap="square"/>
          <a:lstStyle/>
          <a:p>
            <a:pPr algn="ctr">
              <a:spcBef>
                <a:spcPts val="0"/>
              </a:spcBef>
              <a:spcAft>
                <a:spcPts val="0"/>
              </a:spcAft>
              <a:defRPr sz="800" b="0" i="1">
                <a:solidFill>
                  <a:srgbClr val="0B1736"/>
                </a:solidFill>
                <a:latin typeface="Arial"/>
              </a:defRPr>
            </a:pPr>
            <a:r>
              <a:t>Fig. 14. SASTO-PA (teal) vs. SASTO-U (gold)</a:t>
            </a:r>
          </a:p>
        </p:txBody>
      </p:sp>
      <p:sp>
        <p:nvSpPr>
          <p:cNvPr id="151" name="TextBox 150"/>
          <p:cNvSpPr txBox="1"/>
          <p:nvPr/>
        </p:nvSpPr>
        <p:spPr>
          <a:xfrm>
            <a:off x="33174432" y="7973568"/>
            <a:ext cx="10460736" cy="329184"/>
          </a:xfrm>
          <a:prstGeom prst="rect">
            <a:avLst/>
          </a:prstGeom>
          <a:noFill/>
        </p:spPr>
        <p:txBody>
          <a:bodyPr wrap="square"/>
          <a:lstStyle/>
          <a:p>
            <a:pPr algn="l">
              <a:spcBef>
                <a:spcPts val="0"/>
              </a:spcBef>
              <a:spcAft>
                <a:spcPts val="0"/>
              </a:spcAft>
              <a:defRPr sz="800" b="0" i="0">
                <a:solidFill>
                  <a:srgbClr val="0B1736"/>
                </a:solidFill>
                <a:latin typeface="Arial"/>
              </a:defRPr>
            </a:pPr>
            <a:r>
              <a:t>SASTO-PA converges to 45.0% reduction vs SASTO-U at 34.3%. Phase 1 removes &gt;99% of material in large batches; Phases 2-3 squeeze remaining feasible voxels.</a:t>
            </a:r>
          </a:p>
        </p:txBody>
      </p:sp>
      <p:sp>
        <p:nvSpPr>
          <p:cNvPr id="152" name="TextBox 151"/>
          <p:cNvSpPr txBox="1"/>
          <p:nvPr/>
        </p:nvSpPr>
        <p:spPr>
          <a:xfrm>
            <a:off x="33174432" y="8339328"/>
            <a:ext cx="10460736" cy="182880"/>
          </a:xfrm>
          <a:prstGeom prst="rect">
            <a:avLst/>
          </a:prstGeom>
          <a:noFill/>
        </p:spPr>
        <p:txBody>
          <a:bodyPr wrap="square"/>
          <a:lstStyle/>
          <a:p>
            <a:pPr algn="l">
              <a:spcBef>
                <a:spcPts val="0"/>
              </a:spcBef>
              <a:spcAft>
                <a:spcPts val="0"/>
              </a:spcAft>
              <a:defRPr sz="1200" b="1" i="0">
                <a:solidFill>
                  <a:srgbClr val="0B1736"/>
                </a:solidFill>
                <a:latin typeface="Arial"/>
              </a:defRPr>
            </a:pPr>
            <a:r>
              <a:t>k-Factor Sensitivity (Pareto Frontier)</a:t>
            </a:r>
          </a:p>
        </p:txBody>
      </p:sp>
      <p:pic>
        <p:nvPicPr>
          <p:cNvPr id="153" name="Picture 152" descr="fig12_k_factor.png"/>
          <p:cNvPicPr>
            <a:picLocks noChangeAspect="1"/>
          </p:cNvPicPr>
          <p:nvPr/>
        </p:nvPicPr>
        <p:blipFill>
          <a:blip r:embed="rId22"/>
          <a:stretch>
            <a:fillRect/>
          </a:stretch>
        </p:blipFill>
        <p:spPr>
          <a:xfrm>
            <a:off x="35335028" y="8540496"/>
            <a:ext cx="6139542" cy="1828800"/>
          </a:xfrm>
          <a:prstGeom prst="rect">
            <a:avLst/>
          </a:prstGeom>
        </p:spPr>
      </p:pic>
      <p:sp>
        <p:nvSpPr>
          <p:cNvPr id="154" name="Rounded Rectangle 153"/>
          <p:cNvSpPr/>
          <p:nvPr/>
        </p:nvSpPr>
        <p:spPr>
          <a:xfrm>
            <a:off x="37673280" y="9637776"/>
            <a:ext cx="1463040" cy="182880"/>
          </a:xfrm>
          <a:prstGeom prst="roundRect">
            <a:avLst>
              <a:gd name="adj" fmla="val 30000"/>
            </a:avLst>
          </a:prstGeom>
          <a:solidFill>
            <a:srgbClr val="CFA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TextBox 154"/>
          <p:cNvSpPr txBox="1"/>
          <p:nvPr/>
        </p:nvSpPr>
        <p:spPr>
          <a:xfrm>
            <a:off x="37673280" y="9637776"/>
            <a:ext cx="1463040" cy="182880"/>
          </a:xfrm>
          <a:prstGeom prst="rect">
            <a:avLst/>
          </a:prstGeom>
          <a:noFill/>
        </p:spPr>
        <p:txBody>
          <a:bodyPr wrap="square"/>
          <a:lstStyle/>
          <a:p>
            <a:pPr algn="ctr">
              <a:spcBef>
                <a:spcPts val="0"/>
              </a:spcBef>
              <a:spcAft>
                <a:spcPts val="0"/>
              </a:spcAft>
              <a:defRPr sz="900" b="1" i="0">
                <a:solidFill>
                  <a:srgbClr val="FFFFFF"/>
                </a:solidFill>
                <a:latin typeface="Arial"/>
              </a:defRPr>
            </a:pPr>
            <a:r>
              <a:t>k=1.0 Operating Point</a:t>
            </a:r>
          </a:p>
        </p:txBody>
      </p:sp>
      <p:sp>
        <p:nvSpPr>
          <p:cNvPr id="156" name="TextBox 155"/>
          <p:cNvSpPr txBox="1"/>
          <p:nvPr/>
        </p:nvSpPr>
        <p:spPr>
          <a:xfrm>
            <a:off x="33174432" y="10405872"/>
            <a:ext cx="10460736" cy="182880"/>
          </a:xfrm>
          <a:prstGeom prst="rect">
            <a:avLst/>
          </a:prstGeom>
          <a:noFill/>
        </p:spPr>
        <p:txBody>
          <a:bodyPr wrap="square"/>
          <a:lstStyle/>
          <a:p>
            <a:pPr algn="ctr">
              <a:spcBef>
                <a:spcPts val="0"/>
              </a:spcBef>
              <a:spcAft>
                <a:spcPts val="0"/>
              </a:spcAft>
              <a:defRPr sz="800" b="0" i="1">
                <a:solidFill>
                  <a:srgbClr val="0B1736"/>
                </a:solidFill>
                <a:latin typeface="Arial"/>
              </a:defRPr>
            </a:pPr>
            <a:r>
              <a:t>Fig. 15. Non-monotonic Pareto: both gate stringency and budget depend on k</a:t>
            </a:r>
          </a:p>
        </p:txBody>
      </p:sp>
      <p:sp>
        <p:nvSpPr>
          <p:cNvPr id="157" name="TextBox 156"/>
          <p:cNvSpPr txBox="1"/>
          <p:nvPr/>
        </p:nvSpPr>
        <p:spPr>
          <a:xfrm>
            <a:off x="33174432" y="10607040"/>
            <a:ext cx="10460736" cy="329184"/>
          </a:xfrm>
          <a:prstGeom prst="rect">
            <a:avLst/>
          </a:prstGeom>
          <a:noFill/>
        </p:spPr>
        <p:txBody>
          <a:bodyPr wrap="square"/>
          <a:lstStyle/>
          <a:p>
            <a:pPr algn="l">
              <a:spcBef>
                <a:spcPts val="0"/>
              </a:spcBef>
              <a:spcAft>
                <a:spcPts val="0"/>
              </a:spcAft>
              <a:defRPr sz="800" b="0" i="0">
                <a:solidFill>
                  <a:srgbClr val="0B1736"/>
                </a:solidFill>
                <a:latin typeface="Arial"/>
              </a:defRPr>
            </a:pPr>
            <a:r>
              <a:t>k&lt;0.5: under-conservative, risks violations. k&gt;2.0: over-conservative, less removal. k=1.0 achieves Pareto-optimal: max reduction with zero violations.</a:t>
            </a:r>
          </a:p>
        </p:txBody>
      </p:sp>
      <p:sp>
        <p:nvSpPr>
          <p:cNvPr id="158" name="TextBox 157"/>
          <p:cNvSpPr txBox="1"/>
          <p:nvPr/>
        </p:nvSpPr>
        <p:spPr>
          <a:xfrm>
            <a:off x="33174432" y="10972800"/>
            <a:ext cx="10460736" cy="182880"/>
          </a:xfrm>
          <a:prstGeom prst="rect">
            <a:avLst/>
          </a:prstGeom>
          <a:noFill/>
        </p:spPr>
        <p:txBody>
          <a:bodyPr wrap="square"/>
          <a:lstStyle/>
          <a:p>
            <a:pPr algn="l">
              <a:spcBef>
                <a:spcPts val="0"/>
              </a:spcBef>
              <a:spcAft>
                <a:spcPts val="0"/>
              </a:spcAft>
              <a:defRPr sz="1200" b="1" i="0">
                <a:solidFill>
                  <a:srgbClr val="0B1736"/>
                </a:solidFill>
                <a:latin typeface="Arial"/>
              </a:defRPr>
            </a:pPr>
            <a:r>
              <a:t>Conformal Prediction &amp; UQ</a:t>
            </a:r>
          </a:p>
        </p:txBody>
      </p:sp>
      <p:pic>
        <p:nvPicPr>
          <p:cNvPr id="159" name="Picture 158" descr="fig13_uncertainty.png"/>
          <p:cNvPicPr>
            <a:picLocks noChangeAspect="1"/>
          </p:cNvPicPr>
          <p:nvPr/>
        </p:nvPicPr>
        <p:blipFill>
          <a:blip r:embed="rId23"/>
          <a:stretch>
            <a:fillRect/>
          </a:stretch>
        </p:blipFill>
        <p:spPr>
          <a:xfrm>
            <a:off x="35573098" y="11173968"/>
            <a:ext cx="5663403" cy="1645920"/>
          </a:xfrm>
          <a:prstGeom prst="rect">
            <a:avLst/>
          </a:prstGeom>
        </p:spPr>
      </p:pic>
      <p:sp>
        <p:nvSpPr>
          <p:cNvPr id="160" name="TextBox 159"/>
          <p:cNvSpPr txBox="1"/>
          <p:nvPr/>
        </p:nvSpPr>
        <p:spPr>
          <a:xfrm>
            <a:off x="33174432" y="12856464"/>
            <a:ext cx="10460736" cy="182880"/>
          </a:xfrm>
          <a:prstGeom prst="rect">
            <a:avLst/>
          </a:prstGeom>
          <a:noFill/>
        </p:spPr>
        <p:txBody>
          <a:bodyPr wrap="square"/>
          <a:lstStyle/>
          <a:p>
            <a:pPr algn="ctr">
              <a:spcBef>
                <a:spcPts val="0"/>
              </a:spcBef>
              <a:spcAft>
                <a:spcPts val="0"/>
              </a:spcAft>
              <a:defRPr sz="800" b="0" i="1">
                <a:solidFill>
                  <a:srgbClr val="0B1736"/>
                </a:solidFill>
                <a:latin typeface="Arial"/>
              </a:defRPr>
            </a:pPr>
            <a:r>
              <a:t>Fig. 16. Uncertainty bands. Gamma_D ~ 0.184 (sub-linear)</a:t>
            </a:r>
          </a:p>
        </p:txBody>
      </p:sp>
      <p:sp>
        <p:nvSpPr>
          <p:cNvPr id="161" name="TextBox 160"/>
          <p:cNvSpPr txBox="1"/>
          <p:nvPr/>
        </p:nvSpPr>
        <p:spPr>
          <a:xfrm>
            <a:off x="33174432" y="13057632"/>
            <a:ext cx="10460736" cy="457200"/>
          </a:xfrm>
          <a:prstGeom prst="rect">
            <a:avLst/>
          </a:prstGeom>
          <a:noFill/>
        </p:spPr>
        <p:txBody>
          <a:bodyPr wrap="square"/>
          <a:lstStyle/>
          <a:p>
            <a:pPr algn="l">
              <a:spcBef>
                <a:spcPts val="0"/>
              </a:spcBef>
              <a:spcAft>
                <a:spcPts val="0"/>
              </a:spcAft>
              <a:defRPr sz="800" b="0" i="0">
                <a:solidFill>
                  <a:srgbClr val="0B1736"/>
                </a:solidFill>
                <a:latin typeface="Arial"/>
              </a:defRPr>
            </a:pPr>
            <a:r>
              <a:t>Ensemble disagreement D(phi) tracks distribution shift as material is removed. Gamma_D ~ 0.184 = sub-linear growth. Distribution-free conformal: P(violation) &lt;= 0.09% (Clopper-Pearson, alpha=0.05, n=1,114). Ensemble residuals heavier-tailed than Gaussian.</a:t>
            </a:r>
          </a:p>
        </p:txBody>
      </p:sp>
      <p:sp>
        <p:nvSpPr>
          <p:cNvPr id="162" name="Rounded Rectangle 161"/>
          <p:cNvSpPr/>
          <p:nvPr/>
        </p:nvSpPr>
        <p:spPr>
          <a:xfrm>
            <a:off x="33082992" y="16495776"/>
            <a:ext cx="10643616" cy="411480"/>
          </a:xfrm>
          <a:prstGeom prst="roundRect">
            <a:avLst>
              <a:gd name="adj" fmla="val 15000"/>
            </a:avLst>
          </a:prstGeom>
          <a:solidFill>
            <a:srgbClr val="0A3D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TextBox 162"/>
          <p:cNvSpPr txBox="1"/>
          <p:nvPr/>
        </p:nvSpPr>
        <p:spPr>
          <a:xfrm>
            <a:off x="33082992" y="16495776"/>
            <a:ext cx="10643616" cy="411480"/>
          </a:xfrm>
          <a:prstGeom prst="rect">
            <a:avLst/>
          </a:prstGeom>
          <a:noFill/>
        </p:spPr>
        <p:txBody>
          <a:bodyPr wrap="square"/>
          <a:lstStyle/>
          <a:p>
            <a:pPr algn="ctr">
              <a:spcBef>
                <a:spcPts val="0"/>
              </a:spcBef>
              <a:spcAft>
                <a:spcPts val="0"/>
              </a:spcAft>
              <a:defRPr sz="2800" b="1" i="0">
                <a:solidFill>
                  <a:srgbClr val="FFFFFF"/>
                </a:solidFill>
                <a:latin typeface="Arial Black"/>
              </a:defRPr>
            </a:pPr>
            <a:r>
              <a:t>CONCLUSIONS</a:t>
            </a:r>
          </a:p>
        </p:txBody>
      </p:sp>
      <p:sp>
        <p:nvSpPr>
          <p:cNvPr id="164" name="Rounded Rectangle 163"/>
          <p:cNvSpPr/>
          <p:nvPr/>
        </p:nvSpPr>
        <p:spPr>
          <a:xfrm>
            <a:off x="33082992" y="16907256"/>
            <a:ext cx="10643616" cy="5303520"/>
          </a:xfrm>
          <a:prstGeom prst="roundRect">
            <a:avLst>
              <a:gd name="adj" fmla="val 40000"/>
            </a:avLst>
          </a:prstGeom>
          <a:solidFill>
            <a:srgbClr val="F7F9FC"/>
          </a:solidFill>
          <a:ln w="12700">
            <a:solidFill>
              <a:srgbClr val="B7C5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Rounded Rectangle 164"/>
          <p:cNvSpPr/>
          <p:nvPr/>
        </p:nvSpPr>
        <p:spPr>
          <a:xfrm>
            <a:off x="33174432" y="16998696"/>
            <a:ext cx="201168" cy="201168"/>
          </a:xfrm>
          <a:prstGeom prst="roundRect">
            <a:avLst>
              <a:gd name="adj" fmla="val 50000"/>
            </a:avLst>
          </a:prstGeom>
          <a:solidFill>
            <a:srgbClr val="008C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TextBox 165"/>
          <p:cNvSpPr txBox="1"/>
          <p:nvPr/>
        </p:nvSpPr>
        <p:spPr>
          <a:xfrm>
            <a:off x="33174432" y="16998696"/>
            <a:ext cx="201168" cy="201168"/>
          </a:xfrm>
          <a:prstGeom prst="rect">
            <a:avLst/>
          </a:prstGeom>
          <a:noFill/>
        </p:spPr>
        <p:txBody>
          <a:bodyPr wrap="square"/>
          <a:lstStyle/>
          <a:p>
            <a:pPr algn="ctr">
              <a:spcBef>
                <a:spcPts val="0"/>
              </a:spcBef>
              <a:spcAft>
                <a:spcPts val="0"/>
              </a:spcAft>
              <a:defRPr sz="1000" b="1" i="0">
                <a:solidFill>
                  <a:srgbClr val="FFFFFF"/>
                </a:solidFill>
                <a:latin typeface="Arial"/>
              </a:defRPr>
            </a:pPr>
            <a:r>
              <a:t>1</a:t>
            </a:r>
          </a:p>
        </p:txBody>
      </p:sp>
      <p:sp>
        <p:nvSpPr>
          <p:cNvPr id="167" name="TextBox 166"/>
          <p:cNvSpPr txBox="1"/>
          <p:nvPr/>
        </p:nvSpPr>
        <p:spPr>
          <a:xfrm>
            <a:off x="33430464" y="16998696"/>
            <a:ext cx="10204704" cy="822960"/>
          </a:xfrm>
          <a:prstGeom prst="rect">
            <a:avLst/>
          </a:prstGeom>
          <a:noFill/>
        </p:spPr>
        <p:txBody>
          <a:bodyPr wrap="square"/>
          <a:lstStyle/>
          <a:p>
            <a:pPr algn="l">
              <a:spcBef>
                <a:spcPts val="0"/>
              </a:spcBef>
              <a:spcAft>
                <a:spcPts val="0"/>
              </a:spcAft>
              <a:defRPr sz="900" b="0" i="0">
                <a:solidFill>
                  <a:srgbClr val="0B1736"/>
                </a:solidFill>
                <a:latin typeface="Arial"/>
              </a:defRPr>
            </a:pPr>
            <a:r>
              <a:t>SASTO achieves 23.5% +/- 7.8% mean material reduction across 1,114 held-out geometries, up to 45.0% on individual designs - the first surrogate-accelerated, topology-preserving optimizer at building scale.</a:t>
            </a:r>
          </a:p>
        </p:txBody>
      </p:sp>
      <p:sp>
        <p:nvSpPr>
          <p:cNvPr id="168" name="Rounded Rectangle 167"/>
          <p:cNvSpPr/>
          <p:nvPr/>
        </p:nvSpPr>
        <p:spPr>
          <a:xfrm>
            <a:off x="33174432" y="17876520"/>
            <a:ext cx="201168" cy="201168"/>
          </a:xfrm>
          <a:prstGeom prst="roundRect">
            <a:avLst>
              <a:gd name="adj" fmla="val 50000"/>
            </a:avLst>
          </a:prstGeom>
          <a:solidFill>
            <a:srgbClr val="008C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TextBox 168"/>
          <p:cNvSpPr txBox="1"/>
          <p:nvPr/>
        </p:nvSpPr>
        <p:spPr>
          <a:xfrm>
            <a:off x="33174432" y="17876520"/>
            <a:ext cx="201168" cy="201168"/>
          </a:xfrm>
          <a:prstGeom prst="rect">
            <a:avLst/>
          </a:prstGeom>
          <a:noFill/>
        </p:spPr>
        <p:txBody>
          <a:bodyPr wrap="square"/>
          <a:lstStyle/>
          <a:p>
            <a:pPr algn="ctr">
              <a:spcBef>
                <a:spcPts val="0"/>
              </a:spcBef>
              <a:spcAft>
                <a:spcPts val="0"/>
              </a:spcAft>
              <a:defRPr sz="1000" b="1" i="0">
                <a:solidFill>
                  <a:srgbClr val="FFFFFF"/>
                </a:solidFill>
                <a:latin typeface="Arial"/>
              </a:defRPr>
            </a:pPr>
            <a:r>
              <a:t>2</a:t>
            </a:r>
          </a:p>
        </p:txBody>
      </p:sp>
      <p:sp>
        <p:nvSpPr>
          <p:cNvPr id="170" name="TextBox 169"/>
          <p:cNvSpPr txBox="1"/>
          <p:nvPr/>
        </p:nvSpPr>
        <p:spPr>
          <a:xfrm>
            <a:off x="33430464" y="17876520"/>
            <a:ext cx="10204704" cy="822960"/>
          </a:xfrm>
          <a:prstGeom prst="rect">
            <a:avLst/>
          </a:prstGeom>
          <a:noFill/>
        </p:spPr>
        <p:txBody>
          <a:bodyPr wrap="square"/>
          <a:lstStyle/>
          <a:p>
            <a:pPr algn="l">
              <a:spcBef>
                <a:spcPts val="0"/>
              </a:spcBef>
              <a:spcAft>
                <a:spcPts val="0"/>
              </a:spcAft>
              <a:defRPr sz="900" b="0" i="0">
                <a:solidFill>
                  <a:srgbClr val="0B1736"/>
                </a:solidFill>
                <a:latin typeface="Arial"/>
              </a:defRPr>
            </a:pPr>
            <a:r>
              <a:t>Deep ensemble surrogate (5x8.76M params) provides 23-92x speedup vs SIMP: median 50s on consumer GPU vs 19-77 min for SIMP.</a:t>
            </a:r>
          </a:p>
        </p:txBody>
      </p:sp>
      <p:sp>
        <p:nvSpPr>
          <p:cNvPr id="171" name="Rounded Rectangle 170"/>
          <p:cNvSpPr/>
          <p:nvPr/>
        </p:nvSpPr>
        <p:spPr>
          <a:xfrm>
            <a:off x="33174432" y="18754344"/>
            <a:ext cx="201168" cy="201168"/>
          </a:xfrm>
          <a:prstGeom prst="roundRect">
            <a:avLst>
              <a:gd name="adj" fmla="val 50000"/>
            </a:avLst>
          </a:prstGeom>
          <a:solidFill>
            <a:srgbClr val="008C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TextBox 171"/>
          <p:cNvSpPr txBox="1"/>
          <p:nvPr/>
        </p:nvSpPr>
        <p:spPr>
          <a:xfrm>
            <a:off x="33174432" y="18754344"/>
            <a:ext cx="201168" cy="201168"/>
          </a:xfrm>
          <a:prstGeom prst="rect">
            <a:avLst/>
          </a:prstGeom>
          <a:noFill/>
        </p:spPr>
        <p:txBody>
          <a:bodyPr wrap="square"/>
          <a:lstStyle/>
          <a:p>
            <a:pPr algn="ctr">
              <a:spcBef>
                <a:spcPts val="0"/>
              </a:spcBef>
              <a:spcAft>
                <a:spcPts val="0"/>
              </a:spcAft>
              <a:defRPr sz="1000" b="1" i="0">
                <a:solidFill>
                  <a:srgbClr val="FFFFFF"/>
                </a:solidFill>
                <a:latin typeface="Arial"/>
              </a:defRPr>
            </a:pPr>
            <a:r>
              <a:t>3</a:t>
            </a:r>
          </a:p>
        </p:txBody>
      </p:sp>
      <p:sp>
        <p:nvSpPr>
          <p:cNvPr id="173" name="TextBox 172"/>
          <p:cNvSpPr txBox="1"/>
          <p:nvPr/>
        </p:nvSpPr>
        <p:spPr>
          <a:xfrm>
            <a:off x="33430464" y="18754344"/>
            <a:ext cx="10204704" cy="822960"/>
          </a:xfrm>
          <a:prstGeom prst="rect">
            <a:avLst/>
          </a:prstGeom>
          <a:noFill/>
        </p:spPr>
        <p:txBody>
          <a:bodyPr wrap="square"/>
          <a:lstStyle/>
          <a:p>
            <a:pPr algn="l">
              <a:spcBef>
                <a:spcPts val="0"/>
              </a:spcBef>
              <a:spcAft>
                <a:spcPts val="0"/>
              </a:spcAft>
              <a:defRPr sz="900" b="0" i="0">
                <a:solidFill>
                  <a:srgbClr val="0B1736"/>
                </a:solidFill>
                <a:latin typeface="Arial"/>
              </a:defRPr>
            </a:pPr>
            <a:r>
              <a:t>6-connectivity criterion eliminates thousands of floating mesh fragments produced by standard 26-connectivity, guaranteeing watertight single-component STLs for AM.</a:t>
            </a:r>
          </a:p>
        </p:txBody>
      </p:sp>
      <p:sp>
        <p:nvSpPr>
          <p:cNvPr id="174" name="Rounded Rectangle 173"/>
          <p:cNvSpPr/>
          <p:nvPr/>
        </p:nvSpPr>
        <p:spPr>
          <a:xfrm>
            <a:off x="33174432" y="19632168"/>
            <a:ext cx="201168" cy="201168"/>
          </a:xfrm>
          <a:prstGeom prst="roundRect">
            <a:avLst>
              <a:gd name="adj" fmla="val 50000"/>
            </a:avLst>
          </a:prstGeom>
          <a:solidFill>
            <a:srgbClr val="008C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TextBox 174"/>
          <p:cNvSpPr txBox="1"/>
          <p:nvPr/>
        </p:nvSpPr>
        <p:spPr>
          <a:xfrm>
            <a:off x="33174432" y="19632168"/>
            <a:ext cx="201168" cy="201168"/>
          </a:xfrm>
          <a:prstGeom prst="rect">
            <a:avLst/>
          </a:prstGeom>
          <a:noFill/>
        </p:spPr>
        <p:txBody>
          <a:bodyPr wrap="square"/>
          <a:lstStyle/>
          <a:p>
            <a:pPr algn="ctr">
              <a:spcBef>
                <a:spcPts val="0"/>
              </a:spcBef>
              <a:spcAft>
                <a:spcPts val="0"/>
              </a:spcAft>
              <a:defRPr sz="1000" b="1" i="0">
                <a:solidFill>
                  <a:srgbClr val="FFFFFF"/>
                </a:solidFill>
                <a:latin typeface="Arial"/>
              </a:defRPr>
            </a:pPr>
            <a:r>
              <a:t>4</a:t>
            </a:r>
          </a:p>
        </p:txBody>
      </p:sp>
      <p:sp>
        <p:nvSpPr>
          <p:cNvPr id="176" name="TextBox 175"/>
          <p:cNvSpPr txBox="1"/>
          <p:nvPr/>
        </p:nvSpPr>
        <p:spPr>
          <a:xfrm>
            <a:off x="33430464" y="19632168"/>
            <a:ext cx="10204704" cy="822960"/>
          </a:xfrm>
          <a:prstGeom prst="rect">
            <a:avLst/>
          </a:prstGeom>
          <a:noFill/>
        </p:spPr>
        <p:txBody>
          <a:bodyPr wrap="square"/>
          <a:lstStyle/>
          <a:p>
            <a:pPr algn="l">
              <a:spcBef>
                <a:spcPts val="0"/>
              </a:spcBef>
              <a:spcAft>
                <a:spcPts val="0"/>
              </a:spcAft>
              <a:defRPr sz="900" b="0" i="0">
                <a:solidFill>
                  <a:srgbClr val="0B1736"/>
                </a:solidFill>
                <a:latin typeface="Arial"/>
              </a:defRPr>
            </a:pPr>
            <a:r>
              <a:t>Part-aware thickness yields 10.7pp more reduction than uniform baseline by permitting 1-voxel (78 mm) interior walls while protecting 2-voxel (156 mm) load-bearing exteriors.</a:t>
            </a:r>
          </a:p>
        </p:txBody>
      </p:sp>
      <p:sp>
        <p:nvSpPr>
          <p:cNvPr id="177" name="Rounded Rectangle 176"/>
          <p:cNvSpPr/>
          <p:nvPr/>
        </p:nvSpPr>
        <p:spPr>
          <a:xfrm>
            <a:off x="33174432" y="20509992"/>
            <a:ext cx="201168" cy="201168"/>
          </a:xfrm>
          <a:prstGeom prst="roundRect">
            <a:avLst>
              <a:gd name="adj" fmla="val 50000"/>
            </a:avLst>
          </a:prstGeom>
          <a:solidFill>
            <a:srgbClr val="008C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TextBox 177"/>
          <p:cNvSpPr txBox="1"/>
          <p:nvPr/>
        </p:nvSpPr>
        <p:spPr>
          <a:xfrm>
            <a:off x="33174432" y="20509992"/>
            <a:ext cx="201168" cy="201168"/>
          </a:xfrm>
          <a:prstGeom prst="rect">
            <a:avLst/>
          </a:prstGeom>
          <a:noFill/>
        </p:spPr>
        <p:txBody>
          <a:bodyPr wrap="square"/>
          <a:lstStyle/>
          <a:p>
            <a:pPr algn="ctr">
              <a:spcBef>
                <a:spcPts val="0"/>
              </a:spcBef>
              <a:spcAft>
                <a:spcPts val="0"/>
              </a:spcAft>
              <a:defRPr sz="1000" b="1" i="0">
                <a:solidFill>
                  <a:srgbClr val="FFFFFF"/>
                </a:solidFill>
                <a:latin typeface="Arial"/>
              </a:defRPr>
            </a:pPr>
            <a:r>
              <a:t>5</a:t>
            </a:r>
          </a:p>
        </p:txBody>
      </p:sp>
      <p:sp>
        <p:nvSpPr>
          <p:cNvPr id="179" name="TextBox 178"/>
          <p:cNvSpPr txBox="1"/>
          <p:nvPr/>
        </p:nvSpPr>
        <p:spPr>
          <a:xfrm>
            <a:off x="33430464" y="20509992"/>
            <a:ext cx="10204704" cy="822960"/>
          </a:xfrm>
          <a:prstGeom prst="rect">
            <a:avLst/>
          </a:prstGeom>
          <a:noFill/>
        </p:spPr>
        <p:txBody>
          <a:bodyPr wrap="square"/>
          <a:lstStyle/>
          <a:p>
            <a:pPr algn="l">
              <a:spcBef>
                <a:spcPts val="0"/>
              </a:spcBef>
              <a:spcAft>
                <a:spcPts val="0"/>
              </a:spcAft>
              <a:defRPr sz="900" b="0" i="0">
                <a:solidFill>
                  <a:srgbClr val="0B1736"/>
                </a:solidFill>
                <a:latin typeface="Arial"/>
              </a:defRPr>
            </a:pPr>
            <a:r>
              <a:t>Independent FEA re-analysis: zero violations across all 1,114 designs (max C_opt/C_base = 1.004 vs 1.15 limit). Conformal: P(violation) &lt;= 0.09%.</a:t>
            </a:r>
          </a:p>
        </p:txBody>
      </p:sp>
      <p:sp>
        <p:nvSpPr>
          <p:cNvPr id="180" name="Rounded Rectangle 179"/>
          <p:cNvSpPr/>
          <p:nvPr/>
        </p:nvSpPr>
        <p:spPr>
          <a:xfrm>
            <a:off x="33174432" y="21863304"/>
            <a:ext cx="10460736" cy="292608"/>
          </a:xfrm>
          <a:prstGeom prst="roundRect">
            <a:avLst>
              <a:gd name="adj" fmla="val 20000"/>
            </a:avLst>
          </a:prstGeom>
          <a:solidFill>
            <a:srgbClr val="E8EEF8"/>
          </a:solidFill>
          <a:ln w="12700">
            <a:solidFill>
              <a:srgbClr val="CFA5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TextBox 180"/>
          <p:cNvSpPr txBox="1"/>
          <p:nvPr/>
        </p:nvSpPr>
        <p:spPr>
          <a:xfrm>
            <a:off x="33229296" y="21890736"/>
            <a:ext cx="10351008" cy="237744"/>
          </a:xfrm>
          <a:prstGeom prst="rect">
            <a:avLst/>
          </a:prstGeom>
          <a:noFill/>
        </p:spPr>
        <p:txBody>
          <a:bodyPr wrap="square"/>
          <a:lstStyle/>
          <a:p>
            <a:pPr algn="ctr">
              <a:spcBef>
                <a:spcPts val="0"/>
              </a:spcBef>
              <a:spcAft>
                <a:spcPts val="0"/>
              </a:spcAft>
              <a:defRPr sz="800" b="1" i="0">
                <a:solidFill>
                  <a:srgbClr val="0B1736"/>
                </a:solidFill>
                <a:latin typeface="Arial"/>
              </a:defRPr>
            </a:pPr>
            <a:r>
              <a:t>Impact: 8% of global CO2 = cement. 23.5% less concrete per house -&gt; millions of tons saved.</a:t>
            </a:r>
          </a:p>
        </p:txBody>
      </p:sp>
      <p:sp>
        <p:nvSpPr>
          <p:cNvPr id="182" name="Rounded Rectangle 181"/>
          <p:cNvSpPr/>
          <p:nvPr/>
        </p:nvSpPr>
        <p:spPr>
          <a:xfrm>
            <a:off x="33082992" y="22247352"/>
            <a:ext cx="10643616" cy="411480"/>
          </a:xfrm>
          <a:prstGeom prst="roundRect">
            <a:avLst>
              <a:gd name="adj" fmla="val 15000"/>
            </a:avLst>
          </a:prstGeom>
          <a:solidFill>
            <a:srgbClr val="0A3D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TextBox 182"/>
          <p:cNvSpPr txBox="1"/>
          <p:nvPr/>
        </p:nvSpPr>
        <p:spPr>
          <a:xfrm>
            <a:off x="33082992" y="22247352"/>
            <a:ext cx="10643616" cy="411480"/>
          </a:xfrm>
          <a:prstGeom prst="rect">
            <a:avLst/>
          </a:prstGeom>
          <a:noFill/>
        </p:spPr>
        <p:txBody>
          <a:bodyPr wrap="square"/>
          <a:lstStyle/>
          <a:p>
            <a:pPr algn="ctr">
              <a:spcBef>
                <a:spcPts val="0"/>
              </a:spcBef>
              <a:spcAft>
                <a:spcPts val="0"/>
              </a:spcAft>
              <a:defRPr sz="2800" b="1" i="0">
                <a:solidFill>
                  <a:srgbClr val="FFFFFF"/>
                </a:solidFill>
                <a:latin typeface="Arial Black"/>
              </a:defRPr>
            </a:pPr>
            <a:r>
              <a:t>FUTURE WORK</a:t>
            </a:r>
          </a:p>
        </p:txBody>
      </p:sp>
      <p:sp>
        <p:nvSpPr>
          <p:cNvPr id="184" name="Rounded Rectangle 183"/>
          <p:cNvSpPr/>
          <p:nvPr/>
        </p:nvSpPr>
        <p:spPr>
          <a:xfrm>
            <a:off x="33082992" y="22658831"/>
            <a:ext cx="10643616" cy="3840480"/>
          </a:xfrm>
          <a:prstGeom prst="roundRect">
            <a:avLst>
              <a:gd name="adj" fmla="val 40000"/>
            </a:avLst>
          </a:prstGeom>
          <a:solidFill>
            <a:srgbClr val="F7F9FC"/>
          </a:solidFill>
          <a:ln w="12700">
            <a:solidFill>
              <a:srgbClr val="B7C5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Rounded Rectangle 184"/>
          <p:cNvSpPr/>
          <p:nvPr/>
        </p:nvSpPr>
        <p:spPr>
          <a:xfrm>
            <a:off x="33174432" y="22750272"/>
            <a:ext cx="201168" cy="201168"/>
          </a:xfrm>
          <a:prstGeom prst="roundRect">
            <a:avLst>
              <a:gd name="adj" fmla="val 50000"/>
            </a:avLst>
          </a:prstGeom>
          <a:solidFill>
            <a:srgbClr val="008C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TextBox 185"/>
          <p:cNvSpPr txBox="1"/>
          <p:nvPr/>
        </p:nvSpPr>
        <p:spPr>
          <a:xfrm>
            <a:off x="33174432" y="22750272"/>
            <a:ext cx="201168" cy="201168"/>
          </a:xfrm>
          <a:prstGeom prst="rect">
            <a:avLst/>
          </a:prstGeom>
          <a:noFill/>
        </p:spPr>
        <p:txBody>
          <a:bodyPr wrap="square"/>
          <a:lstStyle/>
          <a:p>
            <a:pPr algn="ctr">
              <a:spcBef>
                <a:spcPts val="0"/>
              </a:spcBef>
              <a:spcAft>
                <a:spcPts val="0"/>
              </a:spcAft>
              <a:defRPr sz="1000" b="1" i="0">
                <a:solidFill>
                  <a:srgbClr val="FFFFFF"/>
                </a:solidFill>
                <a:latin typeface="Arial"/>
              </a:defRPr>
            </a:pPr>
            <a:r>
              <a:t>1</a:t>
            </a:r>
          </a:p>
        </p:txBody>
      </p:sp>
      <p:sp>
        <p:nvSpPr>
          <p:cNvPr id="187" name="TextBox 186"/>
          <p:cNvSpPr txBox="1"/>
          <p:nvPr/>
        </p:nvSpPr>
        <p:spPr>
          <a:xfrm>
            <a:off x="33430464" y="22750272"/>
            <a:ext cx="10204704" cy="182880"/>
          </a:xfrm>
          <a:prstGeom prst="rect">
            <a:avLst/>
          </a:prstGeom>
          <a:noFill/>
        </p:spPr>
        <p:txBody>
          <a:bodyPr wrap="square"/>
          <a:lstStyle/>
          <a:p>
            <a:pPr algn="l">
              <a:spcBef>
                <a:spcPts val="0"/>
              </a:spcBef>
              <a:spcAft>
                <a:spcPts val="0"/>
              </a:spcAft>
              <a:defRPr sz="1000" b="1" i="0">
                <a:solidFill>
                  <a:srgbClr val="0A3D9A"/>
                </a:solidFill>
                <a:latin typeface="Arial"/>
              </a:defRPr>
            </a:pPr>
            <a:r>
              <a:t>FEA-IN-THE-LOOP ACTIVE LEARNING</a:t>
            </a:r>
          </a:p>
        </p:txBody>
      </p:sp>
      <p:sp>
        <p:nvSpPr>
          <p:cNvPr id="188" name="TextBox 187"/>
          <p:cNvSpPr txBox="1"/>
          <p:nvPr/>
        </p:nvSpPr>
        <p:spPr>
          <a:xfrm>
            <a:off x="33430464" y="22951439"/>
            <a:ext cx="10204704" cy="640080"/>
          </a:xfrm>
          <a:prstGeom prst="rect">
            <a:avLst/>
          </a:prstGeom>
          <a:noFill/>
        </p:spPr>
        <p:txBody>
          <a:bodyPr wrap="square"/>
          <a:lstStyle/>
          <a:p>
            <a:pPr algn="l">
              <a:spcBef>
                <a:spcPts val="0"/>
              </a:spcBef>
              <a:spcAft>
                <a:spcPts val="0"/>
              </a:spcAft>
              <a:defRPr sz="900" b="0" i="0">
                <a:solidFill>
                  <a:srgbClr val="0B1736"/>
                </a:solidFill>
                <a:latin typeface="Arial"/>
              </a:defRPr>
            </a:pPr>
            <a:r>
              <a:t>When ensemble Gamma_D &gt; threshold tau, trigger ground-truth FEA mid-optimization -&gt; self-correcting safety net.</a:t>
            </a:r>
          </a:p>
        </p:txBody>
      </p:sp>
      <p:sp>
        <p:nvSpPr>
          <p:cNvPr id="189" name="Rounded Rectangle 188"/>
          <p:cNvSpPr/>
          <p:nvPr/>
        </p:nvSpPr>
        <p:spPr>
          <a:xfrm>
            <a:off x="33174432" y="23664672"/>
            <a:ext cx="201168" cy="201168"/>
          </a:xfrm>
          <a:prstGeom prst="roundRect">
            <a:avLst>
              <a:gd name="adj" fmla="val 50000"/>
            </a:avLst>
          </a:prstGeom>
          <a:solidFill>
            <a:srgbClr val="008C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TextBox 189"/>
          <p:cNvSpPr txBox="1"/>
          <p:nvPr/>
        </p:nvSpPr>
        <p:spPr>
          <a:xfrm>
            <a:off x="33174432" y="23664672"/>
            <a:ext cx="201168" cy="201168"/>
          </a:xfrm>
          <a:prstGeom prst="rect">
            <a:avLst/>
          </a:prstGeom>
          <a:noFill/>
        </p:spPr>
        <p:txBody>
          <a:bodyPr wrap="square"/>
          <a:lstStyle/>
          <a:p>
            <a:pPr algn="ctr">
              <a:spcBef>
                <a:spcPts val="0"/>
              </a:spcBef>
              <a:spcAft>
                <a:spcPts val="0"/>
              </a:spcAft>
              <a:defRPr sz="1000" b="1" i="0">
                <a:solidFill>
                  <a:srgbClr val="FFFFFF"/>
                </a:solidFill>
                <a:latin typeface="Arial"/>
              </a:defRPr>
            </a:pPr>
            <a:r>
              <a:t>2</a:t>
            </a:r>
          </a:p>
        </p:txBody>
      </p:sp>
      <p:sp>
        <p:nvSpPr>
          <p:cNvPr id="191" name="TextBox 190"/>
          <p:cNvSpPr txBox="1"/>
          <p:nvPr/>
        </p:nvSpPr>
        <p:spPr>
          <a:xfrm>
            <a:off x="33430464" y="23664672"/>
            <a:ext cx="10204704" cy="182880"/>
          </a:xfrm>
          <a:prstGeom prst="rect">
            <a:avLst/>
          </a:prstGeom>
          <a:noFill/>
        </p:spPr>
        <p:txBody>
          <a:bodyPr wrap="square"/>
          <a:lstStyle/>
          <a:p>
            <a:pPr algn="l">
              <a:spcBef>
                <a:spcPts val="0"/>
              </a:spcBef>
              <a:spcAft>
                <a:spcPts val="0"/>
              </a:spcAft>
              <a:defRPr sz="1000" b="1" i="0">
                <a:solidFill>
                  <a:srgbClr val="0A3D9A"/>
                </a:solidFill>
                <a:latin typeface="Arial"/>
              </a:defRPr>
            </a:pPr>
            <a:r>
              <a:t>NONLINEAR FEA SPOT CHECKS</a:t>
            </a:r>
          </a:p>
        </p:txBody>
      </p:sp>
      <p:sp>
        <p:nvSpPr>
          <p:cNvPr id="192" name="TextBox 191"/>
          <p:cNvSpPr txBox="1"/>
          <p:nvPr/>
        </p:nvSpPr>
        <p:spPr>
          <a:xfrm>
            <a:off x="33430464" y="23865839"/>
            <a:ext cx="10204704" cy="640080"/>
          </a:xfrm>
          <a:prstGeom prst="rect">
            <a:avLst/>
          </a:prstGeom>
          <a:noFill/>
        </p:spPr>
        <p:txBody>
          <a:bodyPr wrap="square"/>
          <a:lstStyle/>
          <a:p>
            <a:pPr algn="l">
              <a:spcBef>
                <a:spcPts val="0"/>
              </a:spcBef>
              <a:spcAft>
                <a:spcPts val="0"/>
              </a:spcAft>
              <a:defRPr sz="900" b="0" i="0">
                <a:solidFill>
                  <a:srgbClr val="0B1736"/>
                </a:solidFill>
                <a:latin typeface="Arial"/>
              </a:defRPr>
            </a:pPr>
            <a:r>
              <a:t>Concrete damaged plasticity (CDP) on 5 representative designs to assess tension cracking, compression softening, and buckling.</a:t>
            </a:r>
          </a:p>
        </p:txBody>
      </p:sp>
      <p:sp>
        <p:nvSpPr>
          <p:cNvPr id="193" name="Rounded Rectangle 192"/>
          <p:cNvSpPr/>
          <p:nvPr/>
        </p:nvSpPr>
        <p:spPr>
          <a:xfrm>
            <a:off x="33174432" y="24579072"/>
            <a:ext cx="201168" cy="201168"/>
          </a:xfrm>
          <a:prstGeom prst="roundRect">
            <a:avLst>
              <a:gd name="adj" fmla="val 50000"/>
            </a:avLst>
          </a:prstGeom>
          <a:solidFill>
            <a:srgbClr val="008C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TextBox 193"/>
          <p:cNvSpPr txBox="1"/>
          <p:nvPr/>
        </p:nvSpPr>
        <p:spPr>
          <a:xfrm>
            <a:off x="33174432" y="24579072"/>
            <a:ext cx="201168" cy="201168"/>
          </a:xfrm>
          <a:prstGeom prst="rect">
            <a:avLst/>
          </a:prstGeom>
          <a:noFill/>
        </p:spPr>
        <p:txBody>
          <a:bodyPr wrap="square"/>
          <a:lstStyle/>
          <a:p>
            <a:pPr algn="ctr">
              <a:spcBef>
                <a:spcPts val="0"/>
              </a:spcBef>
              <a:spcAft>
                <a:spcPts val="0"/>
              </a:spcAft>
              <a:defRPr sz="1000" b="1" i="0">
                <a:solidFill>
                  <a:srgbClr val="FFFFFF"/>
                </a:solidFill>
                <a:latin typeface="Arial"/>
              </a:defRPr>
            </a:pPr>
            <a:r>
              <a:t>3</a:t>
            </a:r>
          </a:p>
        </p:txBody>
      </p:sp>
      <p:sp>
        <p:nvSpPr>
          <p:cNvPr id="195" name="TextBox 194"/>
          <p:cNvSpPr txBox="1"/>
          <p:nvPr/>
        </p:nvSpPr>
        <p:spPr>
          <a:xfrm>
            <a:off x="33430464" y="24579072"/>
            <a:ext cx="10204704" cy="182880"/>
          </a:xfrm>
          <a:prstGeom prst="rect">
            <a:avLst/>
          </a:prstGeom>
          <a:noFill/>
        </p:spPr>
        <p:txBody>
          <a:bodyPr wrap="square"/>
          <a:lstStyle/>
          <a:p>
            <a:pPr algn="l">
              <a:spcBef>
                <a:spcPts val="0"/>
              </a:spcBef>
              <a:spcAft>
                <a:spcPts val="0"/>
              </a:spcAft>
              <a:defRPr sz="1000" b="1" i="0">
                <a:solidFill>
                  <a:srgbClr val="0A3D9A"/>
                </a:solidFill>
                <a:latin typeface="Arial"/>
              </a:defRPr>
            </a:pPr>
            <a:r>
              <a:t>PHYSICAL PRINT VALIDATION</a:t>
            </a:r>
          </a:p>
        </p:txBody>
      </p:sp>
      <p:sp>
        <p:nvSpPr>
          <p:cNvPr id="196" name="TextBox 195"/>
          <p:cNvSpPr txBox="1"/>
          <p:nvPr/>
        </p:nvSpPr>
        <p:spPr>
          <a:xfrm>
            <a:off x="33430464" y="24780239"/>
            <a:ext cx="10204704" cy="640080"/>
          </a:xfrm>
          <a:prstGeom prst="rect">
            <a:avLst/>
          </a:prstGeom>
          <a:noFill/>
        </p:spPr>
        <p:txBody>
          <a:bodyPr wrap="square"/>
          <a:lstStyle/>
          <a:p>
            <a:pPr algn="l">
              <a:spcBef>
                <a:spcPts val="0"/>
              </a:spcBef>
              <a:spcAft>
                <a:spcPts val="0"/>
              </a:spcAft>
              <a:defRPr sz="900" b="0" i="0">
                <a:solidFill>
                  <a:srgbClr val="0B1736"/>
                </a:solidFill>
                <a:latin typeface="Arial"/>
              </a:defRPr>
            </a:pPr>
            <a:r>
              <a:t>1:10 scale print of optimized house. Compression testing + digital image correlation (DIC) for full-field strain mapping.</a:t>
            </a:r>
          </a:p>
        </p:txBody>
      </p:sp>
      <p:sp>
        <p:nvSpPr>
          <p:cNvPr id="197" name="Rounded Rectangle 196"/>
          <p:cNvSpPr/>
          <p:nvPr/>
        </p:nvSpPr>
        <p:spPr>
          <a:xfrm>
            <a:off x="33604200" y="25548335"/>
            <a:ext cx="3017520" cy="310896"/>
          </a:xfrm>
          <a:prstGeom prst="roundRect">
            <a:avLst>
              <a:gd name="adj" fmla="val 20000"/>
            </a:avLst>
          </a:prstGeom>
          <a:solidFill>
            <a:srgbClr val="008C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TextBox 197"/>
          <p:cNvSpPr txBox="1"/>
          <p:nvPr/>
        </p:nvSpPr>
        <p:spPr>
          <a:xfrm>
            <a:off x="33604200" y="25584911"/>
            <a:ext cx="3017520" cy="237744"/>
          </a:xfrm>
          <a:prstGeom prst="rect">
            <a:avLst/>
          </a:prstGeom>
          <a:noFill/>
        </p:spPr>
        <p:txBody>
          <a:bodyPr wrap="square"/>
          <a:lstStyle/>
          <a:p>
            <a:pPr algn="ctr">
              <a:spcBef>
                <a:spcPts val="0"/>
              </a:spcBef>
              <a:spcAft>
                <a:spcPts val="0"/>
              </a:spcAft>
              <a:defRPr sz="900" b="1" i="0">
                <a:solidFill>
                  <a:srgbClr val="FFFFFF"/>
                </a:solidFill>
                <a:latin typeface="Arial"/>
              </a:defRPr>
            </a:pPr>
            <a:r>
              <a:t>Optimized STL</a:t>
            </a:r>
          </a:p>
        </p:txBody>
      </p:sp>
      <p:sp>
        <p:nvSpPr>
          <p:cNvPr id="199" name="TextBox 198"/>
          <p:cNvSpPr txBox="1"/>
          <p:nvPr/>
        </p:nvSpPr>
        <p:spPr>
          <a:xfrm>
            <a:off x="36640008" y="25566623"/>
            <a:ext cx="237744" cy="274320"/>
          </a:xfrm>
          <a:prstGeom prst="rect">
            <a:avLst/>
          </a:prstGeom>
          <a:noFill/>
        </p:spPr>
        <p:txBody>
          <a:bodyPr wrap="square"/>
          <a:lstStyle/>
          <a:p>
            <a:pPr algn="ctr">
              <a:spcBef>
                <a:spcPts val="0"/>
              </a:spcBef>
              <a:spcAft>
                <a:spcPts val="0"/>
              </a:spcAft>
              <a:defRPr sz="1300" b="1" i="0">
                <a:solidFill>
                  <a:srgbClr val="CFA535"/>
                </a:solidFill>
                <a:latin typeface="Arial"/>
              </a:defRPr>
            </a:pPr>
            <a:r>
              <a:t>-&gt;</a:t>
            </a:r>
          </a:p>
        </p:txBody>
      </p:sp>
      <p:sp>
        <p:nvSpPr>
          <p:cNvPr id="200" name="Rounded Rectangle 199"/>
          <p:cNvSpPr/>
          <p:nvPr/>
        </p:nvSpPr>
        <p:spPr>
          <a:xfrm>
            <a:off x="36896040" y="25548335"/>
            <a:ext cx="3017520" cy="310896"/>
          </a:xfrm>
          <a:prstGeom prst="roundRect">
            <a:avLst>
              <a:gd name="adj" fmla="val 20000"/>
            </a:avLst>
          </a:prstGeom>
          <a:solidFill>
            <a:srgbClr val="008C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 name="TextBox 200"/>
          <p:cNvSpPr txBox="1"/>
          <p:nvPr/>
        </p:nvSpPr>
        <p:spPr>
          <a:xfrm>
            <a:off x="36896040" y="25584911"/>
            <a:ext cx="3017520" cy="237744"/>
          </a:xfrm>
          <a:prstGeom prst="rect">
            <a:avLst/>
          </a:prstGeom>
          <a:noFill/>
        </p:spPr>
        <p:txBody>
          <a:bodyPr wrap="square"/>
          <a:lstStyle/>
          <a:p>
            <a:pPr algn="ctr">
              <a:spcBef>
                <a:spcPts val="0"/>
              </a:spcBef>
              <a:spcAft>
                <a:spcPts val="0"/>
              </a:spcAft>
              <a:defRPr sz="900" b="1" i="0">
                <a:solidFill>
                  <a:srgbClr val="FFFFFF"/>
                </a:solidFill>
                <a:latin typeface="Arial"/>
              </a:defRPr>
            </a:pPr>
            <a:r>
              <a:t>3D Print 1:10</a:t>
            </a:r>
          </a:p>
        </p:txBody>
      </p:sp>
      <p:sp>
        <p:nvSpPr>
          <p:cNvPr id="202" name="TextBox 201"/>
          <p:cNvSpPr txBox="1"/>
          <p:nvPr/>
        </p:nvSpPr>
        <p:spPr>
          <a:xfrm>
            <a:off x="39931848" y="25566623"/>
            <a:ext cx="237744" cy="274320"/>
          </a:xfrm>
          <a:prstGeom prst="rect">
            <a:avLst/>
          </a:prstGeom>
          <a:noFill/>
        </p:spPr>
        <p:txBody>
          <a:bodyPr wrap="square"/>
          <a:lstStyle/>
          <a:p>
            <a:pPr algn="ctr">
              <a:spcBef>
                <a:spcPts val="0"/>
              </a:spcBef>
              <a:spcAft>
                <a:spcPts val="0"/>
              </a:spcAft>
              <a:defRPr sz="1300" b="1" i="0">
                <a:solidFill>
                  <a:srgbClr val="CFA535"/>
                </a:solidFill>
                <a:latin typeface="Arial"/>
              </a:defRPr>
            </a:pPr>
            <a:r>
              <a:t>-&gt;</a:t>
            </a:r>
          </a:p>
        </p:txBody>
      </p:sp>
      <p:sp>
        <p:nvSpPr>
          <p:cNvPr id="203" name="Rounded Rectangle 202"/>
          <p:cNvSpPr/>
          <p:nvPr/>
        </p:nvSpPr>
        <p:spPr>
          <a:xfrm>
            <a:off x="40187880" y="25548335"/>
            <a:ext cx="3017520" cy="310896"/>
          </a:xfrm>
          <a:prstGeom prst="roundRect">
            <a:avLst>
              <a:gd name="adj" fmla="val 20000"/>
            </a:avLst>
          </a:prstGeom>
          <a:solidFill>
            <a:srgbClr val="008C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 name="TextBox 203"/>
          <p:cNvSpPr txBox="1"/>
          <p:nvPr/>
        </p:nvSpPr>
        <p:spPr>
          <a:xfrm>
            <a:off x="40187880" y="25584911"/>
            <a:ext cx="3017520" cy="237744"/>
          </a:xfrm>
          <a:prstGeom prst="rect">
            <a:avLst/>
          </a:prstGeom>
          <a:noFill/>
        </p:spPr>
        <p:txBody>
          <a:bodyPr wrap="square"/>
          <a:lstStyle/>
          <a:p>
            <a:pPr algn="ctr">
              <a:spcBef>
                <a:spcPts val="0"/>
              </a:spcBef>
              <a:spcAft>
                <a:spcPts val="0"/>
              </a:spcAft>
              <a:defRPr sz="900" b="1" i="0">
                <a:solidFill>
                  <a:srgbClr val="FFFFFF"/>
                </a:solidFill>
                <a:latin typeface="Arial"/>
              </a:defRPr>
            </a:pPr>
            <a:r>
              <a:t>Compression + DIC</a:t>
            </a:r>
          </a:p>
        </p:txBody>
      </p:sp>
      <p:sp>
        <p:nvSpPr>
          <p:cNvPr id="205" name="Rounded Rectangle 204"/>
          <p:cNvSpPr/>
          <p:nvPr/>
        </p:nvSpPr>
        <p:spPr>
          <a:xfrm>
            <a:off x="33082992" y="26535887"/>
            <a:ext cx="10643616" cy="411480"/>
          </a:xfrm>
          <a:prstGeom prst="roundRect">
            <a:avLst>
              <a:gd name="adj" fmla="val 15000"/>
            </a:avLst>
          </a:prstGeom>
          <a:solidFill>
            <a:srgbClr val="0A3D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TextBox 205"/>
          <p:cNvSpPr txBox="1"/>
          <p:nvPr/>
        </p:nvSpPr>
        <p:spPr>
          <a:xfrm>
            <a:off x="33082992" y="26535887"/>
            <a:ext cx="10643616" cy="411480"/>
          </a:xfrm>
          <a:prstGeom prst="rect">
            <a:avLst/>
          </a:prstGeom>
          <a:noFill/>
        </p:spPr>
        <p:txBody>
          <a:bodyPr wrap="square"/>
          <a:lstStyle/>
          <a:p>
            <a:pPr algn="ctr">
              <a:spcBef>
                <a:spcPts val="0"/>
              </a:spcBef>
              <a:spcAft>
                <a:spcPts val="0"/>
              </a:spcAft>
              <a:defRPr sz="2800" b="1" i="0">
                <a:solidFill>
                  <a:srgbClr val="FFFFFF"/>
                </a:solidFill>
                <a:latin typeface="Arial Black"/>
              </a:defRPr>
            </a:pPr>
            <a:r>
              <a:t>KEY REFERENCES</a:t>
            </a:r>
          </a:p>
        </p:txBody>
      </p:sp>
      <p:sp>
        <p:nvSpPr>
          <p:cNvPr id="207" name="Rounded Rectangle 206"/>
          <p:cNvSpPr/>
          <p:nvPr/>
        </p:nvSpPr>
        <p:spPr>
          <a:xfrm>
            <a:off x="33082992" y="26947367"/>
            <a:ext cx="10643616" cy="5806440"/>
          </a:xfrm>
          <a:prstGeom prst="roundRect">
            <a:avLst>
              <a:gd name="adj" fmla="val 40000"/>
            </a:avLst>
          </a:prstGeom>
          <a:solidFill>
            <a:srgbClr val="F7F9FC"/>
          </a:solidFill>
          <a:ln w="12700">
            <a:solidFill>
              <a:srgbClr val="B7C5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 name="TextBox 207"/>
          <p:cNvSpPr txBox="1"/>
          <p:nvPr/>
        </p:nvSpPr>
        <p:spPr>
          <a:xfrm>
            <a:off x="33174432" y="27038807"/>
            <a:ext cx="10460736" cy="5623560"/>
          </a:xfrm>
          <a:prstGeom prst="rect">
            <a:avLst/>
          </a:prstGeom>
          <a:noFill/>
        </p:spPr>
        <p:txBody>
          <a:bodyPr wrap="square"/>
          <a:lstStyle/>
          <a:p>
            <a:pPr algn="l">
              <a:spcBef>
                <a:spcPts val="0"/>
              </a:spcBef>
              <a:spcAft>
                <a:spcPts val="100"/>
              </a:spcAft>
              <a:defRPr sz="900" b="0" i="0">
                <a:solidFill>
                  <a:srgbClr val="0B1736"/>
                </a:solidFill>
                <a:latin typeface="Arial"/>
              </a:defRPr>
            </a:pPr>
            <a:r>
              <a:t>1. Bendsoe &amp; Sigmund (2003). Topology Optimization. Springer.</a:t>
            </a:r>
          </a:p>
          <a:p>
            <a:pPr algn="l">
              <a:spcBef>
                <a:spcPts val="0"/>
              </a:spcBef>
              <a:spcAft>
                <a:spcPts val="100"/>
              </a:spcAft>
              <a:defRPr sz="900" b="0" i="0">
                <a:solidFill>
                  <a:srgbClr val="0B1736"/>
                </a:solidFill>
                <a:latin typeface="Arial"/>
              </a:defRPr>
            </a:pPr>
            <a:r>
              <a:t>2. Lakshminarayanan et al. (2017). Deep ensembles. NeurIPS.</a:t>
            </a:r>
          </a:p>
          <a:p>
            <a:pPr algn="l">
              <a:spcBef>
                <a:spcPts val="0"/>
              </a:spcBef>
              <a:spcAft>
                <a:spcPts val="100"/>
              </a:spcAft>
              <a:defRPr sz="900" b="0" i="0">
                <a:solidFill>
                  <a:srgbClr val="0B1736"/>
                </a:solidFill>
                <a:latin typeface="Arial"/>
              </a:defRPr>
            </a:pPr>
            <a:r>
              <a:t>3. Kong &amp; Rosenfeld (1989). Digital topology. CVGIP 48(3).</a:t>
            </a:r>
          </a:p>
          <a:p>
            <a:pPr algn="l">
              <a:spcBef>
                <a:spcPts val="0"/>
              </a:spcBef>
              <a:spcAft>
                <a:spcPts val="100"/>
              </a:spcAft>
              <a:defRPr sz="900" b="0" i="0">
                <a:solidFill>
                  <a:srgbClr val="0B1736"/>
                </a:solidFill>
                <a:latin typeface="Arial"/>
              </a:defRPr>
            </a:pPr>
            <a:r>
              <a:t>4. ASCE (2022). ASCE/SEI 7-22 Min Design Loads.</a:t>
            </a:r>
          </a:p>
          <a:p>
            <a:pPr algn="l">
              <a:spcBef>
                <a:spcPts val="0"/>
              </a:spcBef>
              <a:spcAft>
                <a:spcPts val="100"/>
              </a:spcAft>
              <a:defRPr sz="900" b="0" i="0">
                <a:solidFill>
                  <a:srgbClr val="0B1736"/>
                </a:solidFill>
                <a:latin typeface="Arial"/>
              </a:defRPr>
            </a:pPr>
            <a:r>
              <a:t>5. Buswell et al. (2018). 3D printing concrete. Cem Concr Res 112.</a:t>
            </a:r>
          </a:p>
          <a:p>
            <a:pPr algn="l">
              <a:spcBef>
                <a:spcPts val="0"/>
              </a:spcBef>
              <a:spcAft>
                <a:spcPts val="100"/>
              </a:spcAft>
              <a:defRPr sz="900" b="0" i="0">
                <a:solidFill>
                  <a:srgbClr val="0B1736"/>
                </a:solidFill>
                <a:latin typeface="Arial"/>
              </a:defRPr>
            </a:pPr>
            <a:r>
              <a:t>6. Sigmund &amp; Maute (2013). Topology optimization. SMO 48.</a:t>
            </a:r>
          </a:p>
          <a:p>
            <a:pPr algn="l">
              <a:spcBef>
                <a:spcPts val="0"/>
              </a:spcBef>
              <a:spcAft>
                <a:spcPts val="100"/>
              </a:spcAft>
              <a:defRPr sz="900" b="0" i="0">
                <a:solidFill>
                  <a:srgbClr val="0B1736"/>
                </a:solidFill>
                <a:latin typeface="Arial"/>
              </a:defRPr>
            </a:pPr>
            <a:r>
              <a:t>7. Lin et al. (2024). 3DWire dataset. KAUST VCC.</a:t>
            </a:r>
          </a:p>
          <a:p>
            <a:pPr algn="l">
              <a:spcBef>
                <a:spcPts val="0"/>
              </a:spcBef>
              <a:spcAft>
                <a:spcPts val="100"/>
              </a:spcAft>
              <a:defRPr sz="900" b="0" i="0">
                <a:solidFill>
                  <a:srgbClr val="0B1736"/>
                </a:solidFill>
                <a:latin typeface="Arial"/>
              </a:defRPr>
            </a:pPr>
            <a:r>
              <a:t>8. IEA (2021). Global Status Report for Buildings.</a:t>
            </a:r>
          </a:p>
          <a:p>
            <a:pPr algn="l">
              <a:spcBef>
                <a:spcPts val="0"/>
              </a:spcBef>
              <a:spcAft>
                <a:spcPts val="100"/>
              </a:spcAft>
              <a:defRPr sz="900" b="0" i="0">
                <a:solidFill>
                  <a:srgbClr val="0B1736"/>
                </a:solidFill>
                <a:latin typeface="Arial"/>
              </a:defRPr>
            </a:pPr>
            <a:r>
              <a:t>9. Lorensen &amp; Cline (1987). Marching Cubes. SIGGRAPH.</a:t>
            </a:r>
          </a:p>
          <a:p>
            <a:pPr algn="l">
              <a:spcBef>
                <a:spcPts val="0"/>
              </a:spcBef>
              <a:spcAft>
                <a:spcPts val="100"/>
              </a:spcAft>
              <a:defRPr sz="900" b="0" i="0">
                <a:solidFill>
                  <a:srgbClr val="0B1736"/>
                </a:solidFill>
                <a:latin typeface="Arial"/>
              </a:defRPr>
            </a:pPr>
            <a:r>
              <a:t>10. Vovk et al. (2005). Algorithmic Learning. Springer.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