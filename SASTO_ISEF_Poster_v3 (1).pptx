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32918400" cx="43891200"/>
  <p:notesSz cx="6858000" cy="9144000"/>
  <p:embeddedFontLst>
    <p:embeddedFont>
      <p:font typeface="Arial Black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9" roundtripDataSignature="AMtx7mjyN5rdKOEma0KrElmfyrM6xtQ2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026B1A-C397-48AE-AD91-E97E0D36FC4D}">
  <a:tblStyle styleId="{6B026B1A-C397-48AE-AD91-E97E0D36FC4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ArialBlac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.png"/><Relationship Id="rId11" Type="http://schemas.openxmlformats.org/officeDocument/2006/relationships/image" Target="../media/image5.jpg"/><Relationship Id="rId10" Type="http://schemas.openxmlformats.org/officeDocument/2006/relationships/image" Target="../media/image10.jpg"/><Relationship Id="rId21" Type="http://schemas.openxmlformats.org/officeDocument/2006/relationships/image" Target="../media/image16.png"/><Relationship Id="rId13" Type="http://schemas.openxmlformats.org/officeDocument/2006/relationships/image" Target="../media/image13.png"/><Relationship Id="rId1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9" Type="http://schemas.openxmlformats.org/officeDocument/2006/relationships/image" Target="../media/image12.jpg"/><Relationship Id="rId15" Type="http://schemas.openxmlformats.org/officeDocument/2006/relationships/image" Target="../media/image14.png"/><Relationship Id="rId14" Type="http://schemas.openxmlformats.org/officeDocument/2006/relationships/image" Target="../media/image9.png"/><Relationship Id="rId17" Type="http://schemas.openxmlformats.org/officeDocument/2006/relationships/image" Target="../media/image18.png"/><Relationship Id="rId16" Type="http://schemas.openxmlformats.org/officeDocument/2006/relationships/image" Target="../media/image11.png"/><Relationship Id="rId5" Type="http://schemas.openxmlformats.org/officeDocument/2006/relationships/image" Target="../media/image2.jpg"/><Relationship Id="rId19" Type="http://schemas.openxmlformats.org/officeDocument/2006/relationships/image" Target="../media/image19.png"/><Relationship Id="rId6" Type="http://schemas.openxmlformats.org/officeDocument/2006/relationships/image" Target="../media/image4.jpg"/><Relationship Id="rId18" Type="http://schemas.openxmlformats.org/officeDocument/2006/relationships/image" Target="../media/image17.png"/><Relationship Id="rId7" Type="http://schemas.openxmlformats.org/officeDocument/2006/relationships/image" Target="../media/image7.jpg"/><Relationship Id="rId8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2907800"/>
            <a:ext cx="43891200" cy="30010500"/>
          </a:xfrm>
          <a:prstGeom prst="rect">
            <a:avLst/>
          </a:prstGeom>
          <a:gradFill>
            <a:gsLst>
              <a:gs pos="0">
                <a:srgbClr val="99C1FB">
                  <a:alpha val="25098"/>
                </a:srgbClr>
              </a:gs>
              <a:gs pos="37000">
                <a:srgbClr val="93B6E9"/>
              </a:gs>
              <a:gs pos="100000">
                <a:srgbClr val="002766"/>
              </a:gs>
              <a:gs pos="100000">
                <a:srgbClr val="062B7A">
                  <a:alpha val="25098"/>
                </a:srgbClr>
              </a:gs>
            </a:gsLst>
            <a:lin ang="5400012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43891200" cy="2971800"/>
          </a:xfrm>
          <a:prstGeom prst="rect">
            <a:avLst/>
          </a:prstGeom>
          <a:solidFill>
            <a:srgbClr val="00226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889471" y="2316949"/>
            <a:ext cx="272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SASTO Optimization</a:t>
            </a:r>
            <a:endParaRPr sz="17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8605300" y="1411372"/>
            <a:ext cx="266805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Additive Manufacturing: Harnessing FEA to Optimize Material Efficiency</a:t>
            </a:r>
            <a:endParaRPr sz="3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635102" y="2360776"/>
            <a:ext cx="3108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Eric Hou</a:t>
            </a:r>
            <a:endParaRPr sz="22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4398065" y="135946"/>
            <a:ext cx="8321100" cy="26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rgbClr val="FFFFFF"/>
                </a:solidFill>
              </a:rPr>
              <a:t>Credit Line of Origin</a:t>
            </a:r>
            <a:endParaRPr b="1" sz="1600">
              <a:solidFill>
                <a:srgbClr val="FFFFFF"/>
              </a:solidFill>
            </a:endParaRPr>
          </a:p>
          <a:p>
            <a:pPr indent="0" lvl="0" marL="0" marR="0" rtl="0" algn="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References &amp; data in references below:</a:t>
            </a:r>
            <a:endParaRPr b="1" sz="1600">
              <a:solidFill>
                <a:srgbClr val="FFFFFF"/>
              </a:solidFill>
            </a:endParaRPr>
          </a:p>
          <a:p>
            <a:pPr indent="0" lvl="0" marL="0" marR="0" rtl="0" algn="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</a:endParaRPr>
          </a:p>
          <a:p>
            <a:pPr indent="0" lvl="0" marL="0" marR="0" rtl="0" algn="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Images denoted with an asterisk are</a:t>
            </a:r>
            <a:endParaRPr b="1" sz="1600">
              <a:solidFill>
                <a:srgbClr val="FFFFFF"/>
              </a:solidFill>
            </a:endParaRPr>
          </a:p>
          <a:p>
            <a:pPr indent="0" lvl="0" marL="0" marR="0" rtl="0" algn="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public-domain or adapted sources.</a:t>
            </a:r>
            <a:endParaRPr b="1" sz="1600">
              <a:solidFill>
                <a:srgbClr val="FFFFFF"/>
              </a:solidFill>
            </a:endParaRPr>
          </a:p>
          <a:p>
            <a:pPr indent="0" lvl="0" marL="0" marR="0" rtl="0" algn="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</a:endParaRPr>
          </a:p>
          <a:p>
            <a:pPr indent="0" lvl="0" marL="0" marR="0" rtl="0" algn="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All other graphics, tables, and images</a:t>
            </a:r>
            <a:endParaRPr b="1" sz="1600">
              <a:solidFill>
                <a:srgbClr val="FFFFFF"/>
              </a:solidFill>
            </a:endParaRPr>
          </a:p>
          <a:p>
            <a:pPr indent="0" lvl="0" marL="0" marR="0" rtl="0" algn="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have been created by Eric Hou, 2026</a:t>
            </a:r>
            <a:endParaRPr b="1" sz="1600">
              <a:solidFill>
                <a:srgbClr val="FFFFFF"/>
              </a:solidFill>
            </a:endParaRPr>
          </a:p>
          <a:p>
            <a:pPr indent="0" lvl="0" marL="0" marR="0" rtl="0" algn="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unless otherwise attributed.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320040" y="3136392"/>
            <a:ext cx="10332600" cy="548700"/>
          </a:xfrm>
          <a:prstGeom prst="roundRect">
            <a:avLst>
              <a:gd fmla="val 20000" name="adj"/>
            </a:avLst>
          </a:prstGeom>
          <a:solidFill>
            <a:srgbClr val="0A3D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20040" y="3136392"/>
            <a:ext cx="10332600" cy="548700"/>
          </a:xfrm>
          <a:prstGeom prst="rect">
            <a:avLst/>
          </a:prstGeom>
          <a:solidFill>
            <a:srgbClr val="00226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VISUAL ABSTRACT</a:t>
            </a:r>
            <a:endParaRPr sz="2200"/>
          </a:p>
        </p:txBody>
      </p:sp>
      <p:sp>
        <p:nvSpPr>
          <p:cNvPr id="92" name="Google Shape;92;p1"/>
          <p:cNvSpPr/>
          <p:nvPr/>
        </p:nvSpPr>
        <p:spPr>
          <a:xfrm>
            <a:off x="320040" y="3685032"/>
            <a:ext cx="10332600" cy="4572000"/>
          </a:xfrm>
          <a:prstGeom prst="roundRect">
            <a:avLst>
              <a:gd fmla="val 0" name="adj"/>
            </a:avLst>
          </a:prstGeom>
          <a:solidFill>
            <a:srgbClr val="F7F9FC"/>
          </a:solidFill>
          <a:ln cap="flat" cmpd="sng" w="12700">
            <a:solidFill>
              <a:srgbClr val="B7C5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1.png"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" y="4547816"/>
            <a:ext cx="10003536" cy="276413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484632" y="7982712"/>
            <a:ext cx="1000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Fig. 1. SASTO: 3D wireframe → volumetric parts → FEA dataset → surrogate → optimization → watertight STL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320040" y="8348471"/>
            <a:ext cx="10332600" cy="548700"/>
          </a:xfrm>
          <a:prstGeom prst="roundRect">
            <a:avLst>
              <a:gd fmla="val 20000" name="adj"/>
            </a:avLst>
          </a:prstGeom>
          <a:solidFill>
            <a:srgbClr val="0A3D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20040" y="8348471"/>
            <a:ext cx="10332600" cy="548700"/>
          </a:xfrm>
          <a:prstGeom prst="rect">
            <a:avLst/>
          </a:prstGeom>
          <a:solidFill>
            <a:srgbClr val="00226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INTRODUCTION</a:t>
            </a:r>
            <a:endParaRPr sz="3000"/>
          </a:p>
        </p:txBody>
      </p:sp>
      <p:sp>
        <p:nvSpPr>
          <p:cNvPr id="97" name="Google Shape;97;p1"/>
          <p:cNvSpPr/>
          <p:nvPr/>
        </p:nvSpPr>
        <p:spPr>
          <a:xfrm>
            <a:off x="320040" y="8897111"/>
            <a:ext cx="10332600" cy="5303400"/>
          </a:xfrm>
          <a:prstGeom prst="roundRect">
            <a:avLst>
              <a:gd fmla="val 0" name="adj"/>
            </a:avLst>
          </a:prstGeom>
          <a:solidFill>
            <a:srgbClr val="F7F9FC"/>
          </a:solidFill>
          <a:ln cap="flat" cmpd="sng" w="12700">
            <a:solidFill>
              <a:srgbClr val="B7C5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484632" y="9061703"/>
            <a:ext cx="5669400" cy="4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8C9E"/>
                </a:solidFill>
                <a:latin typeface="Arial"/>
                <a:ea typeface="Arial"/>
                <a:cs typeface="Arial"/>
                <a:sym typeface="Arial"/>
              </a:rPr>
              <a:t>▶ Concrete &amp; Construction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Concrete = ~8% of global CO₂ [IEA 2021]. Uniform-thickness walls are determined by formwork, not structural need — wasting material.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8C9E"/>
                </a:solidFill>
                <a:latin typeface="Arial"/>
                <a:ea typeface="Arial"/>
                <a:cs typeface="Arial"/>
                <a:sym typeface="Arial"/>
              </a:rPr>
              <a:t>▶ Additive Manufacturing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Large-scale 3D printing (ICON, COBOD, Apis Cor) enables topology-optimized structures with arbitrary wall profiles at no extra tooling cost.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8C9E"/>
                </a:solidFill>
                <a:latin typeface="Arial"/>
                <a:ea typeface="Arial"/>
                <a:cs typeface="Arial"/>
                <a:sym typeface="Arial"/>
              </a:rPr>
              <a:t>▶ Computational Bottleneck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Classical SIMP: hundreds–thousands FEA solves, each minutes–hours at building scale. Produces disconnected mesh fragments.</a:t>
            </a:r>
            <a:endParaRPr/>
          </a:p>
        </p:txBody>
      </p:sp>
      <p:pic>
        <p:nvPicPr>
          <p:cNvPr descr="Image 2.jpg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8504" y="9268750"/>
            <a:ext cx="4169665" cy="1414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3.jpg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1310" y="10981943"/>
            <a:ext cx="1284050" cy="182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484632" y="13194791"/>
            <a:ext cx="10003500" cy="731400"/>
          </a:xfrm>
          <a:prstGeom prst="roundRect">
            <a:avLst>
              <a:gd fmla="val 35000" name="adj"/>
            </a:avLst>
          </a:prstGeom>
          <a:solidFill>
            <a:srgbClr val="E8EEF2"/>
          </a:solidFill>
          <a:ln cap="flat" cmpd="sng" w="19050">
            <a:solidFill>
              <a:srgbClr val="008C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49224" y="13267943"/>
            <a:ext cx="96744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SASTO replaces FEA with a deep ensemble surrogate achieving 23–92× speedup and zero constraint violations across 1,114 designs.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320040" y="14292072"/>
            <a:ext cx="10332600" cy="548700"/>
          </a:xfrm>
          <a:prstGeom prst="roundRect">
            <a:avLst>
              <a:gd fmla="val 20000" name="adj"/>
            </a:avLst>
          </a:prstGeom>
          <a:solidFill>
            <a:srgbClr val="0A3D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320040" y="14292072"/>
            <a:ext cx="10332600" cy="548700"/>
          </a:xfrm>
          <a:prstGeom prst="rect">
            <a:avLst/>
          </a:prstGeom>
          <a:solidFill>
            <a:srgbClr val="00226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RESEARCH OBJECTIVES</a:t>
            </a:r>
            <a:endParaRPr sz="3000"/>
          </a:p>
        </p:txBody>
      </p:sp>
      <p:sp>
        <p:nvSpPr>
          <p:cNvPr id="105" name="Google Shape;105;p1"/>
          <p:cNvSpPr/>
          <p:nvPr/>
        </p:nvSpPr>
        <p:spPr>
          <a:xfrm>
            <a:off x="320040" y="14840712"/>
            <a:ext cx="10332600" cy="3291900"/>
          </a:xfrm>
          <a:prstGeom prst="roundRect">
            <a:avLst>
              <a:gd fmla="val 0" name="adj"/>
            </a:avLst>
          </a:prstGeom>
          <a:solidFill>
            <a:srgbClr val="F7F9FC"/>
          </a:solidFill>
          <a:ln cap="flat" cmpd="sng" w="12700">
            <a:solidFill>
              <a:srgbClr val="B7C5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484632" y="15005304"/>
            <a:ext cx="256032" cy="256032"/>
          </a:xfrm>
          <a:prstGeom prst="roundRect">
            <a:avLst>
              <a:gd fmla="val 50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484632" y="150053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832104" y="15005304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8C9E"/>
                </a:solidFill>
                <a:latin typeface="Arial"/>
                <a:ea typeface="Arial"/>
                <a:cs typeface="Arial"/>
                <a:sym typeface="Arial"/>
              </a:rPr>
              <a:t>SPEED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2313432" y="15005304"/>
            <a:ext cx="8174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23–92× speedup via deep ensemble surrogate</a:t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484632" y="15334488"/>
            <a:ext cx="256032" cy="256032"/>
          </a:xfrm>
          <a:prstGeom prst="roundRect">
            <a:avLst>
              <a:gd fmla="val 50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484632" y="1533448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2" name="Google Shape;112;p1"/>
          <p:cNvSpPr txBox="1"/>
          <p:nvPr/>
        </p:nvSpPr>
        <p:spPr>
          <a:xfrm>
            <a:off x="832104" y="1533448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8C9E"/>
                </a:solidFill>
                <a:latin typeface="Arial"/>
                <a:ea typeface="Arial"/>
                <a:cs typeface="Arial"/>
                <a:sym typeface="Arial"/>
              </a:rPr>
              <a:t>PRINTABILITY</a:t>
            </a:r>
            <a:endParaRPr/>
          </a:p>
        </p:txBody>
      </p:sp>
      <p:sp>
        <p:nvSpPr>
          <p:cNvPr id="113" name="Google Shape;113;p1"/>
          <p:cNvSpPr txBox="1"/>
          <p:nvPr/>
        </p:nvSpPr>
        <p:spPr>
          <a:xfrm>
            <a:off x="2313432" y="15334488"/>
            <a:ext cx="8174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6-connected single-mesh watertight guarantee</a:t>
            </a:r>
            <a:endParaRPr/>
          </a:p>
        </p:txBody>
      </p:sp>
      <p:sp>
        <p:nvSpPr>
          <p:cNvPr id="114" name="Google Shape;114;p1"/>
          <p:cNvSpPr/>
          <p:nvPr/>
        </p:nvSpPr>
        <p:spPr>
          <a:xfrm>
            <a:off x="484632" y="15663672"/>
            <a:ext cx="256032" cy="256032"/>
          </a:xfrm>
          <a:prstGeom prst="roundRect">
            <a:avLst>
              <a:gd fmla="val 50000" name="adj"/>
            </a:avLst>
          </a:prstGeom>
          <a:solidFill>
            <a:srgbClr val="CFA5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484632" y="156636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832104" y="1566367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A535"/>
                </a:solidFill>
                <a:latin typeface="Arial"/>
                <a:ea typeface="Arial"/>
                <a:cs typeface="Arial"/>
                <a:sym typeface="Arial"/>
              </a:rPr>
              <a:t>EFFICIENCY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2313432" y="15663672"/>
            <a:ext cx="8174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23.5% mean material reduction (up to 45%)</a:t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484632" y="15992855"/>
            <a:ext cx="256032" cy="256032"/>
          </a:xfrm>
          <a:prstGeom prst="roundRect">
            <a:avLst>
              <a:gd fmla="val 50000" name="adj"/>
            </a:avLst>
          </a:prstGeom>
          <a:solidFill>
            <a:srgbClr val="D726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484632" y="15992855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20" name="Google Shape;120;p1"/>
          <p:cNvSpPr txBox="1"/>
          <p:nvPr/>
        </p:nvSpPr>
        <p:spPr>
          <a:xfrm>
            <a:off x="832104" y="15992855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Arial"/>
                <a:ea typeface="Arial"/>
                <a:cs typeface="Arial"/>
                <a:sym typeface="Arial"/>
              </a:rPr>
              <a:t>SAFETY</a:t>
            </a:r>
            <a:endParaRPr/>
          </a:p>
        </p:txBody>
      </p:sp>
      <p:sp>
        <p:nvSpPr>
          <p:cNvPr id="121" name="Google Shape;121;p1"/>
          <p:cNvSpPr txBox="1"/>
          <p:nvPr/>
        </p:nvSpPr>
        <p:spPr>
          <a:xfrm>
            <a:off x="2313432" y="15992855"/>
            <a:ext cx="8174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0/1,114 FEA violations; P(violation) ≤ 0.09%</a:t>
            </a:r>
            <a:endParaRPr/>
          </a:p>
        </p:txBody>
      </p:sp>
      <p:sp>
        <p:nvSpPr>
          <p:cNvPr id="122" name="Google Shape;122;p1"/>
          <p:cNvSpPr/>
          <p:nvPr/>
        </p:nvSpPr>
        <p:spPr>
          <a:xfrm>
            <a:off x="685800" y="16459199"/>
            <a:ext cx="2194560" cy="640080"/>
          </a:xfrm>
          <a:prstGeom prst="roundRect">
            <a:avLst>
              <a:gd fmla="val 35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685800" y="16504919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Data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Generation</a:t>
            </a:r>
            <a:endParaRPr/>
          </a:p>
        </p:txBody>
      </p:sp>
      <p:sp>
        <p:nvSpPr>
          <p:cNvPr id="124" name="Google Shape;124;p1"/>
          <p:cNvSpPr txBox="1"/>
          <p:nvPr/>
        </p:nvSpPr>
        <p:spPr>
          <a:xfrm>
            <a:off x="2898648" y="16623791"/>
            <a:ext cx="23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FA535"/>
                </a:solidFill>
                <a:latin typeface="Arial"/>
                <a:ea typeface="Arial"/>
                <a:cs typeface="Arial"/>
                <a:sym typeface="Arial"/>
              </a:rPr>
              <a:t>►</a:t>
            </a:r>
            <a:endParaRPr/>
          </a:p>
        </p:txBody>
      </p:sp>
      <p:sp>
        <p:nvSpPr>
          <p:cNvPr id="125" name="Google Shape;125;p1"/>
          <p:cNvSpPr/>
          <p:nvPr/>
        </p:nvSpPr>
        <p:spPr>
          <a:xfrm>
            <a:off x="3154680" y="16459199"/>
            <a:ext cx="2194500" cy="640200"/>
          </a:xfrm>
          <a:prstGeom prst="roundRect">
            <a:avLst>
              <a:gd fmla="val 35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3154680" y="16504919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Surrogate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/>
          </a:p>
        </p:txBody>
      </p:sp>
      <p:sp>
        <p:nvSpPr>
          <p:cNvPr id="127" name="Google Shape;127;p1"/>
          <p:cNvSpPr txBox="1"/>
          <p:nvPr/>
        </p:nvSpPr>
        <p:spPr>
          <a:xfrm>
            <a:off x="5367527" y="16623791"/>
            <a:ext cx="23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FA535"/>
                </a:solidFill>
                <a:latin typeface="Arial"/>
                <a:ea typeface="Arial"/>
                <a:cs typeface="Arial"/>
                <a:sym typeface="Arial"/>
              </a:rPr>
              <a:t>►</a:t>
            </a:r>
            <a:endParaRPr/>
          </a:p>
        </p:txBody>
      </p:sp>
      <p:sp>
        <p:nvSpPr>
          <p:cNvPr id="128" name="Google Shape;128;p1"/>
          <p:cNvSpPr/>
          <p:nvPr/>
        </p:nvSpPr>
        <p:spPr>
          <a:xfrm>
            <a:off x="5623559" y="16459199"/>
            <a:ext cx="2194500" cy="640200"/>
          </a:xfrm>
          <a:prstGeom prst="roundRect">
            <a:avLst>
              <a:gd fmla="val 35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5623559" y="16504919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SASTO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Optimize</a:t>
            </a:r>
            <a:endParaRPr/>
          </a:p>
        </p:txBody>
      </p:sp>
      <p:sp>
        <p:nvSpPr>
          <p:cNvPr id="130" name="Google Shape;130;p1"/>
          <p:cNvSpPr txBox="1"/>
          <p:nvPr/>
        </p:nvSpPr>
        <p:spPr>
          <a:xfrm>
            <a:off x="7836407" y="16623791"/>
            <a:ext cx="23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FA535"/>
                </a:solidFill>
                <a:latin typeface="Arial"/>
                <a:ea typeface="Arial"/>
                <a:cs typeface="Arial"/>
                <a:sym typeface="Arial"/>
              </a:rPr>
              <a:t>►</a:t>
            </a:r>
            <a:endParaRPr/>
          </a:p>
        </p:txBody>
      </p:sp>
      <p:sp>
        <p:nvSpPr>
          <p:cNvPr id="131" name="Google Shape;131;p1"/>
          <p:cNvSpPr/>
          <p:nvPr/>
        </p:nvSpPr>
        <p:spPr>
          <a:xfrm>
            <a:off x="8092440" y="16459199"/>
            <a:ext cx="2194500" cy="640200"/>
          </a:xfrm>
          <a:prstGeom prst="roundRect">
            <a:avLst>
              <a:gd fmla="val 35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8092440" y="16504919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Validate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Certify</a:t>
            </a:r>
            <a:endParaRPr/>
          </a:p>
        </p:txBody>
      </p:sp>
      <p:sp>
        <p:nvSpPr>
          <p:cNvPr id="133" name="Google Shape;133;p1"/>
          <p:cNvSpPr/>
          <p:nvPr/>
        </p:nvSpPr>
        <p:spPr>
          <a:xfrm>
            <a:off x="320040" y="18223992"/>
            <a:ext cx="10332600" cy="548700"/>
          </a:xfrm>
          <a:prstGeom prst="roundRect">
            <a:avLst>
              <a:gd fmla="val 20000" name="adj"/>
            </a:avLst>
          </a:prstGeom>
          <a:solidFill>
            <a:srgbClr val="0A3D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320040" y="18223992"/>
            <a:ext cx="10332600" cy="548700"/>
          </a:xfrm>
          <a:prstGeom prst="rect">
            <a:avLst/>
          </a:prstGeom>
          <a:solidFill>
            <a:srgbClr val="00226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ENGINEERING DESIGN CRITERIA</a:t>
            </a:r>
            <a:endParaRPr sz="3000"/>
          </a:p>
        </p:txBody>
      </p:sp>
      <p:sp>
        <p:nvSpPr>
          <p:cNvPr id="135" name="Google Shape;135;p1"/>
          <p:cNvSpPr/>
          <p:nvPr/>
        </p:nvSpPr>
        <p:spPr>
          <a:xfrm>
            <a:off x="320040" y="18772632"/>
            <a:ext cx="10332600" cy="3840600"/>
          </a:xfrm>
          <a:prstGeom prst="roundRect">
            <a:avLst>
              <a:gd fmla="val 0" name="adj"/>
            </a:avLst>
          </a:prstGeom>
          <a:solidFill>
            <a:srgbClr val="F7F9FC"/>
          </a:solidFill>
          <a:ln cap="flat" cmpd="sng" w="12700">
            <a:solidFill>
              <a:srgbClr val="B7C5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6" name="Google Shape;136;p1"/>
          <p:cNvGraphicFramePr/>
          <p:nvPr/>
        </p:nvGraphicFramePr>
        <p:xfrm>
          <a:off x="484632" y="189372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{6B026B1A-C397-48AE-AD91-E97E0D36FC4D}</a:tableStyleId>
              </a:tblPr>
              <a:tblGrid>
                <a:gridCol w="3474725"/>
                <a:gridCol w="3200400"/>
                <a:gridCol w="3200400"/>
              </a:tblGrid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Constraint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Basis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Von Mises stress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σ_VM ≤ 5.0 MPa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f'c/(γ_m×γ_f)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Compliance ratio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C_opt/C_base ≤ 1.15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15% stiffness limit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Displacement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u_max ≤ L/360 ≈ 28 mm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ASCE 7-22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Wall t (exterior)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2Δx ≈ 156 mm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path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Wall t (interior)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1Δx ≈ 78 mm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Non-structural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Mesh integrity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component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Printability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1"/>
          <p:cNvSpPr/>
          <p:nvPr/>
        </p:nvSpPr>
        <p:spPr>
          <a:xfrm>
            <a:off x="484632" y="20610576"/>
            <a:ext cx="10003500" cy="457200"/>
          </a:xfrm>
          <a:prstGeom prst="roundRect">
            <a:avLst>
              <a:gd fmla="val 30000" name="adj"/>
            </a:avLst>
          </a:prstGeom>
          <a:solidFill>
            <a:srgbClr val="E8EE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649224" y="20647152"/>
            <a:ext cx="967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σ_VM,allow = f'c / (γ_m × γ_f) = 30 MPa / (3.0 × 2.0) = 5.0 MPa</a:t>
            </a:r>
            <a:b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Conservative: μ_σ + k·σ_σ,  k = 1.0  |  P(violation) ≤ 0.09%</a:t>
            </a:r>
            <a:endParaRPr/>
          </a:p>
        </p:txBody>
      </p:sp>
      <p:sp>
        <p:nvSpPr>
          <p:cNvPr id="139" name="Google Shape;139;p1"/>
          <p:cNvSpPr/>
          <p:nvPr/>
        </p:nvSpPr>
        <p:spPr>
          <a:xfrm>
            <a:off x="320040" y="22704552"/>
            <a:ext cx="10332600" cy="548700"/>
          </a:xfrm>
          <a:prstGeom prst="roundRect">
            <a:avLst>
              <a:gd fmla="val 20000" name="adj"/>
            </a:avLst>
          </a:prstGeom>
          <a:solidFill>
            <a:srgbClr val="0A3D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320040" y="22704552"/>
            <a:ext cx="10332600" cy="548700"/>
          </a:xfrm>
          <a:prstGeom prst="rect">
            <a:avLst/>
          </a:prstGeom>
          <a:solidFill>
            <a:srgbClr val="00226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PROBLEM FRAMING</a:t>
            </a:r>
            <a:endParaRPr sz="3000"/>
          </a:p>
        </p:txBody>
      </p:sp>
      <p:sp>
        <p:nvSpPr>
          <p:cNvPr id="141" name="Google Shape;141;p1"/>
          <p:cNvSpPr/>
          <p:nvPr/>
        </p:nvSpPr>
        <p:spPr>
          <a:xfrm>
            <a:off x="320040" y="23253192"/>
            <a:ext cx="10332600" cy="9345300"/>
          </a:xfrm>
          <a:prstGeom prst="roundRect">
            <a:avLst>
              <a:gd fmla="val 0" name="adj"/>
            </a:avLst>
          </a:prstGeom>
          <a:solidFill>
            <a:srgbClr val="F7F9FC"/>
          </a:solidFill>
          <a:ln cap="flat" cmpd="sng" w="12700">
            <a:solidFill>
              <a:srgbClr val="B7C5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484632" y="23417784"/>
            <a:ext cx="1000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Optimization Objective</a:t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484632" y="23710392"/>
            <a:ext cx="10003500" cy="457200"/>
          </a:xfrm>
          <a:prstGeom prst="roundRect">
            <a:avLst>
              <a:gd fmla="val 30000" name="adj"/>
            </a:avLst>
          </a:prstGeom>
          <a:solidFill>
            <a:srgbClr val="E8EE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649224" y="23746968"/>
            <a:ext cx="967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min J(ρ) = w_V·(V/V₀) + w_S·(S/V₀) + P_constraint(ρ)</a:t>
            </a:r>
            <a:endParaRPr/>
          </a:p>
        </p:txBody>
      </p:sp>
      <p:sp>
        <p:nvSpPr>
          <p:cNvPr id="145" name="Google Shape;145;p1"/>
          <p:cNvSpPr txBox="1"/>
          <p:nvPr/>
        </p:nvSpPr>
        <p:spPr>
          <a:xfrm>
            <a:off x="484632" y="24259032"/>
            <a:ext cx="1000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Sensitivity Formula</a:t>
            </a:r>
            <a:endParaRPr/>
          </a:p>
        </p:txBody>
      </p:sp>
      <p:sp>
        <p:nvSpPr>
          <p:cNvPr id="146" name="Google Shape;146;p1"/>
          <p:cNvSpPr/>
          <p:nvPr/>
        </p:nvSpPr>
        <p:spPr>
          <a:xfrm>
            <a:off x="484632" y="24533352"/>
            <a:ext cx="10003500" cy="402300"/>
          </a:xfrm>
          <a:prstGeom prst="roundRect">
            <a:avLst>
              <a:gd fmla="val 30000" name="adj"/>
            </a:avLst>
          </a:prstGeom>
          <a:solidFill>
            <a:srgbClr val="E8EE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649224" y="24569928"/>
            <a:ext cx="967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sᵢ = (1/5)·Σₘ ∂/∂ρᵢ[fₘ(C) + 0.3·fₘ(σ)]   |   sᵢ &gt; 0: safe to remove   |   sᵢ &lt; 0: essential</a:t>
            </a:r>
            <a:endParaRPr/>
          </a:p>
        </p:txBody>
      </p:sp>
      <p:sp>
        <p:nvSpPr>
          <p:cNvPr id="148" name="Google Shape;148;p1"/>
          <p:cNvSpPr txBox="1"/>
          <p:nvPr/>
        </p:nvSpPr>
        <p:spPr>
          <a:xfrm>
            <a:off x="484632" y="25045416"/>
            <a:ext cx="1000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Part-Aware Thickness Schematic</a:t>
            </a:r>
            <a:endParaRPr/>
          </a:p>
        </p:txBody>
      </p:sp>
      <p:pic>
        <p:nvPicPr>
          <p:cNvPr descr="Image 5.jpg" id="149" name="Google Shape;14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7667" y="25319736"/>
            <a:ext cx="6677465" cy="651052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"/>
          <p:cNvSpPr/>
          <p:nvPr/>
        </p:nvSpPr>
        <p:spPr>
          <a:xfrm>
            <a:off x="484632" y="32004000"/>
            <a:ext cx="10003536" cy="411480"/>
          </a:xfrm>
          <a:prstGeom prst="roundRect">
            <a:avLst>
              <a:gd fmla="val 30000" name="adj"/>
            </a:avLst>
          </a:prstGeom>
          <a:solidFill>
            <a:srgbClr val="E8EE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"/>
          <p:cNvSpPr txBox="1"/>
          <p:nvPr/>
        </p:nvSpPr>
        <p:spPr>
          <a:xfrm>
            <a:off x="649224" y="32040576"/>
            <a:ext cx="9674352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t_min(p) = 2Δx = 156 mm  if p ∈ {ext, roof, floor}  |  1Δx = 78 mm  if p = interior wall</a:t>
            </a:r>
            <a:endParaRPr/>
          </a:p>
        </p:txBody>
      </p:sp>
      <p:sp>
        <p:nvSpPr>
          <p:cNvPr id="152" name="Google Shape;152;p1"/>
          <p:cNvSpPr/>
          <p:nvPr/>
        </p:nvSpPr>
        <p:spPr>
          <a:xfrm>
            <a:off x="11292840" y="3136392"/>
            <a:ext cx="21305400" cy="548700"/>
          </a:xfrm>
          <a:prstGeom prst="roundRect">
            <a:avLst>
              <a:gd fmla="val 20000" name="adj"/>
            </a:avLst>
          </a:prstGeom>
          <a:solidFill>
            <a:srgbClr val="0A3D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"/>
          <p:cNvSpPr txBox="1"/>
          <p:nvPr/>
        </p:nvSpPr>
        <p:spPr>
          <a:xfrm>
            <a:off x="11292840" y="3136392"/>
            <a:ext cx="21305400" cy="548700"/>
          </a:xfrm>
          <a:prstGeom prst="rect">
            <a:avLst/>
          </a:prstGeom>
          <a:solidFill>
            <a:srgbClr val="00226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ENGINEERING METHODOLOGY</a:t>
            </a:r>
            <a:endParaRPr sz="2200"/>
          </a:p>
        </p:txBody>
      </p:sp>
      <p:sp>
        <p:nvSpPr>
          <p:cNvPr id="154" name="Google Shape;154;p1"/>
          <p:cNvSpPr/>
          <p:nvPr/>
        </p:nvSpPr>
        <p:spPr>
          <a:xfrm>
            <a:off x="11292840" y="3685032"/>
            <a:ext cx="21305400" cy="14447400"/>
          </a:xfrm>
          <a:prstGeom prst="roundRect">
            <a:avLst>
              <a:gd fmla="val 0" name="adj"/>
            </a:avLst>
          </a:prstGeom>
          <a:solidFill>
            <a:srgbClr val="F7F9FC"/>
          </a:solidFill>
          <a:ln cap="flat" cmpd="sng" w="12700">
            <a:solidFill>
              <a:srgbClr val="B7C5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11548872" y="3922776"/>
            <a:ext cx="1021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Dataset Generation Pipeline</a:t>
            </a:r>
            <a:endParaRPr/>
          </a:p>
        </p:txBody>
      </p:sp>
      <p:pic>
        <p:nvPicPr>
          <p:cNvPr descr="Image 6.jpg" id="156" name="Google Shape;156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882116" y="4178808"/>
            <a:ext cx="5547360" cy="3200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1"/>
          <p:cNvGraphicFramePr/>
          <p:nvPr/>
        </p:nvGraphicFramePr>
        <p:xfrm>
          <a:off x="11548872" y="74706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{6B026B1A-C397-48AE-AD91-E97E0D36FC4D}</a:tableStyleId>
              </a:tblPr>
              <a:tblGrid>
                <a:gridCol w="2560325"/>
                <a:gridCol w="2286000"/>
                <a:gridCol w="4937750"/>
              </a:tblGrid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Split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8,943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σ_VM, u_max, 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1,121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1"/>
          <p:cNvSpPr txBox="1"/>
          <p:nvPr/>
        </p:nvSpPr>
        <p:spPr>
          <a:xfrm>
            <a:off x="11548872" y="8394192"/>
            <a:ext cx="1021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Fig. 6. 14,293 wireframes → 11,178 FEA sims → 128³ voxel grids</a:t>
            </a:r>
            <a:endParaRPr/>
          </a:p>
        </p:txBody>
      </p:sp>
      <p:sp>
        <p:nvSpPr>
          <p:cNvPr id="159" name="Google Shape;159;p1"/>
          <p:cNvSpPr txBox="1"/>
          <p:nvPr/>
        </p:nvSpPr>
        <p:spPr>
          <a:xfrm>
            <a:off x="22128480" y="3922776"/>
            <a:ext cx="1021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Deep Ensemble Surrogate (5×8.76M params)</a:t>
            </a:r>
            <a:endParaRPr/>
          </a:p>
        </p:txBody>
      </p:sp>
      <p:sp>
        <p:nvSpPr>
          <p:cNvPr id="160" name="Google Shape;160;p1"/>
          <p:cNvSpPr/>
          <p:nvPr/>
        </p:nvSpPr>
        <p:spPr>
          <a:xfrm>
            <a:off x="30787848" y="3904487"/>
            <a:ext cx="1463100" cy="237600"/>
          </a:xfrm>
          <a:prstGeom prst="roundRect">
            <a:avLst>
              <a:gd fmla="val 30000" name="adj"/>
            </a:avLst>
          </a:prstGeom>
          <a:solidFill>
            <a:srgbClr val="D726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30787848" y="3904487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×5 Ensemble</a:t>
            </a:r>
            <a:endParaRPr/>
          </a:p>
        </p:txBody>
      </p:sp>
      <p:pic>
        <p:nvPicPr>
          <p:cNvPr descr="Image 7.jpg" id="162" name="Google Shape;162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518014" y="4215384"/>
            <a:ext cx="3061410" cy="493776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"/>
          <p:cNvSpPr txBox="1"/>
          <p:nvPr/>
        </p:nvSpPr>
        <p:spPr>
          <a:xfrm>
            <a:off x="26106119" y="4215384"/>
            <a:ext cx="62361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Architecture: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• 3D CNN → Avg+Max dual-pool → 512-d embedding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• Load features concatenated after pool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• 3 regression heads: σ_VM, u_max, 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Training: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• Huber loss (SmoothL1)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• AdamW, lr = 5×10⁻⁴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• 90° rotations + flips + noise σ=0.02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• Input: log(1+|y|) → z-score</a:t>
            </a:r>
            <a:endParaRPr/>
          </a:p>
        </p:txBody>
      </p:sp>
      <p:graphicFrame>
        <p:nvGraphicFramePr>
          <p:cNvPr id="164" name="Google Shape;164;p1"/>
          <p:cNvGraphicFramePr/>
          <p:nvPr/>
        </p:nvGraphicFramePr>
        <p:xfrm>
          <a:off x="22128480" y="92445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{6B026B1A-C397-48AE-AD91-E97E0D36FC4D}</a:tableStyleId>
              </a:tblPr>
              <a:tblGrid>
                <a:gridCol w="4114800"/>
                <a:gridCol w="5669275"/>
              </a:tblGrid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Hyperparameter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Huber (SmoothL1)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Optimizer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AdamW, lr = 5e-4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Augmentation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90° rotations, flips, noise σ = 0.02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log(1+|y|) → z-score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"/>
          <p:cNvSpPr txBox="1"/>
          <p:nvPr/>
        </p:nvSpPr>
        <p:spPr>
          <a:xfrm>
            <a:off x="22128480" y="10387584"/>
            <a:ext cx="1021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Fig. 7. Dual pooling → 512-d embed fused with load features → 3 outputs</a:t>
            </a:r>
            <a:endParaRPr/>
          </a:p>
        </p:txBody>
      </p:sp>
      <p:sp>
        <p:nvSpPr>
          <p:cNvPr id="166" name="Google Shape;166;p1"/>
          <p:cNvSpPr txBox="1"/>
          <p:nvPr/>
        </p:nvSpPr>
        <p:spPr>
          <a:xfrm>
            <a:off x="11548872" y="10506456"/>
            <a:ext cx="1021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SASTO Algorithm — Sensitivity-Guided Erosion</a:t>
            </a:r>
            <a:endParaRPr/>
          </a:p>
        </p:txBody>
      </p:sp>
      <p:pic>
        <p:nvPicPr>
          <p:cNvPr descr="Image 8.jpg" id="167" name="Google Shape;16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48872" y="11463555"/>
            <a:ext cx="10213846" cy="455975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"/>
          <p:cNvSpPr/>
          <p:nvPr/>
        </p:nvSpPr>
        <p:spPr>
          <a:xfrm>
            <a:off x="11548872" y="16779240"/>
            <a:ext cx="10213800" cy="219600"/>
          </a:xfrm>
          <a:prstGeom prst="roundRect">
            <a:avLst>
              <a:gd fmla="val 20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11640311" y="16779240"/>
            <a:ext cx="10031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1: Sensitivity-Guided Erosion (&gt;99% of removal)</a:t>
            </a:r>
            <a:endParaRPr/>
          </a:p>
        </p:txBody>
      </p:sp>
      <p:sp>
        <p:nvSpPr>
          <p:cNvPr id="170" name="Google Shape;170;p1"/>
          <p:cNvSpPr/>
          <p:nvPr/>
        </p:nvSpPr>
        <p:spPr>
          <a:xfrm>
            <a:off x="11548872" y="17035272"/>
            <a:ext cx="10213800" cy="219600"/>
          </a:xfrm>
          <a:prstGeom prst="roundRect">
            <a:avLst>
              <a:gd fmla="val 20000" name="adj"/>
            </a:avLst>
          </a:prstGeom>
          <a:solidFill>
            <a:srgbClr val="CFA5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11640311" y="17035272"/>
            <a:ext cx="10031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2: Endgame (B=5, then 1)</a:t>
            </a:r>
            <a:endParaRPr/>
          </a:p>
        </p:txBody>
      </p:sp>
      <p:sp>
        <p:nvSpPr>
          <p:cNvPr id="172" name="Google Shape;172;p1"/>
          <p:cNvSpPr/>
          <p:nvPr/>
        </p:nvSpPr>
        <p:spPr>
          <a:xfrm>
            <a:off x="11548872" y="17291304"/>
            <a:ext cx="10213800" cy="219600"/>
          </a:xfrm>
          <a:prstGeom prst="roundRect">
            <a:avLst>
              <a:gd fmla="val 20000" name="adj"/>
            </a:avLst>
          </a:prstGeom>
          <a:solidFill>
            <a:srgbClr val="D726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11640311" y="17291304"/>
            <a:ext cx="10031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3: Swap Moves (interior ↔ removed neighbor)</a:t>
            </a:r>
            <a:endParaRPr/>
          </a:p>
        </p:txBody>
      </p:sp>
      <p:sp>
        <p:nvSpPr>
          <p:cNvPr id="174" name="Google Shape;174;p1"/>
          <p:cNvSpPr/>
          <p:nvPr/>
        </p:nvSpPr>
        <p:spPr>
          <a:xfrm>
            <a:off x="11548872" y="17583912"/>
            <a:ext cx="10213800" cy="347400"/>
          </a:xfrm>
          <a:prstGeom prst="roundRect">
            <a:avLst>
              <a:gd fmla="val 25000" name="adj"/>
            </a:avLst>
          </a:prstGeom>
          <a:solidFill>
            <a:srgbClr val="E8EE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"/>
          <p:cNvSpPr txBox="1"/>
          <p:nvPr/>
        </p:nvSpPr>
        <p:spPr>
          <a:xfrm>
            <a:off x="11640311" y="17620488"/>
            <a:ext cx="1003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Trust-region: constraint violated → undo, halve B → max(B/2, 10)</a:t>
            </a:r>
            <a:endParaRPr/>
          </a:p>
        </p:txBody>
      </p:sp>
      <p:sp>
        <p:nvSpPr>
          <p:cNvPr id="176" name="Google Shape;176;p1"/>
          <p:cNvSpPr txBox="1"/>
          <p:nvPr/>
        </p:nvSpPr>
        <p:spPr>
          <a:xfrm>
            <a:off x="11548872" y="17693640"/>
            <a:ext cx="1021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Fig. 8. Phase 1 provides &gt;99% of removal. Phases 2–3 squeeze remaining feasible voxels.</a:t>
            </a:r>
            <a:endParaRPr/>
          </a:p>
        </p:txBody>
      </p:sp>
      <p:sp>
        <p:nvSpPr>
          <p:cNvPr id="177" name="Google Shape;177;p1"/>
          <p:cNvSpPr txBox="1"/>
          <p:nvPr/>
        </p:nvSpPr>
        <p:spPr>
          <a:xfrm>
            <a:off x="22128480" y="10506456"/>
            <a:ext cx="1021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Topology: 6-Connectivity Guarantee</a:t>
            </a:r>
            <a:endParaRPr/>
          </a:p>
        </p:txBody>
      </p:sp>
      <p:sp>
        <p:nvSpPr>
          <p:cNvPr id="178" name="Google Shape;178;p1"/>
          <p:cNvSpPr/>
          <p:nvPr/>
        </p:nvSpPr>
        <p:spPr>
          <a:xfrm>
            <a:off x="22128480" y="10799064"/>
            <a:ext cx="4969800" cy="2926200"/>
          </a:xfrm>
          <a:prstGeom prst="roundRect">
            <a:avLst>
              <a:gd fmla="val 30000" name="adj"/>
            </a:avLst>
          </a:prstGeom>
          <a:solidFill>
            <a:srgbClr val="F7F9FC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22128480" y="10817352"/>
            <a:ext cx="4969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7263D"/>
                </a:solidFill>
                <a:latin typeface="Arial"/>
                <a:ea typeface="Arial"/>
                <a:cs typeface="Arial"/>
                <a:sym typeface="Arial"/>
              </a:rPr>
              <a:t>26-CONN — FAILS</a:t>
            </a:r>
            <a:endParaRPr/>
          </a:p>
        </p:txBody>
      </p:sp>
      <p:pic>
        <p:nvPicPr>
          <p:cNvPr descr="Image 9.jpg" id="180" name="Google Shape;180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466551" y="11055096"/>
            <a:ext cx="2293620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"/>
          <p:cNvSpPr txBox="1"/>
          <p:nvPr/>
        </p:nvSpPr>
        <p:spPr>
          <a:xfrm>
            <a:off x="22128480" y="13030200"/>
            <a:ext cx="496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7263D"/>
                </a:solidFill>
                <a:latin typeface="Arial"/>
                <a:ea typeface="Arial"/>
                <a:cs typeface="Arial"/>
                <a:sym typeface="Arial"/>
              </a:rPr>
              <a:t>✗ Thousands of floating</a:t>
            </a:r>
            <a:br>
              <a:rPr b="1" i="0" lang="en-US" sz="1000" u="none" cap="none" strike="noStrike">
                <a:solidFill>
                  <a:srgbClr val="D7263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rgbClr val="D7263D"/>
                </a:solidFill>
                <a:latin typeface="Arial"/>
                <a:ea typeface="Arial"/>
                <a:cs typeface="Arial"/>
                <a:sym typeface="Arial"/>
              </a:rPr>
              <a:t>fragments — Unprintable</a:t>
            </a:r>
            <a:endParaRPr/>
          </a:p>
        </p:txBody>
      </p:sp>
      <p:sp>
        <p:nvSpPr>
          <p:cNvPr id="182" name="Google Shape;182;p1"/>
          <p:cNvSpPr txBox="1"/>
          <p:nvPr/>
        </p:nvSpPr>
        <p:spPr>
          <a:xfrm>
            <a:off x="27098244" y="1189634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Arial"/>
                <a:ea typeface="Arial"/>
                <a:cs typeface="Arial"/>
                <a:sym typeface="Arial"/>
              </a:rPr>
              <a:t>vs.</a:t>
            </a:r>
            <a:endParaRPr/>
          </a:p>
        </p:txBody>
      </p:sp>
      <p:sp>
        <p:nvSpPr>
          <p:cNvPr id="183" name="Google Shape;183;p1"/>
          <p:cNvSpPr/>
          <p:nvPr/>
        </p:nvSpPr>
        <p:spPr>
          <a:xfrm>
            <a:off x="27189684" y="10799064"/>
            <a:ext cx="4969800" cy="2926200"/>
          </a:xfrm>
          <a:prstGeom prst="roundRect">
            <a:avLst>
              <a:gd fmla="val 30000" name="adj"/>
            </a:avLst>
          </a:prstGeom>
          <a:solidFill>
            <a:srgbClr val="F7F9FC"/>
          </a:solidFill>
          <a:ln cap="flat" cmpd="sng" w="19050">
            <a:solidFill>
              <a:srgbClr val="008C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"/>
          <p:cNvSpPr txBox="1"/>
          <p:nvPr/>
        </p:nvSpPr>
        <p:spPr>
          <a:xfrm>
            <a:off x="27189684" y="10817352"/>
            <a:ext cx="4969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C9E"/>
                </a:solidFill>
                <a:latin typeface="Arial"/>
                <a:ea typeface="Arial"/>
                <a:cs typeface="Arial"/>
                <a:sym typeface="Arial"/>
              </a:rPr>
              <a:t>6-CONN — WORKS</a:t>
            </a:r>
            <a:endParaRPr/>
          </a:p>
        </p:txBody>
      </p:sp>
      <p:pic>
        <p:nvPicPr>
          <p:cNvPr descr="Image 0.jpg" id="185" name="Google Shape;185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8738449" y="11055096"/>
            <a:ext cx="1872234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"/>
          <p:cNvSpPr txBox="1"/>
          <p:nvPr/>
        </p:nvSpPr>
        <p:spPr>
          <a:xfrm>
            <a:off x="27189684" y="13030200"/>
            <a:ext cx="496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C9E"/>
                </a:solidFill>
                <a:latin typeface="Arial"/>
                <a:ea typeface="Arial"/>
                <a:cs typeface="Arial"/>
                <a:sym typeface="Arial"/>
              </a:rPr>
              <a:t>✓ 1 connected component</a:t>
            </a:r>
            <a:br>
              <a:rPr b="1" i="0" lang="en-US" sz="1000" u="none" cap="none" strike="noStrike">
                <a:solidFill>
                  <a:srgbClr val="008C9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rgbClr val="008C9E"/>
                </a:solidFill>
                <a:latin typeface="Arial"/>
                <a:ea typeface="Arial"/>
                <a:cs typeface="Arial"/>
                <a:sym typeface="Arial"/>
              </a:rPr>
              <a:t>Watertight STL confirmed</a:t>
            </a:r>
            <a:endParaRPr/>
          </a:p>
        </p:txBody>
      </p:sp>
      <p:sp>
        <p:nvSpPr>
          <p:cNvPr id="187" name="Google Shape;187;p1"/>
          <p:cNvSpPr/>
          <p:nvPr/>
        </p:nvSpPr>
        <p:spPr>
          <a:xfrm>
            <a:off x="22128480" y="13816584"/>
            <a:ext cx="10213800" cy="457200"/>
          </a:xfrm>
          <a:prstGeom prst="roundRect">
            <a:avLst>
              <a:gd fmla="val 25000" name="adj"/>
            </a:avLst>
          </a:prstGeom>
          <a:solidFill>
            <a:srgbClr val="E8EEF2"/>
          </a:solidFill>
          <a:ln cap="flat" cmpd="sng" w="12700">
            <a:solidFill>
              <a:srgbClr val="008C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 txBox="1"/>
          <p:nvPr/>
        </p:nvSpPr>
        <p:spPr>
          <a:xfrm>
            <a:off x="22219919" y="13871448"/>
            <a:ext cx="10031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Proposition: A binary voxel field with exactly one 6-connected foreground component yields a single-component marching-cubes surface mesh.</a:t>
            </a:r>
            <a:endParaRPr/>
          </a:p>
        </p:txBody>
      </p:sp>
      <p:sp>
        <p:nvSpPr>
          <p:cNvPr id="189" name="Google Shape;189;p1"/>
          <p:cNvSpPr/>
          <p:nvPr/>
        </p:nvSpPr>
        <p:spPr>
          <a:xfrm>
            <a:off x="22128480" y="14346936"/>
            <a:ext cx="4969800" cy="365700"/>
          </a:xfrm>
          <a:prstGeom prst="roundRect">
            <a:avLst>
              <a:gd fmla="val 20000" name="adj"/>
            </a:avLst>
          </a:prstGeom>
          <a:solidFill>
            <a:srgbClr val="F7F9FC"/>
          </a:solidFill>
          <a:ln cap="flat" cmpd="sng" w="12700">
            <a:solidFill>
              <a:srgbClr val="008C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"/>
          <p:cNvSpPr txBox="1"/>
          <p:nvPr/>
        </p:nvSpPr>
        <p:spPr>
          <a:xfrm>
            <a:off x="22128480" y="14401800"/>
            <a:ext cx="4969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8C9E"/>
                </a:solidFill>
                <a:latin typeface="Arial"/>
                <a:ea typeface="Arial"/>
                <a:cs typeface="Arial"/>
                <a:sym typeface="Arial"/>
              </a:rPr>
              <a:t>FACE-share (6-adj) = printable ✓</a:t>
            </a:r>
            <a:endParaRPr/>
          </a:p>
        </p:txBody>
      </p:sp>
      <p:sp>
        <p:nvSpPr>
          <p:cNvPr id="191" name="Google Shape;191;p1"/>
          <p:cNvSpPr/>
          <p:nvPr/>
        </p:nvSpPr>
        <p:spPr>
          <a:xfrm>
            <a:off x="27189684" y="14346936"/>
            <a:ext cx="4969800" cy="365700"/>
          </a:xfrm>
          <a:prstGeom prst="roundRect">
            <a:avLst>
              <a:gd fmla="val 20000" name="adj"/>
            </a:avLst>
          </a:prstGeom>
          <a:solidFill>
            <a:srgbClr val="F7F9FC"/>
          </a:solidFill>
          <a:ln cap="flat" cmpd="sng" w="1270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"/>
          <p:cNvSpPr txBox="1"/>
          <p:nvPr/>
        </p:nvSpPr>
        <p:spPr>
          <a:xfrm>
            <a:off x="27189684" y="14401800"/>
            <a:ext cx="4969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7263D"/>
                </a:solidFill>
                <a:latin typeface="Arial"/>
                <a:ea typeface="Arial"/>
                <a:cs typeface="Arial"/>
                <a:sym typeface="Arial"/>
              </a:rPr>
              <a:t>CORNER-share only = fragment ✗</a:t>
            </a:r>
            <a:endParaRPr/>
          </a:p>
        </p:txBody>
      </p:sp>
      <p:sp>
        <p:nvSpPr>
          <p:cNvPr id="193" name="Google Shape;193;p1"/>
          <p:cNvSpPr txBox="1"/>
          <p:nvPr/>
        </p:nvSpPr>
        <p:spPr>
          <a:xfrm>
            <a:off x="22128480" y="14767559"/>
            <a:ext cx="1021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Fig. 9. 6-connectivity eliminates floating fragments incompatible with AM toolpath generation.</a:t>
            </a:r>
            <a:endParaRPr/>
          </a:p>
        </p:txBody>
      </p:sp>
      <p:sp>
        <p:nvSpPr>
          <p:cNvPr id="194" name="Google Shape;194;p1"/>
          <p:cNvSpPr/>
          <p:nvPr/>
        </p:nvSpPr>
        <p:spPr>
          <a:xfrm>
            <a:off x="11292840" y="18223992"/>
            <a:ext cx="21305400" cy="548700"/>
          </a:xfrm>
          <a:prstGeom prst="roundRect">
            <a:avLst>
              <a:gd fmla="val 20000" name="adj"/>
            </a:avLst>
          </a:prstGeom>
          <a:solidFill>
            <a:srgbClr val="0A3D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"/>
          <p:cNvSpPr txBox="1"/>
          <p:nvPr/>
        </p:nvSpPr>
        <p:spPr>
          <a:xfrm>
            <a:off x="11292840" y="18223992"/>
            <a:ext cx="21305400" cy="548700"/>
          </a:xfrm>
          <a:prstGeom prst="rect">
            <a:avLst/>
          </a:prstGeom>
          <a:solidFill>
            <a:srgbClr val="00226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RESULTS &amp; IN-SILICO VALIDATION</a:t>
            </a:r>
            <a:endParaRPr sz="3000"/>
          </a:p>
        </p:txBody>
      </p:sp>
      <p:sp>
        <p:nvSpPr>
          <p:cNvPr id="196" name="Google Shape;196;p1"/>
          <p:cNvSpPr/>
          <p:nvPr/>
        </p:nvSpPr>
        <p:spPr>
          <a:xfrm>
            <a:off x="11292840" y="18772632"/>
            <a:ext cx="21305400" cy="13825800"/>
          </a:xfrm>
          <a:prstGeom prst="roundRect">
            <a:avLst>
              <a:gd fmla="val 0" name="adj"/>
            </a:avLst>
          </a:prstGeom>
          <a:solidFill>
            <a:srgbClr val="F7F9FC"/>
          </a:solidFill>
          <a:ln cap="flat" cmpd="sng" w="12700">
            <a:solidFill>
              <a:srgbClr val="B7C5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"/>
          <p:cNvSpPr txBox="1"/>
          <p:nvPr/>
        </p:nvSpPr>
        <p:spPr>
          <a:xfrm>
            <a:off x="11457432" y="18937224"/>
            <a:ext cx="687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Reference Case (Sample 00472)</a:t>
            </a:r>
            <a:endParaRPr/>
          </a:p>
        </p:txBody>
      </p:sp>
      <p:pic>
        <p:nvPicPr>
          <p:cNvPr descr="Image 11.jpg" id="198" name="Google Shape;198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423648" y="19211544"/>
            <a:ext cx="4937759" cy="329183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"/>
          <p:cNvSpPr/>
          <p:nvPr/>
        </p:nvSpPr>
        <p:spPr>
          <a:xfrm>
            <a:off x="14161007" y="20948904"/>
            <a:ext cx="1463100" cy="237600"/>
          </a:xfrm>
          <a:prstGeom prst="roundRect">
            <a:avLst>
              <a:gd fmla="val 30000" name="adj"/>
            </a:avLst>
          </a:prstGeom>
          <a:solidFill>
            <a:srgbClr val="D726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"/>
          <p:cNvSpPr txBox="1"/>
          <p:nvPr/>
        </p:nvSpPr>
        <p:spPr>
          <a:xfrm>
            <a:off x="14161007" y="20948904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−45.0% material</a:t>
            </a:r>
            <a:endParaRPr/>
          </a:p>
        </p:txBody>
      </p:sp>
      <p:graphicFrame>
        <p:nvGraphicFramePr>
          <p:cNvPr id="201" name="Google Shape;201;p1"/>
          <p:cNvGraphicFramePr/>
          <p:nvPr/>
        </p:nvGraphicFramePr>
        <p:xfrm>
          <a:off x="11457432" y="225948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{6B026B1A-C397-48AE-AD91-E97E0D36FC4D}</a:tableStyleId>
              </a:tblPr>
              <a:tblGrid>
                <a:gridCol w="2748075"/>
                <a:gridCol w="1923650"/>
                <a:gridCol w="2198450"/>
              </a:tblGrid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SASTO-PA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Vol. reduction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45.0% ★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VM stress (Pa)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3.08e6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3.08e6 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Compliance ratio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1.004 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Mesh components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Runtime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160 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EI Index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0.358 ★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1"/>
          <p:cNvSpPr txBox="1"/>
          <p:nvPr/>
        </p:nvSpPr>
        <p:spPr>
          <a:xfrm>
            <a:off x="11457432" y="24176736"/>
            <a:ext cx="687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Table 1. SASTO-PA: 10.7pp more than SASTO-U</a:t>
            </a:r>
            <a:endParaRPr/>
          </a:p>
        </p:txBody>
      </p:sp>
      <p:sp>
        <p:nvSpPr>
          <p:cNvPr id="203" name="Google Shape;203;p1"/>
          <p:cNvSpPr txBox="1"/>
          <p:nvPr/>
        </p:nvSpPr>
        <p:spPr>
          <a:xfrm>
            <a:off x="18510504" y="18937224"/>
            <a:ext cx="687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1,114-Geometry Generalization</a:t>
            </a:r>
            <a:endParaRPr/>
          </a:p>
        </p:txBody>
      </p:sp>
      <p:pic>
        <p:nvPicPr>
          <p:cNvPr descr="fig10_histogram.png" id="204" name="Google Shape;204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9060732" y="19211544"/>
            <a:ext cx="5769735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"/>
          <p:cNvSpPr txBox="1"/>
          <p:nvPr/>
        </p:nvSpPr>
        <p:spPr>
          <a:xfrm>
            <a:off x="18510504" y="22155912"/>
            <a:ext cx="687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Fig. 10. Volume reduction. n=1,114 | Mean: 23.5%±7.8%</a:t>
            </a:r>
            <a:endParaRPr/>
          </a:p>
        </p:txBody>
      </p:sp>
      <p:sp>
        <p:nvSpPr>
          <p:cNvPr id="206" name="Google Shape;206;p1"/>
          <p:cNvSpPr txBox="1"/>
          <p:nvPr/>
        </p:nvSpPr>
        <p:spPr>
          <a:xfrm>
            <a:off x="18510504" y="22457664"/>
            <a:ext cx="687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Per-Part Material Retention</a:t>
            </a:r>
            <a:endParaRPr/>
          </a:p>
        </p:txBody>
      </p:sp>
      <p:pic>
        <p:nvPicPr>
          <p:cNvPr descr="fig11_per_part.png" id="207" name="Google Shape;207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9007985" y="22731984"/>
            <a:ext cx="5875231" cy="256032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"/>
          <p:cNvSpPr txBox="1"/>
          <p:nvPr/>
        </p:nvSpPr>
        <p:spPr>
          <a:xfrm>
            <a:off x="18510504" y="25328880"/>
            <a:ext cx="687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Fig. 11. Load-bearing &gt;91% retained. Interior walls: primary target.</a:t>
            </a:r>
            <a:endParaRPr/>
          </a:p>
        </p:txBody>
      </p:sp>
      <p:sp>
        <p:nvSpPr>
          <p:cNvPr id="209" name="Google Shape;209;p1"/>
          <p:cNvSpPr txBox="1"/>
          <p:nvPr/>
        </p:nvSpPr>
        <p:spPr>
          <a:xfrm>
            <a:off x="25563576" y="18937224"/>
            <a:ext cx="687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Speedup vs. SIMP</a:t>
            </a:r>
            <a:endParaRPr/>
          </a:p>
        </p:txBody>
      </p:sp>
      <p:pic>
        <p:nvPicPr>
          <p:cNvPr descr="fig12_speedup.png" id="210" name="Google Shape;210;p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6162840" y="19211544"/>
            <a:ext cx="5671662" cy="228599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"/>
          <p:cNvSpPr txBox="1"/>
          <p:nvPr/>
        </p:nvSpPr>
        <p:spPr>
          <a:xfrm>
            <a:off x="25563576" y="21534120"/>
            <a:ext cx="687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Fig. 12. SIMP 64³: 94s; SASTO 128³: 50s. 23–92× faster.</a:t>
            </a:r>
            <a:endParaRPr/>
          </a:p>
        </p:txBody>
      </p:sp>
      <p:sp>
        <p:nvSpPr>
          <p:cNvPr id="212" name="Google Shape;212;p1"/>
          <p:cNvSpPr txBox="1"/>
          <p:nvPr/>
        </p:nvSpPr>
        <p:spPr>
          <a:xfrm>
            <a:off x="25563576" y="21881592"/>
            <a:ext cx="687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Independent FEA Re-analysis (n=1,114)</a:t>
            </a:r>
            <a:endParaRPr/>
          </a:p>
        </p:txBody>
      </p:sp>
      <p:pic>
        <p:nvPicPr>
          <p:cNvPr descr="fig13_fea_compliance.png" id="213" name="Google Shape;213;p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6204198" y="22137624"/>
            <a:ext cx="5588948" cy="283464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"/>
          <p:cNvSpPr/>
          <p:nvPr/>
        </p:nvSpPr>
        <p:spPr>
          <a:xfrm>
            <a:off x="25655016" y="22229064"/>
            <a:ext cx="1463100" cy="237600"/>
          </a:xfrm>
          <a:prstGeom prst="roundRect">
            <a:avLst>
              <a:gd fmla="val 30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"/>
          <p:cNvSpPr txBox="1"/>
          <p:nvPr/>
        </p:nvSpPr>
        <p:spPr>
          <a:xfrm>
            <a:off x="25655016" y="22229064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0/1,114 violations</a:t>
            </a:r>
            <a:endParaRPr/>
          </a:p>
        </p:txBody>
      </p:sp>
      <p:sp>
        <p:nvSpPr>
          <p:cNvPr id="216" name="Google Shape;216;p1"/>
          <p:cNvSpPr/>
          <p:nvPr/>
        </p:nvSpPr>
        <p:spPr>
          <a:xfrm>
            <a:off x="25655016" y="22503384"/>
            <a:ext cx="1645800" cy="219600"/>
          </a:xfrm>
          <a:prstGeom prst="roundRect">
            <a:avLst>
              <a:gd fmla="val 30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"/>
          <p:cNvSpPr txBox="1"/>
          <p:nvPr/>
        </p:nvSpPr>
        <p:spPr>
          <a:xfrm>
            <a:off x="25655016" y="22503384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P(violation) ≤ 0.09%</a:t>
            </a:r>
            <a:endParaRPr/>
          </a:p>
        </p:txBody>
      </p:sp>
      <p:sp>
        <p:nvSpPr>
          <p:cNvPr id="218" name="Google Shape;218;p1"/>
          <p:cNvSpPr txBox="1"/>
          <p:nvPr/>
        </p:nvSpPr>
        <p:spPr>
          <a:xfrm>
            <a:off x="25563576" y="25008840"/>
            <a:ext cx="687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Fig. 13. All C_opt/C_base ≤ 1.15. Max: 1.004.</a:t>
            </a:r>
            <a:endParaRPr/>
          </a:p>
        </p:txBody>
      </p:sp>
      <p:sp>
        <p:nvSpPr>
          <p:cNvPr id="219" name="Google Shape;219;p1"/>
          <p:cNvSpPr/>
          <p:nvPr/>
        </p:nvSpPr>
        <p:spPr>
          <a:xfrm>
            <a:off x="11457432" y="31062168"/>
            <a:ext cx="20976300" cy="1371600"/>
          </a:xfrm>
          <a:prstGeom prst="roundRect">
            <a:avLst>
              <a:gd fmla="val 40000" name="adj"/>
            </a:avLst>
          </a:prstGeom>
          <a:solidFill>
            <a:srgbClr val="0A3D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"/>
          <p:cNvSpPr txBox="1"/>
          <p:nvPr/>
        </p:nvSpPr>
        <p:spPr>
          <a:xfrm>
            <a:off x="11457432" y="31199327"/>
            <a:ext cx="52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FA535"/>
                </a:solidFill>
                <a:latin typeface="Arial Black"/>
                <a:ea typeface="Arial Black"/>
                <a:cs typeface="Arial Black"/>
                <a:sym typeface="Arial Black"/>
              </a:rPr>
              <a:t>23.5%</a:t>
            </a:r>
            <a:endParaRPr/>
          </a:p>
        </p:txBody>
      </p:sp>
      <p:sp>
        <p:nvSpPr>
          <p:cNvPr id="221" name="Google Shape;221;p1"/>
          <p:cNvSpPr txBox="1"/>
          <p:nvPr/>
        </p:nvSpPr>
        <p:spPr>
          <a:xfrm>
            <a:off x="11457432" y="31885127"/>
            <a:ext cx="52440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Mean material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reduction</a:t>
            </a:r>
            <a:endParaRPr/>
          </a:p>
        </p:txBody>
      </p:sp>
      <p:sp>
        <p:nvSpPr>
          <p:cNvPr id="222" name="Google Shape;222;p1"/>
          <p:cNvSpPr txBox="1"/>
          <p:nvPr/>
        </p:nvSpPr>
        <p:spPr>
          <a:xfrm>
            <a:off x="16701516" y="31199327"/>
            <a:ext cx="52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FA535"/>
                </a:solidFill>
                <a:latin typeface="Arial Black"/>
                <a:ea typeface="Arial Black"/>
                <a:cs typeface="Arial Black"/>
                <a:sym typeface="Arial Black"/>
              </a:rPr>
              <a:t>23–92×</a:t>
            </a:r>
            <a:endParaRPr/>
          </a:p>
        </p:txBody>
      </p:sp>
      <p:sp>
        <p:nvSpPr>
          <p:cNvPr id="223" name="Google Shape;223;p1"/>
          <p:cNvSpPr txBox="1"/>
          <p:nvPr/>
        </p:nvSpPr>
        <p:spPr>
          <a:xfrm>
            <a:off x="16701516" y="31885127"/>
            <a:ext cx="52440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Speedup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vs. SIMP</a:t>
            </a:r>
            <a:endParaRPr/>
          </a:p>
        </p:txBody>
      </p:sp>
      <p:sp>
        <p:nvSpPr>
          <p:cNvPr id="224" name="Google Shape;224;p1"/>
          <p:cNvSpPr/>
          <p:nvPr/>
        </p:nvSpPr>
        <p:spPr>
          <a:xfrm>
            <a:off x="16701516" y="31290768"/>
            <a:ext cx="183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"/>
          <p:cNvSpPr txBox="1"/>
          <p:nvPr/>
        </p:nvSpPr>
        <p:spPr>
          <a:xfrm>
            <a:off x="21945600" y="31199327"/>
            <a:ext cx="52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FA535"/>
                </a:solidFill>
                <a:latin typeface="Arial Black"/>
                <a:ea typeface="Arial Black"/>
                <a:cs typeface="Arial Black"/>
                <a:sym typeface="Arial Black"/>
              </a:rPr>
              <a:t>0/1,114</a:t>
            </a:r>
            <a:endParaRPr/>
          </a:p>
        </p:txBody>
      </p:sp>
      <p:sp>
        <p:nvSpPr>
          <p:cNvPr id="226" name="Google Shape;226;p1"/>
          <p:cNvSpPr txBox="1"/>
          <p:nvPr/>
        </p:nvSpPr>
        <p:spPr>
          <a:xfrm>
            <a:off x="21945600" y="31885127"/>
            <a:ext cx="52440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 constraint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violations</a:t>
            </a:r>
            <a:endParaRPr/>
          </a:p>
        </p:txBody>
      </p:sp>
      <p:sp>
        <p:nvSpPr>
          <p:cNvPr id="227" name="Google Shape;227;p1"/>
          <p:cNvSpPr/>
          <p:nvPr/>
        </p:nvSpPr>
        <p:spPr>
          <a:xfrm>
            <a:off x="21945600" y="31290768"/>
            <a:ext cx="183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"/>
          <p:cNvSpPr txBox="1"/>
          <p:nvPr/>
        </p:nvSpPr>
        <p:spPr>
          <a:xfrm>
            <a:off x="27189684" y="31199327"/>
            <a:ext cx="52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FA535"/>
                </a:solidFill>
                <a:latin typeface="Arial Black"/>
                <a:ea typeface="Arial Black"/>
                <a:cs typeface="Arial Black"/>
                <a:sym typeface="Arial Black"/>
              </a:rPr>
              <a:t>50 sec</a:t>
            </a:r>
            <a:endParaRPr/>
          </a:p>
        </p:txBody>
      </p:sp>
      <p:sp>
        <p:nvSpPr>
          <p:cNvPr id="229" name="Google Shape;229;p1"/>
          <p:cNvSpPr txBox="1"/>
          <p:nvPr/>
        </p:nvSpPr>
        <p:spPr>
          <a:xfrm>
            <a:off x="27189684" y="31885127"/>
            <a:ext cx="52440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Median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optimization time</a:t>
            </a:r>
            <a:endParaRPr/>
          </a:p>
        </p:txBody>
      </p:sp>
      <p:sp>
        <p:nvSpPr>
          <p:cNvPr id="230" name="Google Shape;230;p1"/>
          <p:cNvSpPr/>
          <p:nvPr/>
        </p:nvSpPr>
        <p:spPr>
          <a:xfrm>
            <a:off x="27189684" y="31290768"/>
            <a:ext cx="183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"/>
          <p:cNvSpPr/>
          <p:nvPr/>
        </p:nvSpPr>
        <p:spPr>
          <a:xfrm>
            <a:off x="33238440" y="3136392"/>
            <a:ext cx="10332600" cy="548700"/>
          </a:xfrm>
          <a:prstGeom prst="roundRect">
            <a:avLst>
              <a:gd fmla="val 20000" name="adj"/>
            </a:avLst>
          </a:prstGeom>
          <a:solidFill>
            <a:srgbClr val="0A3D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"/>
          <p:cNvSpPr txBox="1"/>
          <p:nvPr/>
        </p:nvSpPr>
        <p:spPr>
          <a:xfrm>
            <a:off x="33238440" y="3136392"/>
            <a:ext cx="10332600" cy="548700"/>
          </a:xfrm>
          <a:prstGeom prst="rect">
            <a:avLst/>
          </a:prstGeom>
          <a:solidFill>
            <a:srgbClr val="00226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STATISTICAL ANALYSIS</a:t>
            </a:r>
            <a:endParaRPr sz="2200"/>
          </a:p>
        </p:txBody>
      </p:sp>
      <p:sp>
        <p:nvSpPr>
          <p:cNvPr id="233" name="Google Shape;233;p1"/>
          <p:cNvSpPr/>
          <p:nvPr/>
        </p:nvSpPr>
        <p:spPr>
          <a:xfrm>
            <a:off x="33238440" y="3685032"/>
            <a:ext cx="10332600" cy="12618600"/>
          </a:xfrm>
          <a:prstGeom prst="roundRect">
            <a:avLst>
              <a:gd fmla="val 0" name="adj"/>
            </a:avLst>
          </a:prstGeom>
          <a:solidFill>
            <a:srgbClr val="F7F9FC"/>
          </a:solidFill>
          <a:ln cap="flat" cmpd="sng" w="12700">
            <a:solidFill>
              <a:srgbClr val="B7C5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"/>
          <p:cNvSpPr txBox="1"/>
          <p:nvPr/>
        </p:nvSpPr>
        <p:spPr>
          <a:xfrm>
            <a:off x="33403032" y="3849624"/>
            <a:ext cx="1000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Surrogate Model Performance</a:t>
            </a:r>
            <a:endParaRPr/>
          </a:p>
        </p:txBody>
      </p:sp>
      <p:graphicFrame>
        <p:nvGraphicFramePr>
          <p:cNvPr id="235" name="Google Shape;235;p1"/>
          <p:cNvGraphicFramePr/>
          <p:nvPr/>
        </p:nvGraphicFramePr>
        <p:xfrm>
          <a:off x="33403032" y="41239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{6B026B1A-C397-48AE-AD91-E97E0D36FC4D}</a:tableStyleId>
              </a:tblPr>
              <a:tblGrid>
                <a:gridCol w="3200400"/>
                <a:gridCol w="2011675"/>
                <a:gridCol w="1920250"/>
                <a:gridCol w="2011675"/>
              </a:tblGrid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Spearman ρ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R²_log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MAPE%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A3D9A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Von Mises stress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0.419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37.4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Displacement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0.970 ★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0.842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A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Compliance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0.948 ★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B17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36" name="Google Shape;236;p1"/>
          <p:cNvSpPr/>
          <p:nvPr/>
        </p:nvSpPr>
        <p:spPr>
          <a:xfrm>
            <a:off x="33403032" y="5074920"/>
            <a:ext cx="10003500" cy="329100"/>
          </a:xfrm>
          <a:prstGeom prst="roundRect">
            <a:avLst>
              <a:gd fmla="val 25000" name="adj"/>
            </a:avLst>
          </a:prstGeom>
          <a:solidFill>
            <a:srgbClr val="E8EE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"/>
          <p:cNvSpPr txBox="1"/>
          <p:nvPr/>
        </p:nvSpPr>
        <p:spPr>
          <a:xfrm>
            <a:off x="33567624" y="5111496"/>
            <a:ext cx="96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Ranking accuracy (Spearman ρ), not pointwise, drives optimization safety. Compliance ρ = 0.948.</a:t>
            </a:r>
            <a:endParaRPr/>
          </a:p>
        </p:txBody>
      </p:sp>
      <p:sp>
        <p:nvSpPr>
          <p:cNvPr id="238" name="Google Shape;238;p1"/>
          <p:cNvSpPr txBox="1"/>
          <p:nvPr/>
        </p:nvSpPr>
        <p:spPr>
          <a:xfrm>
            <a:off x="33403032" y="5477256"/>
            <a:ext cx="1000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Optimization Convergence</a:t>
            </a:r>
            <a:endParaRPr/>
          </a:p>
        </p:txBody>
      </p:sp>
      <p:pic>
        <p:nvPicPr>
          <p:cNvPr descr="fig14_convergence.png" id="239" name="Google Shape;239;p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4354753" y="5733288"/>
            <a:ext cx="8100092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"/>
          <p:cNvSpPr txBox="1"/>
          <p:nvPr/>
        </p:nvSpPr>
        <p:spPr>
          <a:xfrm>
            <a:off x="33403032" y="8513064"/>
            <a:ext cx="1000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Fig. 14. SASTO-PA (teal) vs. SASTO-U (gold). Part-aware thinning enables deeper removal.</a:t>
            </a:r>
            <a:endParaRPr/>
          </a:p>
        </p:txBody>
      </p:sp>
      <p:sp>
        <p:nvSpPr>
          <p:cNvPr id="241" name="Google Shape;241;p1"/>
          <p:cNvSpPr txBox="1"/>
          <p:nvPr/>
        </p:nvSpPr>
        <p:spPr>
          <a:xfrm>
            <a:off x="33403032" y="8787384"/>
            <a:ext cx="1000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k-Factor Sensitivity (Pareto Frontier)</a:t>
            </a:r>
            <a:endParaRPr/>
          </a:p>
        </p:txBody>
      </p:sp>
      <p:pic>
        <p:nvPicPr>
          <p:cNvPr descr="fig15_k_factor.png" id="242" name="Google Shape;242;p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4110712" y="9043415"/>
            <a:ext cx="8588174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"/>
          <p:cNvSpPr/>
          <p:nvPr/>
        </p:nvSpPr>
        <p:spPr>
          <a:xfrm>
            <a:off x="38039040" y="10250424"/>
            <a:ext cx="1645800" cy="219600"/>
          </a:xfrm>
          <a:prstGeom prst="roundRect">
            <a:avLst>
              <a:gd fmla="val 20000" name="adj"/>
            </a:avLst>
          </a:prstGeom>
          <a:solidFill>
            <a:srgbClr val="CFA5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"/>
          <p:cNvSpPr txBox="1"/>
          <p:nvPr/>
        </p:nvSpPr>
        <p:spPr>
          <a:xfrm>
            <a:off x="38039040" y="10250424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k=1.0 Operating Point</a:t>
            </a:r>
            <a:endParaRPr/>
          </a:p>
        </p:txBody>
      </p:sp>
      <p:sp>
        <p:nvSpPr>
          <p:cNvPr id="245" name="Google Shape;245;p1"/>
          <p:cNvSpPr txBox="1"/>
          <p:nvPr/>
        </p:nvSpPr>
        <p:spPr>
          <a:xfrm>
            <a:off x="33403032" y="11548872"/>
            <a:ext cx="1000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Fig. 15. Non-monotonic: both gate and budget depend on k. k=1.0 is Pareto-optimal.</a:t>
            </a:r>
            <a:endParaRPr/>
          </a:p>
        </p:txBody>
      </p:sp>
      <p:sp>
        <p:nvSpPr>
          <p:cNvPr id="246" name="Google Shape;246;p1"/>
          <p:cNvSpPr txBox="1"/>
          <p:nvPr/>
        </p:nvSpPr>
        <p:spPr>
          <a:xfrm>
            <a:off x="33403032" y="11823192"/>
            <a:ext cx="1000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Conformal Prediction Calibration</a:t>
            </a:r>
            <a:endParaRPr/>
          </a:p>
        </p:txBody>
      </p:sp>
      <p:pic>
        <p:nvPicPr>
          <p:cNvPr descr="fig16_uncertainty.png" id="247" name="Google Shape;247;p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4533291" y="12079224"/>
            <a:ext cx="7743014" cy="219455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"/>
          <p:cNvSpPr txBox="1"/>
          <p:nvPr/>
        </p:nvSpPr>
        <p:spPr>
          <a:xfrm>
            <a:off x="33403032" y="14310360"/>
            <a:ext cx="10003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Fig. 16. Uncertainty bands widen. Γ_D ≈ 0.184 (ref). P(violation) ≤ 0.09%.</a:t>
            </a:r>
            <a:endParaRPr/>
          </a:p>
        </p:txBody>
      </p:sp>
      <p:sp>
        <p:nvSpPr>
          <p:cNvPr id="249" name="Google Shape;249;p1"/>
          <p:cNvSpPr/>
          <p:nvPr/>
        </p:nvSpPr>
        <p:spPr>
          <a:xfrm>
            <a:off x="33238440" y="16395192"/>
            <a:ext cx="10332600" cy="548700"/>
          </a:xfrm>
          <a:prstGeom prst="roundRect">
            <a:avLst>
              <a:gd fmla="val 20000" name="adj"/>
            </a:avLst>
          </a:prstGeom>
          <a:solidFill>
            <a:srgbClr val="0A3D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"/>
          <p:cNvSpPr txBox="1"/>
          <p:nvPr/>
        </p:nvSpPr>
        <p:spPr>
          <a:xfrm>
            <a:off x="33238440" y="16395192"/>
            <a:ext cx="10332600" cy="548700"/>
          </a:xfrm>
          <a:prstGeom prst="rect">
            <a:avLst/>
          </a:prstGeom>
          <a:solidFill>
            <a:srgbClr val="00226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CONCLUSIONS</a:t>
            </a:r>
            <a:endParaRPr sz="3000"/>
          </a:p>
        </p:txBody>
      </p:sp>
      <p:sp>
        <p:nvSpPr>
          <p:cNvPr id="251" name="Google Shape;251;p1"/>
          <p:cNvSpPr/>
          <p:nvPr/>
        </p:nvSpPr>
        <p:spPr>
          <a:xfrm>
            <a:off x="33238440" y="16943832"/>
            <a:ext cx="10332600" cy="4937700"/>
          </a:xfrm>
          <a:prstGeom prst="roundRect">
            <a:avLst>
              <a:gd fmla="val 0" name="adj"/>
            </a:avLst>
          </a:prstGeom>
          <a:solidFill>
            <a:srgbClr val="F7F9FC"/>
          </a:solidFill>
          <a:ln cap="flat" cmpd="sng" w="12700">
            <a:solidFill>
              <a:srgbClr val="B7C5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"/>
          <p:cNvSpPr/>
          <p:nvPr/>
        </p:nvSpPr>
        <p:spPr>
          <a:xfrm>
            <a:off x="33403032" y="17108424"/>
            <a:ext cx="237600" cy="237600"/>
          </a:xfrm>
          <a:prstGeom prst="roundRect">
            <a:avLst>
              <a:gd fmla="val 50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"/>
          <p:cNvSpPr txBox="1"/>
          <p:nvPr/>
        </p:nvSpPr>
        <p:spPr>
          <a:xfrm>
            <a:off x="33403032" y="17108424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54" name="Google Shape;254;p1"/>
          <p:cNvSpPr txBox="1"/>
          <p:nvPr/>
        </p:nvSpPr>
        <p:spPr>
          <a:xfrm>
            <a:off x="33713928" y="17108424"/>
            <a:ext cx="9692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SASTO achieves 23.5%±7.8% mean material reduction across 1,114 held-out geometries, up to 45.0% on individual designs.</a:t>
            </a:r>
            <a:endParaRPr/>
          </a:p>
        </p:txBody>
      </p:sp>
      <p:sp>
        <p:nvSpPr>
          <p:cNvPr id="255" name="Google Shape;255;p1"/>
          <p:cNvSpPr/>
          <p:nvPr/>
        </p:nvSpPr>
        <p:spPr>
          <a:xfrm>
            <a:off x="33403032" y="17894808"/>
            <a:ext cx="237600" cy="237600"/>
          </a:xfrm>
          <a:prstGeom prst="roundRect">
            <a:avLst>
              <a:gd fmla="val 50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"/>
          <p:cNvSpPr txBox="1"/>
          <p:nvPr/>
        </p:nvSpPr>
        <p:spPr>
          <a:xfrm>
            <a:off x="33403032" y="17894808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57" name="Google Shape;257;p1"/>
          <p:cNvSpPr txBox="1"/>
          <p:nvPr/>
        </p:nvSpPr>
        <p:spPr>
          <a:xfrm>
            <a:off x="33713928" y="17894808"/>
            <a:ext cx="9692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Deep ensemble surrogate provides 23–92× speedup vs. SIMP: median 50 s on consumer GPU vs. 19–77 min for SIMP.</a:t>
            </a:r>
            <a:endParaRPr/>
          </a:p>
        </p:txBody>
      </p:sp>
      <p:sp>
        <p:nvSpPr>
          <p:cNvPr id="258" name="Google Shape;258;p1"/>
          <p:cNvSpPr/>
          <p:nvPr/>
        </p:nvSpPr>
        <p:spPr>
          <a:xfrm>
            <a:off x="33403032" y="18681192"/>
            <a:ext cx="237600" cy="237600"/>
          </a:xfrm>
          <a:prstGeom prst="roundRect">
            <a:avLst>
              <a:gd fmla="val 50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"/>
          <p:cNvSpPr txBox="1"/>
          <p:nvPr/>
        </p:nvSpPr>
        <p:spPr>
          <a:xfrm>
            <a:off x="33403032" y="18681192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60" name="Google Shape;260;p1"/>
          <p:cNvSpPr txBox="1"/>
          <p:nvPr/>
        </p:nvSpPr>
        <p:spPr>
          <a:xfrm>
            <a:off x="33713928" y="18681192"/>
            <a:ext cx="9692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6-connectivity eliminates thousands of floating mesh fragments (26-conn), guaranteeing watertight single-component STLs.</a:t>
            </a:r>
            <a:endParaRPr/>
          </a:p>
        </p:txBody>
      </p:sp>
      <p:sp>
        <p:nvSpPr>
          <p:cNvPr id="261" name="Google Shape;261;p1"/>
          <p:cNvSpPr/>
          <p:nvPr/>
        </p:nvSpPr>
        <p:spPr>
          <a:xfrm>
            <a:off x="33403032" y="19467576"/>
            <a:ext cx="237600" cy="237600"/>
          </a:xfrm>
          <a:prstGeom prst="roundRect">
            <a:avLst>
              <a:gd fmla="val 50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"/>
          <p:cNvSpPr txBox="1"/>
          <p:nvPr/>
        </p:nvSpPr>
        <p:spPr>
          <a:xfrm>
            <a:off x="33403032" y="19467576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63" name="Google Shape;263;p1"/>
          <p:cNvSpPr txBox="1"/>
          <p:nvPr/>
        </p:nvSpPr>
        <p:spPr>
          <a:xfrm>
            <a:off x="33713928" y="19467576"/>
            <a:ext cx="9692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Part-aware thickness yields 10.7pp more reduction than uniform by permitting 1-voxel interior walls.</a:t>
            </a:r>
            <a:endParaRPr/>
          </a:p>
        </p:txBody>
      </p:sp>
      <p:sp>
        <p:nvSpPr>
          <p:cNvPr id="264" name="Google Shape;264;p1"/>
          <p:cNvSpPr/>
          <p:nvPr/>
        </p:nvSpPr>
        <p:spPr>
          <a:xfrm>
            <a:off x="33403032" y="20253960"/>
            <a:ext cx="237600" cy="237600"/>
          </a:xfrm>
          <a:prstGeom prst="roundRect">
            <a:avLst>
              <a:gd fmla="val 50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"/>
          <p:cNvSpPr txBox="1"/>
          <p:nvPr/>
        </p:nvSpPr>
        <p:spPr>
          <a:xfrm>
            <a:off x="33403032" y="20253960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66" name="Google Shape;266;p1"/>
          <p:cNvSpPr txBox="1"/>
          <p:nvPr/>
        </p:nvSpPr>
        <p:spPr>
          <a:xfrm>
            <a:off x="33713928" y="20253960"/>
            <a:ext cx="9692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Independent FEA re-analysis of all 1,114 designs: zero violations (max 1.004). Conformal: P(violation) ≤ 0.09%.</a:t>
            </a:r>
            <a:endParaRPr/>
          </a:p>
        </p:txBody>
      </p:sp>
      <p:sp>
        <p:nvSpPr>
          <p:cNvPr id="267" name="Google Shape;267;p1"/>
          <p:cNvSpPr/>
          <p:nvPr/>
        </p:nvSpPr>
        <p:spPr>
          <a:xfrm>
            <a:off x="33403032" y="21497544"/>
            <a:ext cx="10003500" cy="329100"/>
          </a:xfrm>
          <a:prstGeom prst="roundRect">
            <a:avLst>
              <a:gd fmla="val 25000" name="adj"/>
            </a:avLst>
          </a:prstGeom>
          <a:solidFill>
            <a:srgbClr val="E8EEF2"/>
          </a:solidFill>
          <a:ln cap="flat" cmpd="sng" w="12700">
            <a:solidFill>
              <a:srgbClr val="CFA5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"/>
          <p:cNvSpPr txBox="1"/>
          <p:nvPr/>
        </p:nvSpPr>
        <p:spPr>
          <a:xfrm>
            <a:off x="33567624" y="21534119"/>
            <a:ext cx="96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🌍 8% of global CO₂ = cement. 23.5% less concrete per house → millions of tons saved at scale.</a:t>
            </a:r>
            <a:endParaRPr/>
          </a:p>
        </p:txBody>
      </p:sp>
      <p:sp>
        <p:nvSpPr>
          <p:cNvPr id="269" name="Google Shape;269;p1"/>
          <p:cNvSpPr/>
          <p:nvPr/>
        </p:nvSpPr>
        <p:spPr>
          <a:xfrm>
            <a:off x="33238440" y="21973032"/>
            <a:ext cx="10332600" cy="548700"/>
          </a:xfrm>
          <a:prstGeom prst="roundRect">
            <a:avLst>
              <a:gd fmla="val 20000" name="adj"/>
            </a:avLst>
          </a:prstGeom>
          <a:solidFill>
            <a:srgbClr val="0A3D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"/>
          <p:cNvSpPr txBox="1"/>
          <p:nvPr/>
        </p:nvSpPr>
        <p:spPr>
          <a:xfrm>
            <a:off x="33238440" y="21973032"/>
            <a:ext cx="10332600" cy="548700"/>
          </a:xfrm>
          <a:prstGeom prst="rect">
            <a:avLst/>
          </a:prstGeom>
          <a:solidFill>
            <a:srgbClr val="00226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FUTURE WORK</a:t>
            </a:r>
            <a:endParaRPr sz="3000"/>
          </a:p>
        </p:txBody>
      </p:sp>
      <p:sp>
        <p:nvSpPr>
          <p:cNvPr id="271" name="Google Shape;271;p1"/>
          <p:cNvSpPr/>
          <p:nvPr/>
        </p:nvSpPr>
        <p:spPr>
          <a:xfrm>
            <a:off x="33238440" y="22521672"/>
            <a:ext cx="10332600" cy="3840600"/>
          </a:xfrm>
          <a:prstGeom prst="roundRect">
            <a:avLst>
              <a:gd fmla="val 0" name="adj"/>
            </a:avLst>
          </a:prstGeom>
          <a:solidFill>
            <a:srgbClr val="F7F9FC"/>
          </a:solidFill>
          <a:ln cap="flat" cmpd="sng" w="12700">
            <a:solidFill>
              <a:srgbClr val="B7C5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"/>
          <p:cNvSpPr/>
          <p:nvPr/>
        </p:nvSpPr>
        <p:spPr>
          <a:xfrm>
            <a:off x="33403032" y="22686264"/>
            <a:ext cx="237600" cy="237600"/>
          </a:xfrm>
          <a:prstGeom prst="roundRect">
            <a:avLst>
              <a:gd fmla="val 50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"/>
          <p:cNvSpPr txBox="1"/>
          <p:nvPr/>
        </p:nvSpPr>
        <p:spPr>
          <a:xfrm>
            <a:off x="33403032" y="22686264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74" name="Google Shape;274;p1"/>
          <p:cNvSpPr txBox="1"/>
          <p:nvPr/>
        </p:nvSpPr>
        <p:spPr>
          <a:xfrm>
            <a:off x="33713928" y="22686264"/>
            <a:ext cx="9692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3D9A"/>
                </a:solidFill>
                <a:latin typeface="Arial"/>
                <a:ea typeface="Arial"/>
                <a:cs typeface="Arial"/>
                <a:sym typeface="Arial"/>
              </a:rPr>
              <a:t>FEA-IN-THE-LOOP ACTIVE LEARNING</a:t>
            </a:r>
            <a:endParaRPr/>
          </a:p>
        </p:txBody>
      </p:sp>
      <p:sp>
        <p:nvSpPr>
          <p:cNvPr id="275" name="Google Shape;275;p1"/>
          <p:cNvSpPr txBox="1"/>
          <p:nvPr/>
        </p:nvSpPr>
        <p:spPr>
          <a:xfrm>
            <a:off x="33713928" y="22942296"/>
            <a:ext cx="9692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When ensemble Γ_D &gt; threshold τ, trigger ground-truth FEA mid-optimization. Self-correcting safety net.</a:t>
            </a:r>
            <a:endParaRPr/>
          </a:p>
        </p:txBody>
      </p:sp>
      <p:sp>
        <p:nvSpPr>
          <p:cNvPr id="276" name="Google Shape;276;p1"/>
          <p:cNvSpPr/>
          <p:nvPr/>
        </p:nvSpPr>
        <p:spPr>
          <a:xfrm>
            <a:off x="33403032" y="23692104"/>
            <a:ext cx="237600" cy="237600"/>
          </a:xfrm>
          <a:prstGeom prst="roundRect">
            <a:avLst>
              <a:gd fmla="val 50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"/>
          <p:cNvSpPr txBox="1"/>
          <p:nvPr/>
        </p:nvSpPr>
        <p:spPr>
          <a:xfrm>
            <a:off x="33403032" y="23692104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78" name="Google Shape;278;p1"/>
          <p:cNvSpPr txBox="1"/>
          <p:nvPr/>
        </p:nvSpPr>
        <p:spPr>
          <a:xfrm>
            <a:off x="33713928" y="23692104"/>
            <a:ext cx="9692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3D9A"/>
                </a:solidFill>
                <a:latin typeface="Arial"/>
                <a:ea typeface="Arial"/>
                <a:cs typeface="Arial"/>
                <a:sym typeface="Arial"/>
              </a:rPr>
              <a:t>NONLINEAR FEA SPOT CHECKS</a:t>
            </a:r>
            <a:endParaRPr/>
          </a:p>
        </p:txBody>
      </p:sp>
      <p:sp>
        <p:nvSpPr>
          <p:cNvPr id="279" name="Google Shape;279;p1"/>
          <p:cNvSpPr txBox="1"/>
          <p:nvPr/>
        </p:nvSpPr>
        <p:spPr>
          <a:xfrm>
            <a:off x="33713928" y="23948136"/>
            <a:ext cx="9692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Concrete damaged plasticity (CDP) on 5 designs to assess cracking/buckling in 78mm partitions.</a:t>
            </a:r>
            <a:endParaRPr/>
          </a:p>
        </p:txBody>
      </p:sp>
      <p:sp>
        <p:nvSpPr>
          <p:cNvPr id="280" name="Google Shape;280;p1"/>
          <p:cNvSpPr/>
          <p:nvPr/>
        </p:nvSpPr>
        <p:spPr>
          <a:xfrm>
            <a:off x="33403032" y="24697944"/>
            <a:ext cx="237600" cy="237600"/>
          </a:xfrm>
          <a:prstGeom prst="roundRect">
            <a:avLst>
              <a:gd fmla="val 50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"/>
          <p:cNvSpPr txBox="1"/>
          <p:nvPr/>
        </p:nvSpPr>
        <p:spPr>
          <a:xfrm>
            <a:off x="33403032" y="24697944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82" name="Google Shape;282;p1"/>
          <p:cNvSpPr txBox="1"/>
          <p:nvPr/>
        </p:nvSpPr>
        <p:spPr>
          <a:xfrm>
            <a:off x="33713928" y="24697944"/>
            <a:ext cx="9692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3D9A"/>
                </a:solidFill>
                <a:latin typeface="Arial"/>
                <a:ea typeface="Arial"/>
                <a:cs typeface="Arial"/>
                <a:sym typeface="Arial"/>
              </a:rPr>
              <a:t>PHYSICAL PRINT VALIDATION</a:t>
            </a:r>
            <a:endParaRPr/>
          </a:p>
        </p:txBody>
      </p:sp>
      <p:sp>
        <p:nvSpPr>
          <p:cNvPr id="283" name="Google Shape;283;p1"/>
          <p:cNvSpPr txBox="1"/>
          <p:nvPr/>
        </p:nvSpPr>
        <p:spPr>
          <a:xfrm>
            <a:off x="33713928" y="24953976"/>
            <a:ext cx="9692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1:10 scale print. Compression + DIC full-field strain. Compare to model predictions.</a:t>
            </a:r>
            <a:endParaRPr/>
          </a:p>
        </p:txBody>
      </p:sp>
      <p:sp>
        <p:nvSpPr>
          <p:cNvPr id="284" name="Google Shape;284;p1"/>
          <p:cNvSpPr/>
          <p:nvPr/>
        </p:nvSpPr>
        <p:spPr>
          <a:xfrm>
            <a:off x="33695640" y="25749504"/>
            <a:ext cx="2926200" cy="365700"/>
          </a:xfrm>
          <a:prstGeom prst="roundRect">
            <a:avLst>
              <a:gd fmla="val 25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"/>
          <p:cNvSpPr txBox="1"/>
          <p:nvPr/>
        </p:nvSpPr>
        <p:spPr>
          <a:xfrm>
            <a:off x="33695640" y="25795224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Optimized STL</a:t>
            </a:r>
            <a:endParaRPr/>
          </a:p>
        </p:txBody>
      </p:sp>
      <p:sp>
        <p:nvSpPr>
          <p:cNvPr id="286" name="Google Shape;286;p1"/>
          <p:cNvSpPr txBox="1"/>
          <p:nvPr/>
        </p:nvSpPr>
        <p:spPr>
          <a:xfrm>
            <a:off x="36640008" y="25795224"/>
            <a:ext cx="28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FA535"/>
                </a:solidFill>
                <a:latin typeface="Arial"/>
                <a:ea typeface="Arial"/>
                <a:cs typeface="Arial"/>
                <a:sym typeface="Arial"/>
              </a:rPr>
              <a:t>►</a:t>
            </a:r>
            <a:endParaRPr/>
          </a:p>
        </p:txBody>
      </p:sp>
      <p:sp>
        <p:nvSpPr>
          <p:cNvPr id="287" name="Google Shape;287;p1"/>
          <p:cNvSpPr/>
          <p:nvPr/>
        </p:nvSpPr>
        <p:spPr>
          <a:xfrm>
            <a:off x="36941760" y="25749504"/>
            <a:ext cx="2926200" cy="365700"/>
          </a:xfrm>
          <a:prstGeom prst="roundRect">
            <a:avLst>
              <a:gd fmla="val 25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"/>
          <p:cNvSpPr txBox="1"/>
          <p:nvPr/>
        </p:nvSpPr>
        <p:spPr>
          <a:xfrm>
            <a:off x="36941760" y="25795224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3D Print 1:10</a:t>
            </a:r>
            <a:endParaRPr/>
          </a:p>
        </p:txBody>
      </p:sp>
      <p:sp>
        <p:nvSpPr>
          <p:cNvPr id="289" name="Google Shape;289;p1"/>
          <p:cNvSpPr txBox="1"/>
          <p:nvPr/>
        </p:nvSpPr>
        <p:spPr>
          <a:xfrm>
            <a:off x="39886128" y="25795224"/>
            <a:ext cx="28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FA535"/>
                </a:solidFill>
                <a:latin typeface="Arial"/>
                <a:ea typeface="Arial"/>
                <a:cs typeface="Arial"/>
                <a:sym typeface="Arial"/>
              </a:rPr>
              <a:t>►</a:t>
            </a:r>
            <a:endParaRPr/>
          </a:p>
        </p:txBody>
      </p:sp>
      <p:sp>
        <p:nvSpPr>
          <p:cNvPr id="290" name="Google Shape;290;p1"/>
          <p:cNvSpPr/>
          <p:nvPr/>
        </p:nvSpPr>
        <p:spPr>
          <a:xfrm>
            <a:off x="40187880" y="25749504"/>
            <a:ext cx="2926200" cy="365700"/>
          </a:xfrm>
          <a:prstGeom prst="roundRect">
            <a:avLst>
              <a:gd fmla="val 25000" name="adj"/>
            </a:avLst>
          </a:prstGeom>
          <a:solidFill>
            <a:srgbClr val="008C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"/>
          <p:cNvSpPr txBox="1"/>
          <p:nvPr/>
        </p:nvSpPr>
        <p:spPr>
          <a:xfrm>
            <a:off x="40187880" y="25795224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Compression + DIC</a:t>
            </a:r>
            <a:endParaRPr/>
          </a:p>
        </p:txBody>
      </p:sp>
      <p:sp>
        <p:nvSpPr>
          <p:cNvPr id="292" name="Google Shape;292;p1"/>
          <p:cNvSpPr/>
          <p:nvPr/>
        </p:nvSpPr>
        <p:spPr>
          <a:xfrm>
            <a:off x="33238440" y="26453592"/>
            <a:ext cx="10332600" cy="548700"/>
          </a:xfrm>
          <a:prstGeom prst="roundRect">
            <a:avLst>
              <a:gd fmla="val 20000" name="adj"/>
            </a:avLst>
          </a:prstGeom>
          <a:solidFill>
            <a:srgbClr val="0A3D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"/>
          <p:cNvSpPr txBox="1"/>
          <p:nvPr/>
        </p:nvSpPr>
        <p:spPr>
          <a:xfrm>
            <a:off x="33238440" y="26453592"/>
            <a:ext cx="10332600" cy="548700"/>
          </a:xfrm>
          <a:prstGeom prst="rect">
            <a:avLst/>
          </a:prstGeom>
          <a:solidFill>
            <a:srgbClr val="00226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KEY REFERENCES</a:t>
            </a:r>
            <a:endParaRPr sz="3000"/>
          </a:p>
        </p:txBody>
      </p:sp>
      <p:sp>
        <p:nvSpPr>
          <p:cNvPr id="294" name="Google Shape;294;p1"/>
          <p:cNvSpPr/>
          <p:nvPr/>
        </p:nvSpPr>
        <p:spPr>
          <a:xfrm>
            <a:off x="33238440" y="27002232"/>
            <a:ext cx="10332600" cy="5596200"/>
          </a:xfrm>
          <a:prstGeom prst="roundRect">
            <a:avLst>
              <a:gd fmla="val 0" name="adj"/>
            </a:avLst>
          </a:prstGeom>
          <a:solidFill>
            <a:srgbClr val="F7F9FC"/>
          </a:solidFill>
          <a:ln cap="flat" cmpd="sng" w="12700">
            <a:solidFill>
              <a:srgbClr val="B7C5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"/>
          <p:cNvSpPr txBox="1"/>
          <p:nvPr/>
        </p:nvSpPr>
        <p:spPr>
          <a:xfrm>
            <a:off x="33403025" y="27166825"/>
            <a:ext cx="9497700" cy="52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1. Bendsøe &amp; Sigmund (2003). Topology Optimization. Springer.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2. Lakshminarayanan et al. (2017). Deep ensembles. NeurIPS.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3. Kong &amp; Rosenfeld (1989). Digital topology. CVGIP 48(3).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4. ASCE (2022). ASCE/SEI 7-22 Minimum Design Loads.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5. Buswell et al. (2018). 3D printing concrete. Cem. Concr. Res. 112.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6. Sigmund &amp; Maute (2013). Topology optimization. S.M.O. 48.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7. Lin et al. (2024). 3DWire: 3D Wireframe Dataset. KAUST.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8. IEA (2021). Global Status Report — Buildings.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9. Lorensen &amp; Cline (1987). Marching Cubes. SIGGRAPH.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1736"/>
                </a:solidFill>
                <a:latin typeface="Arial"/>
                <a:ea typeface="Arial"/>
                <a:cs typeface="Arial"/>
                <a:sym typeface="Arial"/>
              </a:rPr>
              <a:t>10. Vovk et al. (2005). Algorithmic Learning. Springer.</a:t>
            </a:r>
            <a:endParaRPr/>
          </a:p>
        </p:txBody>
      </p:sp>
      <p:sp>
        <p:nvSpPr>
          <p:cNvPr id="296" name="Google Shape;296;p1"/>
          <p:cNvSpPr/>
          <p:nvPr/>
        </p:nvSpPr>
        <p:spPr>
          <a:xfrm>
            <a:off x="8343850" y="327147"/>
            <a:ext cx="27672076" cy="9144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EEAECA"/>
                    </a:gs>
                    <a:gs pos="26000">
                      <a:srgbClr val="C1B5DA"/>
                    </a:gs>
                    <a:gs pos="100000">
                      <a:srgbClr val="94BBE9"/>
                    </a:gs>
                  </a:gsLst>
                  <a:lin ang="0" scaled="0"/>
                </a:gradFill>
                <a:latin typeface="Arial"/>
              </a:rPr>
              <a:t>SURROGATE-ACCELERATED STRUCTURAL OPTIMIZATION</a:t>
            </a:r>
          </a:p>
        </p:txBody>
      </p:sp>
      <p:pic>
        <p:nvPicPr>
          <p:cNvPr id="297" name="Google Shape;297;p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832100" y="487413"/>
            <a:ext cx="2933700" cy="1838325"/>
          </a:xfrm>
          <a:prstGeom prst="rect">
            <a:avLst/>
          </a:prstGeom>
          <a:solidFill>
            <a:srgbClr val="002262"/>
          </a:solidFill>
          <a:ln>
            <a:noFill/>
          </a:ln>
        </p:spPr>
      </p:pic>
      <p:pic>
        <p:nvPicPr>
          <p:cNvPr id="298" name="Google Shape;298;p1"/>
          <p:cNvPicPr preferRelativeResize="0"/>
          <p:nvPr/>
        </p:nvPicPr>
        <p:blipFill rotWithShape="1">
          <a:blip r:embed="rId21">
            <a:alphaModFix/>
          </a:blip>
          <a:srcRect b="0" l="0" r="4961" t="8900"/>
          <a:stretch/>
        </p:blipFill>
        <p:spPr>
          <a:xfrm>
            <a:off x="4866450" y="512224"/>
            <a:ext cx="2724900" cy="1813525"/>
          </a:xfrm>
          <a:prstGeom prst="rect">
            <a:avLst/>
          </a:prstGeom>
          <a:solidFill>
            <a:srgbClr val="002262"/>
          </a:solidFill>
          <a:ln>
            <a:noFill/>
          </a:ln>
        </p:spPr>
      </p:pic>
      <p:sp>
        <p:nvSpPr>
          <p:cNvPr id="299" name="Google Shape;299;p1"/>
          <p:cNvSpPr/>
          <p:nvPr/>
        </p:nvSpPr>
        <p:spPr>
          <a:xfrm>
            <a:off x="3869725" y="1447575"/>
            <a:ext cx="8928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