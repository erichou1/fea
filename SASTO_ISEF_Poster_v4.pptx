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 Id="rId10" Type="http://schemas.openxmlformats.org/officeDocument/2006/relationships/image" Target="../media/image9.jpg"/><Relationship Id="rId11" Type="http://schemas.openxmlformats.org/officeDocument/2006/relationships/image" Target="../media/image10.jp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062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2971800"/>
          </a:xfrm>
          <a:prstGeom prst="rect">
            <a:avLst/>
          </a:prstGeom>
          <a:solidFill>
            <a:srgbClr val="032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944368"/>
            <a:ext cx="43891200" cy="27432"/>
          </a:xfrm>
          <a:prstGeom prst="rect">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 0.jpg"/>
          <p:cNvPicPr>
            <a:picLocks noChangeAspect="1"/>
          </p:cNvPicPr>
          <p:nvPr/>
        </p:nvPicPr>
        <p:blipFill>
          <a:blip r:embed="rId2"/>
          <a:stretch>
            <a:fillRect/>
          </a:stretch>
        </p:blipFill>
        <p:spPr>
          <a:xfrm>
            <a:off x="667512" y="274320"/>
            <a:ext cx="2139696" cy="2194560"/>
          </a:xfrm>
          <a:prstGeom prst="rect">
            <a:avLst/>
          </a:prstGeom>
        </p:spPr>
      </p:pic>
      <p:pic>
        <p:nvPicPr>
          <p:cNvPr id="6" name="Picture 5" descr="Image 11.jpg"/>
          <p:cNvPicPr>
            <a:picLocks noChangeAspect="1"/>
          </p:cNvPicPr>
          <p:nvPr/>
        </p:nvPicPr>
        <p:blipFill>
          <a:blip r:embed="rId3"/>
          <a:stretch>
            <a:fillRect/>
          </a:stretch>
        </p:blipFill>
        <p:spPr>
          <a:xfrm>
            <a:off x="3657600" y="457199"/>
            <a:ext cx="2743200" cy="1828800"/>
          </a:xfrm>
          <a:prstGeom prst="rect">
            <a:avLst/>
          </a:prstGeom>
        </p:spPr>
      </p:pic>
      <p:sp>
        <p:nvSpPr>
          <p:cNvPr id="7" name="TextBox 6"/>
          <p:cNvSpPr txBox="1"/>
          <p:nvPr/>
        </p:nvSpPr>
        <p:spPr>
          <a:xfrm>
            <a:off x="7772400" y="91440"/>
            <a:ext cx="27432000" cy="822960"/>
          </a:xfrm>
          <a:prstGeom prst="rect">
            <a:avLst/>
          </a:prstGeom>
          <a:noFill/>
        </p:spPr>
        <p:txBody>
          <a:bodyPr wrap="square"/>
          <a:lstStyle/>
          <a:p>
            <a:pPr algn="ctr">
              <a:spcBef>
                <a:spcPts val="0"/>
              </a:spcBef>
              <a:spcAft>
                <a:spcPts val="0"/>
              </a:spcAft>
              <a:defRPr sz="4400" b="1" i="0">
                <a:solidFill>
                  <a:srgbClr val="FFFFFF"/>
                </a:solidFill>
                <a:latin typeface="Arial Black"/>
              </a:defRPr>
            </a:pPr>
            <a:r>
              <a:t>SURROGATE-ACCELERATED STRUCTURAL OPTIMIZATION</a:t>
            </a:r>
          </a:p>
        </p:txBody>
      </p:sp>
      <p:sp>
        <p:nvSpPr>
          <p:cNvPr id="8" name="TextBox 7"/>
          <p:cNvSpPr txBox="1"/>
          <p:nvPr/>
        </p:nvSpPr>
        <p:spPr>
          <a:xfrm>
            <a:off x="7772400" y="1005840"/>
            <a:ext cx="27432000" cy="594360"/>
          </a:xfrm>
          <a:prstGeom prst="rect">
            <a:avLst/>
          </a:prstGeom>
          <a:noFill/>
        </p:spPr>
        <p:txBody>
          <a:bodyPr wrap="square"/>
          <a:lstStyle/>
          <a:p>
            <a:pPr algn="ctr">
              <a:spcBef>
                <a:spcPts val="0"/>
              </a:spcBef>
              <a:spcAft>
                <a:spcPts val="0"/>
              </a:spcAft>
              <a:defRPr sz="2600" b="1" i="1">
                <a:solidFill>
                  <a:srgbClr val="FFFFFF"/>
                </a:solidFill>
                <a:latin typeface="Arial"/>
              </a:defRPr>
            </a:pPr>
            <a:r>
              <a:t>Additive Manufacturing: Harnessing FEA to Optimize Material Efficiency</a:t>
            </a:r>
          </a:p>
        </p:txBody>
      </p:sp>
      <p:sp>
        <p:nvSpPr>
          <p:cNvPr id="9" name="TextBox 8"/>
          <p:cNvSpPr txBox="1"/>
          <p:nvPr/>
        </p:nvSpPr>
        <p:spPr>
          <a:xfrm>
            <a:off x="7772400" y="1691640"/>
            <a:ext cx="27432000" cy="411480"/>
          </a:xfrm>
          <a:prstGeom prst="rect">
            <a:avLst/>
          </a:prstGeom>
          <a:noFill/>
        </p:spPr>
        <p:txBody>
          <a:bodyPr wrap="square"/>
          <a:lstStyle/>
          <a:p>
            <a:pPr algn="ctr">
              <a:spcBef>
                <a:spcPts val="0"/>
              </a:spcBef>
              <a:spcAft>
                <a:spcPts val="0"/>
              </a:spcAft>
              <a:defRPr sz="2200" b="1" i="0">
                <a:solidFill>
                  <a:srgbClr val="FFFFFF"/>
                </a:solidFill>
                <a:latin typeface="Arial"/>
              </a:defRPr>
            </a:pPr>
            <a:r>
              <a:t>Eric Hou</a:t>
            </a:r>
          </a:p>
        </p:txBody>
      </p:sp>
      <p:sp>
        <p:nvSpPr>
          <p:cNvPr id="10" name="TextBox 9"/>
          <p:cNvSpPr txBox="1"/>
          <p:nvPr/>
        </p:nvSpPr>
        <p:spPr>
          <a:xfrm>
            <a:off x="35661600" y="137160"/>
            <a:ext cx="7863840" cy="2560320"/>
          </a:xfrm>
          <a:prstGeom prst="rect">
            <a:avLst/>
          </a:prstGeom>
          <a:noFill/>
        </p:spPr>
        <p:txBody>
          <a:bodyPr wrap="square"/>
          <a:lstStyle/>
          <a:p>
            <a:pPr algn="l">
              <a:spcBef>
                <a:spcPts val="100"/>
              </a:spcBef>
              <a:spcAft>
                <a:spcPts val="100"/>
              </a:spcAft>
              <a:defRPr sz="1300" b="1" i="0">
                <a:solidFill>
                  <a:srgbClr val="FFFFFF"/>
                </a:solidFill>
                <a:latin typeface="Arial"/>
              </a:defRPr>
            </a:pPr>
            <a:r>
              <a:t>Intel ISEF 2026 — Engineering Mechanics</a:t>
            </a:r>
          </a:p>
          <a:p>
            <a:pPr algn="l">
              <a:spcBef>
                <a:spcPts val="100"/>
              </a:spcBef>
              <a:spcAft>
                <a:spcPts val="100"/>
              </a:spcAft>
              <a:defRPr sz="400" b="0" i="0">
                <a:latin typeface="Arial"/>
              </a:defRPr>
            </a:pPr>
          </a:p>
          <a:p>
            <a:pPr algn="l">
              <a:spcBef>
                <a:spcPts val="100"/>
              </a:spcBef>
              <a:spcAft>
                <a:spcPts val="100"/>
              </a:spcAft>
              <a:defRPr sz="1200" b="1" i="0">
                <a:solidFill>
                  <a:srgbClr val="FFFFFF"/>
                </a:solidFill>
                <a:latin typeface="Arial"/>
              </a:defRPr>
            </a:pPr>
            <a:r>
              <a:t>Credit Line of Origin</a:t>
            </a:r>
          </a:p>
          <a:p>
            <a:pPr algn="l">
              <a:spcBef>
                <a:spcPts val="100"/>
              </a:spcBef>
              <a:spcAft>
                <a:spcPts val="100"/>
              </a:spcAft>
              <a:defRPr sz="1000" b="0" i="0">
                <a:solidFill>
                  <a:srgbClr val="FFFFFF"/>
                </a:solidFill>
                <a:latin typeface="Arial"/>
              </a:defRPr>
            </a:pPr>
            <a:r>
              <a:t>References &amp; data in references below:</a:t>
            </a:r>
          </a:p>
          <a:p>
            <a:pPr algn="l">
              <a:spcBef>
                <a:spcPts val="100"/>
              </a:spcBef>
              <a:spcAft>
                <a:spcPts val="100"/>
              </a:spcAft>
              <a:defRPr sz="400" b="0" i="0">
                <a:latin typeface="Arial"/>
              </a:defRPr>
            </a:pPr>
          </a:p>
          <a:p>
            <a:pPr algn="l">
              <a:spcBef>
                <a:spcPts val="100"/>
              </a:spcBef>
              <a:spcAft>
                <a:spcPts val="100"/>
              </a:spcAft>
              <a:defRPr sz="1000" b="0" i="0">
                <a:solidFill>
                  <a:srgbClr val="FFFFFF"/>
                </a:solidFill>
                <a:latin typeface="Arial"/>
              </a:defRPr>
            </a:pPr>
            <a:r>
              <a:t>Images denoted with an asterisk (*) are from</a:t>
            </a:r>
          </a:p>
          <a:p>
            <a:pPr algn="l">
              <a:spcBef>
                <a:spcPts val="100"/>
              </a:spcBef>
              <a:spcAft>
                <a:spcPts val="100"/>
              </a:spcAft>
              <a:defRPr sz="1000" b="0" i="0">
                <a:solidFill>
                  <a:srgbClr val="FFFFFF"/>
                </a:solidFill>
                <a:latin typeface="Arial"/>
              </a:defRPr>
            </a:pPr>
            <a:r>
              <a:t>public-domain or adapted from publicly available</a:t>
            </a:r>
          </a:p>
          <a:p>
            <a:pPr algn="l">
              <a:spcBef>
                <a:spcPts val="100"/>
              </a:spcBef>
              <a:spcAft>
                <a:spcPts val="100"/>
              </a:spcAft>
              <a:defRPr sz="1000" b="0" i="0">
                <a:solidFill>
                  <a:srgbClr val="FFFFFF"/>
                </a:solidFill>
                <a:latin typeface="Arial"/>
              </a:defRPr>
            </a:pPr>
            <a:r>
              <a:t>sources. All other figures created by Eric Hou.</a:t>
            </a:r>
          </a:p>
        </p:txBody>
      </p:sp>
      <p:sp>
        <p:nvSpPr>
          <p:cNvPr id="11" name="Rounded Rectangle 10"/>
          <p:cNvSpPr/>
          <p:nvPr/>
        </p:nvSpPr>
        <p:spPr>
          <a:xfrm>
            <a:off x="164592" y="3063240"/>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 y="3063240"/>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VISUAL ABSTRACT</a:t>
            </a:r>
          </a:p>
        </p:txBody>
      </p:sp>
      <p:sp>
        <p:nvSpPr>
          <p:cNvPr id="13" name="Rounded Rectangle 12"/>
          <p:cNvSpPr/>
          <p:nvPr/>
        </p:nvSpPr>
        <p:spPr>
          <a:xfrm>
            <a:off x="164592" y="3474720"/>
            <a:ext cx="10643616" cy="36576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 1.png"/>
          <p:cNvPicPr>
            <a:picLocks noChangeAspect="1"/>
          </p:cNvPicPr>
          <p:nvPr/>
        </p:nvPicPr>
        <p:blipFill>
          <a:blip r:embed="rId4"/>
          <a:stretch>
            <a:fillRect/>
          </a:stretch>
        </p:blipFill>
        <p:spPr>
          <a:xfrm>
            <a:off x="1018902" y="3566160"/>
            <a:ext cx="8934994" cy="2468880"/>
          </a:xfrm>
          <a:prstGeom prst="rect">
            <a:avLst/>
          </a:prstGeom>
        </p:spPr>
      </p:pic>
      <p:sp>
        <p:nvSpPr>
          <p:cNvPr id="15" name="TextBox 14"/>
          <p:cNvSpPr txBox="1"/>
          <p:nvPr/>
        </p:nvSpPr>
        <p:spPr>
          <a:xfrm>
            <a:off x="256032" y="6035040"/>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 SASTO pipeline: 3D wireframe → volumetric parts → FEA dataset → deep ensemble surrogate → sensitivity-guided optimization → watertight STL</a:t>
            </a:r>
          </a:p>
        </p:txBody>
      </p:sp>
      <p:sp>
        <p:nvSpPr>
          <p:cNvPr id="16" name="TextBox 15"/>
          <p:cNvSpPr txBox="1"/>
          <p:nvPr/>
        </p:nvSpPr>
        <p:spPr>
          <a:xfrm>
            <a:off x="256032" y="6236208"/>
            <a:ext cx="10460736" cy="777240"/>
          </a:xfrm>
          <a:prstGeom prst="rect">
            <a:avLst/>
          </a:prstGeom>
          <a:noFill/>
        </p:spPr>
        <p:txBody>
          <a:bodyPr wrap="square"/>
          <a:lstStyle/>
          <a:p>
            <a:pPr algn="l">
              <a:spcBef>
                <a:spcPts val="0"/>
              </a:spcBef>
              <a:spcAft>
                <a:spcPts val="0"/>
              </a:spcAft>
              <a:defRPr sz="1000" b="0" i="0">
                <a:solidFill>
                  <a:srgbClr val="0B1736"/>
                </a:solidFill>
                <a:latin typeface="Arial"/>
              </a:defRPr>
            </a:pPr>
            <a:r>
              <a:t>The visual abstract shows the end-to-end SASTO workflow. A 3DWire building wireframe is extruded into four structural parts (exterior walls, interior walls, roof, floor), meshed and simulated with FEA to train a 5-member deep ensemble. At optimization time, the surrogate replaces FEA, enabling 23–92× faster topology optimization with zero constraint violations.</a:t>
            </a:r>
          </a:p>
        </p:txBody>
      </p:sp>
      <p:sp>
        <p:nvSpPr>
          <p:cNvPr id="17" name="Rounded Rectangle 16"/>
          <p:cNvSpPr/>
          <p:nvPr/>
        </p:nvSpPr>
        <p:spPr>
          <a:xfrm>
            <a:off x="164592" y="7168896"/>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4592" y="7168896"/>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INTRODUCTION</a:t>
            </a:r>
          </a:p>
        </p:txBody>
      </p:sp>
      <p:sp>
        <p:nvSpPr>
          <p:cNvPr id="19" name="Rounded Rectangle 18"/>
          <p:cNvSpPr/>
          <p:nvPr/>
        </p:nvSpPr>
        <p:spPr>
          <a:xfrm>
            <a:off x="164592" y="7580375"/>
            <a:ext cx="10643616" cy="530352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 y="7671815"/>
            <a:ext cx="6217920" cy="5120640"/>
          </a:xfrm>
          <a:prstGeom prst="rect">
            <a:avLst/>
          </a:prstGeom>
          <a:noFill/>
        </p:spPr>
        <p:txBody>
          <a:bodyPr wrap="square"/>
          <a:lstStyle/>
          <a:p>
            <a:pPr algn="l">
              <a:spcBef>
                <a:spcPts val="100"/>
              </a:spcBef>
              <a:spcAft>
                <a:spcPts val="100"/>
              </a:spcAft>
              <a:defRPr sz="1200" b="1" i="0">
                <a:solidFill>
                  <a:srgbClr val="008C9E"/>
                </a:solidFill>
                <a:latin typeface="Arial"/>
              </a:defRPr>
            </a:pPr>
            <a:r>
              <a:t>GLIOBLASTOMA &amp; CO₂ CRISIS</a:t>
            </a:r>
          </a:p>
          <a:p>
            <a:pPr algn="l">
              <a:spcBef>
                <a:spcPts val="100"/>
              </a:spcBef>
              <a:spcAft>
                <a:spcPts val="300"/>
              </a:spcAft>
              <a:defRPr sz="1000" b="0" i="0">
                <a:solidFill>
                  <a:srgbClr val="0B1736"/>
                </a:solidFill>
                <a:latin typeface="Arial"/>
              </a:defRPr>
            </a:pPr>
            <a:r>
              <a:t>Concrete production accounts for ~8% of global CO₂ emissions [IEA 2021]. In conventional construction, walls are built at uniform thickness—a practice driven by formwork constraints, not structural need. Interior partitions bear negligible loads compared to exterior shear walls, creating a substantial opportunity for material reduction.</a:t>
            </a:r>
          </a:p>
          <a:p>
            <a:pPr algn="l">
              <a:spcBef>
                <a:spcPts val="100"/>
              </a:spcBef>
              <a:spcAft>
                <a:spcPts val="100"/>
              </a:spcAft>
              <a:defRPr sz="1200" b="1" i="0">
                <a:solidFill>
                  <a:srgbClr val="008C9E"/>
                </a:solidFill>
                <a:latin typeface="Arial"/>
              </a:defRPr>
            </a:pPr>
            <a:r>
              <a:t>ADDITIVE MANUFACTURING</a:t>
            </a:r>
          </a:p>
          <a:p>
            <a:pPr algn="l">
              <a:spcBef>
                <a:spcPts val="100"/>
              </a:spcBef>
              <a:spcAft>
                <a:spcPts val="300"/>
              </a:spcAft>
              <a:defRPr sz="1000" b="0" i="0">
                <a:solidFill>
                  <a:srgbClr val="0B1736"/>
                </a:solidFill>
                <a:latin typeface="Arial"/>
              </a:defRPr>
            </a:pPr>
            <a:r>
              <a:t>Large-scale 3D printing (ICON, COBOD, Apis Cor) can realize arbitrary wall profiles at no marginal tooling cost. However, exploiting this geometric freedom requires optimized 3D models that minimize volume, satisfy structural constraints under ASCE 7-22 load cases, and produce watertight meshes compatible with printer toolpath generation.</a:t>
            </a:r>
          </a:p>
          <a:p>
            <a:pPr algn="l">
              <a:spcBef>
                <a:spcPts val="100"/>
              </a:spcBef>
              <a:spcAft>
                <a:spcPts val="100"/>
              </a:spcAft>
              <a:defRPr sz="1200" b="1" i="0">
                <a:solidFill>
                  <a:srgbClr val="008C9E"/>
                </a:solidFill>
                <a:latin typeface="Arial"/>
              </a:defRPr>
            </a:pPr>
            <a:r>
              <a:t>COMPUTATIONAL BOTTLENECK</a:t>
            </a:r>
          </a:p>
          <a:p>
            <a:pPr algn="l">
              <a:spcBef>
                <a:spcPts val="100"/>
              </a:spcBef>
              <a:spcAft>
                <a:spcPts val="300"/>
              </a:spcAft>
              <a:defRPr sz="1000" b="0" i="0">
                <a:solidFill>
                  <a:srgbClr val="0B1736"/>
                </a:solidFill>
                <a:latin typeface="Arial"/>
              </a:defRPr>
            </a:pPr>
            <a:r>
              <a:t>Classical SIMP requires hundreds–thousands of FEA evaluations, each costing minutes–hours at building scale. Voxel-based implementations using 26-connectivity produce disconnected floating fragments incompatible with AM. No prior work combines surrogate-accelerated optimization with formal mesh connectivity guarantees at building scale.</a:t>
            </a:r>
          </a:p>
          <a:p>
            <a:pPr algn="l">
              <a:spcBef>
                <a:spcPts val="100"/>
              </a:spcBef>
              <a:spcAft>
                <a:spcPts val="100"/>
              </a:spcAft>
              <a:defRPr sz="1200" b="1" i="0">
                <a:solidFill>
                  <a:srgbClr val="D7263D"/>
                </a:solidFill>
                <a:latin typeface="Arial"/>
              </a:defRPr>
            </a:pPr>
            <a:r>
              <a:t>SASTO CONTRIBUTION</a:t>
            </a:r>
          </a:p>
          <a:p>
            <a:pPr algn="l">
              <a:spcBef>
                <a:spcPts val="100"/>
              </a:spcBef>
              <a:spcAft>
                <a:spcPts val="200"/>
              </a:spcAft>
              <a:defRPr sz="1000" b="1" i="0">
                <a:solidFill>
                  <a:srgbClr val="0B1736"/>
                </a:solidFill>
                <a:latin typeface="Arial"/>
              </a:defRPr>
            </a:pPr>
            <a:r>
              <a:t>SASTO replaces FEA with a deep ensemble surrogate, achieving 23–92× speedup. A 6-connectivity criterion eliminates floating fragments. Part-aware thickness enables differential thinning. Across 1,114 geometries: 23.5%±7.8% mean reduction, zero FEA violations.</a:t>
            </a:r>
          </a:p>
        </p:txBody>
      </p:sp>
      <p:pic>
        <p:nvPicPr>
          <p:cNvPr id="21" name="Picture 20" descr="Image 2.jpg"/>
          <p:cNvPicPr>
            <a:picLocks noChangeAspect="1"/>
          </p:cNvPicPr>
          <p:nvPr/>
        </p:nvPicPr>
        <p:blipFill>
          <a:blip r:embed="rId5"/>
          <a:stretch>
            <a:fillRect/>
          </a:stretch>
        </p:blipFill>
        <p:spPr>
          <a:xfrm>
            <a:off x="6565392" y="8064844"/>
            <a:ext cx="4151376" cy="1408502"/>
          </a:xfrm>
          <a:prstGeom prst="rect">
            <a:avLst/>
          </a:prstGeom>
        </p:spPr>
      </p:pic>
      <p:pic>
        <p:nvPicPr>
          <p:cNvPr id="22" name="Picture 21" descr="Image 3.jpg"/>
          <p:cNvPicPr>
            <a:picLocks noChangeAspect="1"/>
          </p:cNvPicPr>
          <p:nvPr/>
        </p:nvPicPr>
        <p:blipFill>
          <a:blip r:embed="rId6"/>
          <a:stretch>
            <a:fillRect/>
          </a:stretch>
        </p:blipFill>
        <p:spPr>
          <a:xfrm>
            <a:off x="7870649" y="9957815"/>
            <a:ext cx="1540861" cy="2194560"/>
          </a:xfrm>
          <a:prstGeom prst="rect">
            <a:avLst/>
          </a:prstGeom>
        </p:spPr>
      </p:pic>
      <p:sp>
        <p:nvSpPr>
          <p:cNvPr id="23" name="TextBox 22"/>
          <p:cNvSpPr txBox="1"/>
          <p:nvPr/>
        </p:nvSpPr>
        <p:spPr>
          <a:xfrm>
            <a:off x="6565392" y="12198096"/>
            <a:ext cx="4151376" cy="182880"/>
          </a:xfrm>
          <a:prstGeom prst="rect">
            <a:avLst/>
          </a:prstGeom>
          <a:noFill/>
        </p:spPr>
        <p:txBody>
          <a:bodyPr wrap="square"/>
          <a:lstStyle/>
          <a:p>
            <a:pPr algn="ctr">
              <a:spcBef>
                <a:spcPts val="0"/>
              </a:spcBef>
              <a:spcAft>
                <a:spcPts val="0"/>
              </a:spcAft>
              <a:defRPr sz="800" b="0" i="1">
                <a:solidFill>
                  <a:srgbClr val="0B1736"/>
                </a:solidFill>
                <a:latin typeface="Arial"/>
              </a:defRPr>
            </a:pPr>
            <a:r>
              <a:t>Before vs. after optimization*</a:t>
            </a:r>
          </a:p>
        </p:txBody>
      </p:sp>
      <p:sp>
        <p:nvSpPr>
          <p:cNvPr id="24" name="Rounded Rectangle 23"/>
          <p:cNvSpPr/>
          <p:nvPr/>
        </p:nvSpPr>
        <p:spPr>
          <a:xfrm>
            <a:off x="164592" y="12920472"/>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4592" y="12920472"/>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RESEARCH OBJECTIVES</a:t>
            </a:r>
          </a:p>
        </p:txBody>
      </p:sp>
      <p:sp>
        <p:nvSpPr>
          <p:cNvPr id="26" name="Rounded Rectangle 25"/>
          <p:cNvSpPr/>
          <p:nvPr/>
        </p:nvSpPr>
        <p:spPr>
          <a:xfrm>
            <a:off x="164592" y="13331951"/>
            <a:ext cx="10643616" cy="22860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56032" y="13423391"/>
            <a:ext cx="237744" cy="237744"/>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13423391"/>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1</a:t>
            </a:r>
          </a:p>
        </p:txBody>
      </p:sp>
      <p:sp>
        <p:nvSpPr>
          <p:cNvPr id="29" name="TextBox 28"/>
          <p:cNvSpPr txBox="1"/>
          <p:nvPr/>
        </p:nvSpPr>
        <p:spPr>
          <a:xfrm>
            <a:off x="566928" y="13414247"/>
            <a:ext cx="1280160" cy="219456"/>
          </a:xfrm>
          <a:prstGeom prst="rect">
            <a:avLst/>
          </a:prstGeom>
          <a:noFill/>
        </p:spPr>
        <p:txBody>
          <a:bodyPr wrap="square"/>
          <a:lstStyle/>
          <a:p>
            <a:pPr algn="l">
              <a:spcBef>
                <a:spcPts val="0"/>
              </a:spcBef>
              <a:spcAft>
                <a:spcPts val="0"/>
              </a:spcAft>
              <a:defRPr sz="1100" b="1" i="0">
                <a:solidFill>
                  <a:srgbClr val="008C9E"/>
                </a:solidFill>
                <a:latin typeface="Arial"/>
              </a:defRPr>
            </a:pPr>
            <a:r>
              <a:t>SPEED</a:t>
            </a:r>
          </a:p>
        </p:txBody>
      </p:sp>
      <p:sp>
        <p:nvSpPr>
          <p:cNvPr id="30" name="TextBox 29"/>
          <p:cNvSpPr txBox="1"/>
          <p:nvPr/>
        </p:nvSpPr>
        <p:spPr>
          <a:xfrm>
            <a:off x="1865376" y="13414247"/>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23–92× speedup via deep ensemble surrogate replacing FEA during optimization</a:t>
            </a:r>
          </a:p>
        </p:txBody>
      </p:sp>
      <p:sp>
        <p:nvSpPr>
          <p:cNvPr id="31" name="Rounded Rectangle 30"/>
          <p:cNvSpPr/>
          <p:nvPr/>
        </p:nvSpPr>
        <p:spPr>
          <a:xfrm>
            <a:off x="256032" y="13715999"/>
            <a:ext cx="237744" cy="237744"/>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032" y="13715999"/>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2</a:t>
            </a:r>
          </a:p>
        </p:txBody>
      </p:sp>
      <p:sp>
        <p:nvSpPr>
          <p:cNvPr id="33" name="TextBox 32"/>
          <p:cNvSpPr txBox="1"/>
          <p:nvPr/>
        </p:nvSpPr>
        <p:spPr>
          <a:xfrm>
            <a:off x="566928" y="13706855"/>
            <a:ext cx="1280160" cy="219456"/>
          </a:xfrm>
          <a:prstGeom prst="rect">
            <a:avLst/>
          </a:prstGeom>
          <a:noFill/>
        </p:spPr>
        <p:txBody>
          <a:bodyPr wrap="square"/>
          <a:lstStyle/>
          <a:p>
            <a:pPr algn="l">
              <a:spcBef>
                <a:spcPts val="0"/>
              </a:spcBef>
              <a:spcAft>
                <a:spcPts val="0"/>
              </a:spcAft>
              <a:defRPr sz="1100" b="1" i="0">
                <a:solidFill>
                  <a:srgbClr val="008C9E"/>
                </a:solidFill>
                <a:latin typeface="Arial"/>
              </a:defRPr>
            </a:pPr>
            <a:r>
              <a:t>PRINTABILITY</a:t>
            </a:r>
          </a:p>
        </p:txBody>
      </p:sp>
      <p:sp>
        <p:nvSpPr>
          <p:cNvPr id="34" name="TextBox 33"/>
          <p:cNvSpPr txBox="1"/>
          <p:nvPr/>
        </p:nvSpPr>
        <p:spPr>
          <a:xfrm>
            <a:off x="1865376" y="13706855"/>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6-connected topology → single-mesh watertight STL for AM toolpath</a:t>
            </a:r>
          </a:p>
        </p:txBody>
      </p:sp>
      <p:sp>
        <p:nvSpPr>
          <p:cNvPr id="35" name="Rounded Rectangle 34"/>
          <p:cNvSpPr/>
          <p:nvPr/>
        </p:nvSpPr>
        <p:spPr>
          <a:xfrm>
            <a:off x="256032" y="14008607"/>
            <a:ext cx="237744" cy="237744"/>
          </a:xfrm>
          <a:prstGeom prst="roundRect">
            <a:avLst>
              <a:gd name="adj" fmla="val 50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6032" y="14008607"/>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3</a:t>
            </a:r>
          </a:p>
        </p:txBody>
      </p:sp>
      <p:sp>
        <p:nvSpPr>
          <p:cNvPr id="37" name="TextBox 36"/>
          <p:cNvSpPr txBox="1"/>
          <p:nvPr/>
        </p:nvSpPr>
        <p:spPr>
          <a:xfrm>
            <a:off x="566928" y="13999463"/>
            <a:ext cx="1280160" cy="219456"/>
          </a:xfrm>
          <a:prstGeom prst="rect">
            <a:avLst/>
          </a:prstGeom>
          <a:noFill/>
        </p:spPr>
        <p:txBody>
          <a:bodyPr wrap="square"/>
          <a:lstStyle/>
          <a:p>
            <a:pPr algn="l">
              <a:spcBef>
                <a:spcPts val="0"/>
              </a:spcBef>
              <a:spcAft>
                <a:spcPts val="0"/>
              </a:spcAft>
              <a:defRPr sz="1100" b="1" i="0">
                <a:solidFill>
                  <a:srgbClr val="CFA535"/>
                </a:solidFill>
                <a:latin typeface="Arial"/>
              </a:defRPr>
            </a:pPr>
            <a:r>
              <a:t>EFFICIENCY</a:t>
            </a:r>
          </a:p>
        </p:txBody>
      </p:sp>
      <p:sp>
        <p:nvSpPr>
          <p:cNvPr id="38" name="TextBox 37"/>
          <p:cNvSpPr txBox="1"/>
          <p:nvPr/>
        </p:nvSpPr>
        <p:spPr>
          <a:xfrm>
            <a:off x="1865376" y="13999463"/>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23.5%±7.8% mean material reduction (up to 45.0%) across 1,114 geometries</a:t>
            </a:r>
          </a:p>
        </p:txBody>
      </p:sp>
      <p:sp>
        <p:nvSpPr>
          <p:cNvPr id="39" name="Rounded Rectangle 38"/>
          <p:cNvSpPr/>
          <p:nvPr/>
        </p:nvSpPr>
        <p:spPr>
          <a:xfrm>
            <a:off x="256032" y="14301215"/>
            <a:ext cx="237744" cy="237744"/>
          </a:xfrm>
          <a:prstGeom prst="roundRect">
            <a:avLst>
              <a:gd name="adj" fmla="val 5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6032" y="14301215"/>
            <a:ext cx="237744" cy="237744"/>
          </a:xfrm>
          <a:prstGeom prst="rect">
            <a:avLst/>
          </a:prstGeom>
          <a:noFill/>
        </p:spPr>
        <p:txBody>
          <a:bodyPr wrap="square"/>
          <a:lstStyle/>
          <a:p>
            <a:pPr algn="ctr">
              <a:spcBef>
                <a:spcPts val="0"/>
              </a:spcBef>
              <a:spcAft>
                <a:spcPts val="0"/>
              </a:spcAft>
              <a:defRPr sz="1100" b="1" i="0">
                <a:solidFill>
                  <a:srgbClr val="FFFFFF"/>
                </a:solidFill>
                <a:latin typeface="Arial"/>
              </a:defRPr>
            </a:pPr>
            <a:r>
              <a:t>4</a:t>
            </a:r>
          </a:p>
        </p:txBody>
      </p:sp>
      <p:sp>
        <p:nvSpPr>
          <p:cNvPr id="41" name="TextBox 40"/>
          <p:cNvSpPr txBox="1"/>
          <p:nvPr/>
        </p:nvSpPr>
        <p:spPr>
          <a:xfrm>
            <a:off x="566928" y="14292072"/>
            <a:ext cx="1280160" cy="219456"/>
          </a:xfrm>
          <a:prstGeom prst="rect">
            <a:avLst/>
          </a:prstGeom>
          <a:noFill/>
        </p:spPr>
        <p:txBody>
          <a:bodyPr wrap="square"/>
          <a:lstStyle/>
          <a:p>
            <a:pPr algn="l">
              <a:spcBef>
                <a:spcPts val="0"/>
              </a:spcBef>
              <a:spcAft>
                <a:spcPts val="0"/>
              </a:spcAft>
              <a:defRPr sz="1100" b="1" i="0">
                <a:solidFill>
                  <a:srgbClr val="D7263D"/>
                </a:solidFill>
                <a:latin typeface="Arial"/>
              </a:defRPr>
            </a:pPr>
            <a:r>
              <a:t>SAFETY</a:t>
            </a:r>
          </a:p>
        </p:txBody>
      </p:sp>
      <p:sp>
        <p:nvSpPr>
          <p:cNvPr id="42" name="TextBox 41"/>
          <p:cNvSpPr txBox="1"/>
          <p:nvPr/>
        </p:nvSpPr>
        <p:spPr>
          <a:xfrm>
            <a:off x="1865376" y="14292072"/>
            <a:ext cx="8851392" cy="219456"/>
          </a:xfrm>
          <a:prstGeom prst="rect">
            <a:avLst/>
          </a:prstGeom>
          <a:noFill/>
        </p:spPr>
        <p:txBody>
          <a:bodyPr wrap="square"/>
          <a:lstStyle/>
          <a:p>
            <a:pPr algn="l">
              <a:spcBef>
                <a:spcPts val="0"/>
              </a:spcBef>
              <a:spcAft>
                <a:spcPts val="0"/>
              </a:spcAft>
              <a:defRPr sz="1000" b="0" i="0">
                <a:solidFill>
                  <a:srgbClr val="0B1736"/>
                </a:solidFill>
                <a:latin typeface="Arial"/>
              </a:defRPr>
            </a:pPr>
            <a:r>
              <a:t>0/1,114 FEA violations; conformal P(violation) ≤ 0.09%</a:t>
            </a:r>
          </a:p>
        </p:txBody>
      </p:sp>
      <p:sp>
        <p:nvSpPr>
          <p:cNvPr id="43" name="Rounded Rectangle 42"/>
          <p:cNvSpPr/>
          <p:nvPr/>
        </p:nvSpPr>
        <p:spPr>
          <a:xfrm>
            <a:off x="530352" y="14666976"/>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0352" y="1468526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Data</a:t>
            </a:r>
            <a:br/>
            <a:r>
              <a:t>Generation</a:t>
            </a:r>
          </a:p>
        </p:txBody>
      </p:sp>
      <p:sp>
        <p:nvSpPr>
          <p:cNvPr id="45" name="TextBox 44"/>
          <p:cNvSpPr txBox="1"/>
          <p:nvPr/>
        </p:nvSpPr>
        <p:spPr>
          <a:xfrm>
            <a:off x="2834640" y="14758416"/>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a:t>
            </a:r>
          </a:p>
        </p:txBody>
      </p:sp>
      <p:sp>
        <p:nvSpPr>
          <p:cNvPr id="46" name="Rounded Rectangle 45"/>
          <p:cNvSpPr/>
          <p:nvPr/>
        </p:nvSpPr>
        <p:spPr>
          <a:xfrm>
            <a:off x="3072384" y="14666976"/>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072384" y="1468526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Surrogate</a:t>
            </a:r>
            <a:br/>
            <a:r>
              <a:t>Training</a:t>
            </a:r>
          </a:p>
        </p:txBody>
      </p:sp>
      <p:sp>
        <p:nvSpPr>
          <p:cNvPr id="48" name="TextBox 47"/>
          <p:cNvSpPr txBox="1"/>
          <p:nvPr/>
        </p:nvSpPr>
        <p:spPr>
          <a:xfrm>
            <a:off x="5376672" y="14758416"/>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a:t>
            </a:r>
          </a:p>
        </p:txBody>
      </p:sp>
      <p:sp>
        <p:nvSpPr>
          <p:cNvPr id="49" name="Rounded Rectangle 48"/>
          <p:cNvSpPr/>
          <p:nvPr/>
        </p:nvSpPr>
        <p:spPr>
          <a:xfrm>
            <a:off x="5614416" y="14666976"/>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14416" y="1468526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SASTO</a:t>
            </a:r>
            <a:br/>
            <a:r>
              <a:t>Optimize</a:t>
            </a:r>
          </a:p>
        </p:txBody>
      </p:sp>
      <p:sp>
        <p:nvSpPr>
          <p:cNvPr id="51" name="TextBox 50"/>
          <p:cNvSpPr txBox="1"/>
          <p:nvPr/>
        </p:nvSpPr>
        <p:spPr>
          <a:xfrm>
            <a:off x="7918704" y="14758416"/>
            <a:ext cx="219456" cy="274320"/>
          </a:xfrm>
          <a:prstGeom prst="rect">
            <a:avLst/>
          </a:prstGeom>
          <a:noFill/>
        </p:spPr>
        <p:txBody>
          <a:bodyPr wrap="square"/>
          <a:lstStyle/>
          <a:p>
            <a:pPr algn="ctr">
              <a:spcBef>
                <a:spcPts val="0"/>
              </a:spcBef>
              <a:spcAft>
                <a:spcPts val="0"/>
              </a:spcAft>
              <a:defRPr sz="1400" b="1" i="0">
                <a:solidFill>
                  <a:srgbClr val="CFA535"/>
                </a:solidFill>
                <a:latin typeface="Arial"/>
              </a:defRPr>
            </a:pPr>
            <a:r>
              <a:t>►</a:t>
            </a:r>
          </a:p>
        </p:txBody>
      </p:sp>
      <p:sp>
        <p:nvSpPr>
          <p:cNvPr id="52" name="Rounded Rectangle 51"/>
          <p:cNvSpPr/>
          <p:nvPr/>
        </p:nvSpPr>
        <p:spPr>
          <a:xfrm>
            <a:off x="8156448" y="14666976"/>
            <a:ext cx="2286000" cy="475488"/>
          </a:xfrm>
          <a:prstGeom prst="roundRect">
            <a:avLst>
              <a:gd name="adj" fmla="val 2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56448" y="14685263"/>
            <a:ext cx="2286000" cy="438912"/>
          </a:xfrm>
          <a:prstGeom prst="rect">
            <a:avLst/>
          </a:prstGeom>
          <a:noFill/>
        </p:spPr>
        <p:txBody>
          <a:bodyPr wrap="square"/>
          <a:lstStyle/>
          <a:p>
            <a:pPr algn="ctr">
              <a:spcBef>
                <a:spcPts val="0"/>
              </a:spcBef>
              <a:spcAft>
                <a:spcPts val="0"/>
              </a:spcAft>
              <a:defRPr sz="900" b="1" i="0">
                <a:solidFill>
                  <a:srgbClr val="FFFFFF"/>
                </a:solidFill>
                <a:latin typeface="Arial"/>
              </a:defRPr>
            </a:pPr>
            <a:r>
              <a:t>Validate</a:t>
            </a:r>
            <a:br/>
            <a:r>
              <a:t>&amp; Certify</a:t>
            </a:r>
          </a:p>
        </p:txBody>
      </p:sp>
      <p:sp>
        <p:nvSpPr>
          <p:cNvPr id="54" name="Rounded Rectangle 53"/>
          <p:cNvSpPr/>
          <p:nvPr/>
        </p:nvSpPr>
        <p:spPr>
          <a:xfrm>
            <a:off x="164592" y="15654527"/>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4592" y="15654527"/>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ENGINEERING DESIGN CRITERIA</a:t>
            </a:r>
          </a:p>
        </p:txBody>
      </p:sp>
      <p:sp>
        <p:nvSpPr>
          <p:cNvPr id="56" name="Rounded Rectangle 55"/>
          <p:cNvSpPr/>
          <p:nvPr/>
        </p:nvSpPr>
        <p:spPr>
          <a:xfrm>
            <a:off x="164592" y="16066007"/>
            <a:ext cx="10643616" cy="32004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7" name="Table 56"/>
          <p:cNvGraphicFramePr>
            <a:graphicFrameLocks noGrp="1"/>
          </p:cNvGraphicFramePr>
          <p:nvPr/>
        </p:nvGraphicFramePr>
        <p:xfrm>
          <a:off x="256032" y="16157447"/>
          <a:ext cx="10460734" cy="1408176"/>
        </p:xfrm>
        <a:graphic>
          <a:graphicData uri="http://schemas.openxmlformats.org/drawingml/2006/table">
            <a:tbl>
              <a:tblPr firstRow="1" bandRow="1">
                <a:tableStyleId>{5C22544A-7EE6-4342-B048-85BDC9FD1C3A}</a:tableStyleId>
              </a:tblPr>
              <a:tblGrid>
                <a:gridCol w="3661257"/>
                <a:gridCol w="3661257"/>
                <a:gridCol w="3138220"/>
              </a:tblGrid>
              <a:tr h="201168">
                <a:tc>
                  <a:txBody>
                    <a:bodyPr/>
                    <a:lstStyle/>
                    <a:p>
                      <a:pPr algn="l">
                        <a:defRPr sz="1000" b="1">
                          <a:solidFill>
                            <a:srgbClr val="FFFFFF"/>
                          </a:solidFill>
                          <a:latin typeface="Arial"/>
                        </a:defRPr>
                      </a:pPr>
                      <a:r>
                        <a:t>Constraint</a:t>
                      </a:r>
                    </a:p>
                  </a:txBody>
                  <a:tcPr>
                    <a:solidFill>
                      <a:srgbClr val="0A3D9A"/>
                    </a:solidFill>
                  </a:tcPr>
                </a:tc>
                <a:tc>
                  <a:txBody>
                    <a:bodyPr/>
                    <a:lstStyle/>
                    <a:p>
                      <a:pPr algn="l">
                        <a:defRPr sz="1000" b="1">
                          <a:solidFill>
                            <a:srgbClr val="FFFFFF"/>
                          </a:solidFill>
                          <a:latin typeface="Arial"/>
                        </a:defRPr>
                      </a:pPr>
                      <a:r>
                        <a:t>Limit</a:t>
                      </a:r>
                    </a:p>
                  </a:txBody>
                  <a:tcPr>
                    <a:solidFill>
                      <a:srgbClr val="0A3D9A"/>
                    </a:solidFill>
                  </a:tcPr>
                </a:tc>
                <a:tc>
                  <a:txBody>
                    <a:bodyPr/>
                    <a:lstStyle/>
                    <a:p>
                      <a:pPr algn="l">
                        <a:defRPr sz="1000" b="1">
                          <a:solidFill>
                            <a:srgbClr val="FFFFFF"/>
                          </a:solidFill>
                          <a:latin typeface="Arial"/>
                        </a:defRPr>
                      </a:pPr>
                      <a:r>
                        <a:t>Basis</a:t>
                      </a:r>
                    </a:p>
                  </a:txBody>
                  <a:tcPr>
                    <a:solidFill>
                      <a:srgbClr val="0A3D9A"/>
                    </a:solidFill>
                  </a:tcPr>
                </a:tc>
              </a:tr>
              <a:tr h="201168">
                <a:tc>
                  <a:txBody>
                    <a:bodyPr/>
                    <a:lstStyle/>
                    <a:p>
                      <a:pPr algn="l">
                        <a:defRPr sz="1000">
                          <a:solidFill>
                            <a:srgbClr val="0B1736"/>
                          </a:solidFill>
                          <a:latin typeface="Arial"/>
                        </a:defRPr>
                      </a:pPr>
                      <a:r>
                        <a:t>Von Mises stress</a:t>
                      </a:r>
                    </a:p>
                  </a:txBody>
                  <a:tcPr>
                    <a:solidFill>
                      <a:srgbClr val="F7F9FC"/>
                    </a:solidFill>
                  </a:tcPr>
                </a:tc>
                <a:tc>
                  <a:txBody>
                    <a:bodyPr/>
                    <a:lstStyle/>
                    <a:p>
                      <a:pPr algn="l">
                        <a:defRPr sz="1000">
                          <a:solidFill>
                            <a:srgbClr val="0B1736"/>
                          </a:solidFill>
                          <a:latin typeface="Arial"/>
                        </a:defRPr>
                      </a:pPr>
                      <a:r>
                        <a:t>σ_VM ≤ 5.0 MPa</a:t>
                      </a:r>
                    </a:p>
                  </a:txBody>
                  <a:tcPr>
                    <a:solidFill>
                      <a:srgbClr val="F7F9FC"/>
                    </a:solidFill>
                  </a:tcPr>
                </a:tc>
                <a:tc>
                  <a:txBody>
                    <a:bodyPr/>
                    <a:lstStyle/>
                    <a:p>
                      <a:pPr algn="l">
                        <a:defRPr sz="1000">
                          <a:solidFill>
                            <a:srgbClr val="0B1736"/>
                          </a:solidFill>
                          <a:latin typeface="Arial"/>
                        </a:defRPr>
                      </a:pPr>
                      <a:r>
                        <a:t>f'c/(γ_m×γ_f) = 30/(3×2)</a:t>
                      </a:r>
                    </a:p>
                  </a:txBody>
                  <a:tcPr>
                    <a:solidFill>
                      <a:srgbClr val="F7F9FC"/>
                    </a:solidFill>
                  </a:tcPr>
                </a:tc>
              </a:tr>
              <a:tr h="201168">
                <a:tc>
                  <a:txBody>
                    <a:bodyPr/>
                    <a:lstStyle/>
                    <a:p>
                      <a:pPr algn="l">
                        <a:defRPr sz="1000">
                          <a:solidFill>
                            <a:srgbClr val="0B1736"/>
                          </a:solidFill>
                          <a:latin typeface="Arial"/>
                        </a:defRPr>
                      </a:pPr>
                      <a:r>
                        <a:t>Compliance ratio</a:t>
                      </a:r>
                    </a:p>
                  </a:txBody>
                  <a:tcPr>
                    <a:solidFill>
                      <a:srgbClr val="EEF2FA"/>
                    </a:solidFill>
                  </a:tcPr>
                </a:tc>
                <a:tc>
                  <a:txBody>
                    <a:bodyPr/>
                    <a:lstStyle/>
                    <a:p>
                      <a:pPr algn="l">
                        <a:defRPr sz="1000">
                          <a:solidFill>
                            <a:srgbClr val="0B1736"/>
                          </a:solidFill>
                          <a:latin typeface="Arial"/>
                        </a:defRPr>
                      </a:pPr>
                      <a:r>
                        <a:t>C_opt/C_base ≤ 1.15</a:t>
                      </a:r>
                    </a:p>
                  </a:txBody>
                  <a:tcPr>
                    <a:solidFill>
                      <a:srgbClr val="EEF2FA"/>
                    </a:solidFill>
                  </a:tcPr>
                </a:tc>
                <a:tc>
                  <a:txBody>
                    <a:bodyPr/>
                    <a:lstStyle/>
                    <a:p>
                      <a:pPr algn="l">
                        <a:defRPr sz="1000">
                          <a:solidFill>
                            <a:srgbClr val="0B1736"/>
                          </a:solidFill>
                          <a:latin typeface="Arial"/>
                        </a:defRPr>
                      </a:pPr>
                      <a:r>
                        <a:t>15% stiffness budget</a:t>
                      </a:r>
                    </a:p>
                  </a:txBody>
                  <a:tcPr>
                    <a:solidFill>
                      <a:srgbClr val="EEF2FA"/>
                    </a:solidFill>
                  </a:tcPr>
                </a:tc>
              </a:tr>
              <a:tr h="201168">
                <a:tc>
                  <a:txBody>
                    <a:bodyPr/>
                    <a:lstStyle/>
                    <a:p>
                      <a:pPr algn="l">
                        <a:defRPr sz="1000">
                          <a:solidFill>
                            <a:srgbClr val="0B1736"/>
                          </a:solidFill>
                          <a:latin typeface="Arial"/>
                        </a:defRPr>
                      </a:pPr>
                      <a:r>
                        <a:t>Displacement</a:t>
                      </a:r>
                    </a:p>
                  </a:txBody>
                  <a:tcPr>
                    <a:solidFill>
                      <a:srgbClr val="F7F9FC"/>
                    </a:solidFill>
                  </a:tcPr>
                </a:tc>
                <a:tc>
                  <a:txBody>
                    <a:bodyPr/>
                    <a:lstStyle/>
                    <a:p>
                      <a:pPr algn="l">
                        <a:defRPr sz="1000">
                          <a:solidFill>
                            <a:srgbClr val="0B1736"/>
                          </a:solidFill>
                          <a:latin typeface="Arial"/>
                        </a:defRPr>
                      </a:pPr>
                      <a:r>
                        <a:t>u_max ≤ L/360 ≈ 28 mm</a:t>
                      </a:r>
                    </a:p>
                  </a:txBody>
                  <a:tcPr>
                    <a:solidFill>
                      <a:srgbClr val="F7F9FC"/>
                    </a:solidFill>
                  </a:tcPr>
                </a:tc>
                <a:tc>
                  <a:txBody>
                    <a:bodyPr/>
                    <a:lstStyle/>
                    <a:p>
                      <a:pPr algn="l">
                        <a:defRPr sz="1000">
                          <a:solidFill>
                            <a:srgbClr val="0B1736"/>
                          </a:solidFill>
                          <a:latin typeface="Arial"/>
                        </a:defRPr>
                      </a:pPr>
                      <a:r>
                        <a:t>ASCE 7-22 serviceability</a:t>
                      </a:r>
                    </a:p>
                  </a:txBody>
                  <a:tcPr>
                    <a:solidFill>
                      <a:srgbClr val="F7F9FC"/>
                    </a:solidFill>
                  </a:tcPr>
                </a:tc>
              </a:tr>
              <a:tr h="201168">
                <a:tc>
                  <a:txBody>
                    <a:bodyPr/>
                    <a:lstStyle/>
                    <a:p>
                      <a:pPr algn="l">
                        <a:defRPr sz="1000">
                          <a:solidFill>
                            <a:srgbClr val="0B1736"/>
                          </a:solidFill>
                          <a:latin typeface="Arial"/>
                        </a:defRPr>
                      </a:pPr>
                      <a:r>
                        <a:t>Wall t (exterior)</a:t>
                      </a:r>
                    </a:p>
                  </a:txBody>
                  <a:tcPr>
                    <a:solidFill>
                      <a:srgbClr val="EEF2FA"/>
                    </a:solidFill>
                  </a:tcPr>
                </a:tc>
                <a:tc>
                  <a:txBody>
                    <a:bodyPr/>
                    <a:lstStyle/>
                    <a:p>
                      <a:pPr algn="l">
                        <a:defRPr sz="1000">
                          <a:solidFill>
                            <a:srgbClr val="0B1736"/>
                          </a:solidFill>
                          <a:latin typeface="Arial"/>
                        </a:defRPr>
                      </a:pPr>
                      <a:r>
                        <a:t>2Δx ≈ 156 mm</a:t>
                      </a:r>
                    </a:p>
                  </a:txBody>
                  <a:tcPr>
                    <a:solidFill>
                      <a:srgbClr val="EEF2FA"/>
                    </a:solidFill>
                  </a:tcPr>
                </a:tc>
                <a:tc>
                  <a:txBody>
                    <a:bodyPr/>
                    <a:lstStyle/>
                    <a:p>
                      <a:pPr algn="l">
                        <a:defRPr sz="1000">
                          <a:solidFill>
                            <a:srgbClr val="0B1736"/>
                          </a:solidFill>
                          <a:latin typeface="Arial"/>
                        </a:defRPr>
                      </a:pPr>
                      <a:r>
                        <a:t>Load-bearing path</a:t>
                      </a:r>
                    </a:p>
                  </a:txBody>
                  <a:tcPr>
                    <a:solidFill>
                      <a:srgbClr val="EEF2FA"/>
                    </a:solidFill>
                  </a:tcPr>
                </a:tc>
              </a:tr>
              <a:tr h="201168">
                <a:tc>
                  <a:txBody>
                    <a:bodyPr/>
                    <a:lstStyle/>
                    <a:p>
                      <a:pPr algn="l">
                        <a:defRPr sz="1000">
                          <a:solidFill>
                            <a:srgbClr val="0B1736"/>
                          </a:solidFill>
                          <a:latin typeface="Arial"/>
                        </a:defRPr>
                      </a:pPr>
                      <a:r>
                        <a:t>Wall t (interior)</a:t>
                      </a:r>
                    </a:p>
                  </a:txBody>
                  <a:tcPr>
                    <a:solidFill>
                      <a:srgbClr val="F7F9FC"/>
                    </a:solidFill>
                  </a:tcPr>
                </a:tc>
                <a:tc>
                  <a:txBody>
                    <a:bodyPr/>
                    <a:lstStyle/>
                    <a:p>
                      <a:pPr algn="l">
                        <a:defRPr sz="1000">
                          <a:solidFill>
                            <a:srgbClr val="0B1736"/>
                          </a:solidFill>
                          <a:latin typeface="Arial"/>
                        </a:defRPr>
                      </a:pPr>
                      <a:r>
                        <a:t>1Δx ≈ 78 mm</a:t>
                      </a:r>
                    </a:p>
                  </a:txBody>
                  <a:tcPr>
                    <a:solidFill>
                      <a:srgbClr val="F7F9FC"/>
                    </a:solidFill>
                  </a:tcPr>
                </a:tc>
                <a:tc>
                  <a:txBody>
                    <a:bodyPr/>
                    <a:lstStyle/>
                    <a:p>
                      <a:pPr algn="l">
                        <a:defRPr sz="1000">
                          <a:solidFill>
                            <a:srgbClr val="0B1736"/>
                          </a:solidFill>
                          <a:latin typeface="Arial"/>
                        </a:defRPr>
                      </a:pPr>
                      <a:r>
                        <a:t>Non-structural partition</a:t>
                      </a:r>
                    </a:p>
                  </a:txBody>
                  <a:tcPr>
                    <a:solidFill>
                      <a:srgbClr val="F7F9FC"/>
                    </a:solidFill>
                  </a:tcPr>
                </a:tc>
              </a:tr>
              <a:tr h="201168">
                <a:tc>
                  <a:txBody>
                    <a:bodyPr/>
                    <a:lstStyle/>
                    <a:p>
                      <a:pPr algn="l">
                        <a:defRPr sz="1000">
                          <a:solidFill>
                            <a:srgbClr val="0B1736"/>
                          </a:solidFill>
                          <a:latin typeface="Arial"/>
                        </a:defRPr>
                      </a:pPr>
                      <a:r>
                        <a:t>Mesh integrity</a:t>
                      </a:r>
                    </a:p>
                  </a:txBody>
                  <a:tcPr>
                    <a:solidFill>
                      <a:srgbClr val="EEF2FA"/>
                    </a:solidFill>
                  </a:tcPr>
                </a:tc>
                <a:tc>
                  <a:txBody>
                    <a:bodyPr/>
                    <a:lstStyle/>
                    <a:p>
                      <a:pPr algn="l">
                        <a:defRPr sz="1000">
                          <a:solidFill>
                            <a:srgbClr val="0B1736"/>
                          </a:solidFill>
                          <a:latin typeface="Arial"/>
                        </a:defRPr>
                      </a:pPr>
                      <a:r>
                        <a:t>1 connected component</a:t>
                      </a:r>
                    </a:p>
                  </a:txBody>
                  <a:tcPr>
                    <a:solidFill>
                      <a:srgbClr val="EEF2FA"/>
                    </a:solidFill>
                  </a:tcPr>
                </a:tc>
                <a:tc>
                  <a:txBody>
                    <a:bodyPr/>
                    <a:lstStyle/>
                    <a:p>
                      <a:pPr algn="l">
                        <a:defRPr sz="1000">
                          <a:solidFill>
                            <a:srgbClr val="0B1736"/>
                          </a:solidFill>
                          <a:latin typeface="Arial"/>
                        </a:defRPr>
                      </a:pPr>
                      <a:r>
                        <a:t>AM printability req.</a:t>
                      </a:r>
                    </a:p>
                  </a:txBody>
                  <a:tcPr>
                    <a:solidFill>
                      <a:srgbClr val="EEF2FA"/>
                    </a:solidFill>
                  </a:tcPr>
                </a:tc>
              </a:tr>
            </a:tbl>
          </a:graphicData>
        </a:graphic>
      </p:graphicFrame>
      <p:sp>
        <p:nvSpPr>
          <p:cNvPr id="58" name="Rounded Rectangle 57"/>
          <p:cNvSpPr/>
          <p:nvPr/>
        </p:nvSpPr>
        <p:spPr>
          <a:xfrm>
            <a:off x="256032" y="17620487"/>
            <a:ext cx="10460736" cy="347472"/>
          </a:xfrm>
          <a:prstGeom prst="roundRect">
            <a:avLst>
              <a:gd name="adj" fmla="val 25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10896" y="17647919"/>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σ_VM,allow = f'c / (γ_m × γ_f) = 30 MPa / (3.0 × 2.0) = 5.0 MPa</a:t>
            </a:r>
          </a:p>
        </p:txBody>
      </p:sp>
      <p:sp>
        <p:nvSpPr>
          <p:cNvPr id="60" name="Rounded Rectangle 59"/>
          <p:cNvSpPr/>
          <p:nvPr/>
        </p:nvSpPr>
        <p:spPr>
          <a:xfrm>
            <a:off x="256032" y="18004535"/>
            <a:ext cx="10460736" cy="347472"/>
          </a:xfrm>
          <a:prstGeom prst="roundRect">
            <a:avLst>
              <a:gd name="adj" fmla="val 25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10896" y="18031968"/>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Conservative bound: μ̂_σ + k·σ̂_σ,  k = 1.0  →  P(violation) ≤ 0.09%  (conformal)</a:t>
            </a:r>
          </a:p>
        </p:txBody>
      </p:sp>
      <p:sp>
        <p:nvSpPr>
          <p:cNvPr id="62" name="TextBox 61"/>
          <p:cNvSpPr txBox="1"/>
          <p:nvPr/>
        </p:nvSpPr>
        <p:spPr>
          <a:xfrm>
            <a:off x="256032" y="18388584"/>
            <a:ext cx="10460736" cy="548640"/>
          </a:xfrm>
          <a:prstGeom prst="rect">
            <a:avLst/>
          </a:prstGeom>
          <a:noFill/>
        </p:spPr>
        <p:txBody>
          <a:bodyPr wrap="square"/>
          <a:lstStyle/>
          <a:p>
            <a:pPr algn="l">
              <a:spcBef>
                <a:spcPts val="0"/>
              </a:spcBef>
              <a:spcAft>
                <a:spcPts val="0"/>
              </a:spcAft>
              <a:defRPr sz="900" b="0" i="0">
                <a:solidFill>
                  <a:srgbClr val="0B1736"/>
                </a:solidFill>
                <a:latin typeface="Arial"/>
              </a:defRPr>
            </a:pPr>
            <a:r>
              <a:t>Material: isotropic linear elastic concrete. E = 25 GPa, ν = 0.20, ρ = 2,400 kg/m³, f'c = 30 MPa. Loading: ASCE 7-22 ASD combinations — dead (self-weight), live (1.92 kPa), lateral wind (0.96 kPa). Fixed-base BC at min-x face. Displacement inactive in all 1,114 cases (max ~ 10⁻⁴ m, four orders below limit).</a:t>
            </a:r>
          </a:p>
        </p:txBody>
      </p:sp>
      <p:sp>
        <p:nvSpPr>
          <p:cNvPr id="63" name="Rounded Rectangle 62"/>
          <p:cNvSpPr/>
          <p:nvPr/>
        </p:nvSpPr>
        <p:spPr>
          <a:xfrm>
            <a:off x="164592" y="19302983"/>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64592" y="19302983"/>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PROBLEM FRAMING</a:t>
            </a:r>
          </a:p>
        </p:txBody>
      </p:sp>
      <p:sp>
        <p:nvSpPr>
          <p:cNvPr id="65" name="Rounded Rectangle 64"/>
          <p:cNvSpPr/>
          <p:nvPr/>
        </p:nvSpPr>
        <p:spPr>
          <a:xfrm>
            <a:off x="164592" y="19714463"/>
            <a:ext cx="10643616" cy="13039344"/>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56032" y="19805903"/>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Optimization Objective</a:t>
            </a:r>
          </a:p>
        </p:txBody>
      </p:sp>
      <p:sp>
        <p:nvSpPr>
          <p:cNvPr id="67" name="Rounded Rectangle 66"/>
          <p:cNvSpPr/>
          <p:nvPr/>
        </p:nvSpPr>
        <p:spPr>
          <a:xfrm>
            <a:off x="256032" y="20007071"/>
            <a:ext cx="10460736" cy="347472"/>
          </a:xfrm>
          <a:prstGeom prst="roundRect">
            <a:avLst>
              <a:gd name="adj" fmla="val 25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0896" y="20034503"/>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min J(ρ) = w_V·(V/V₀) + w_S·(S/V₀) + P_constraint(ρ)    [w_V=1.0, w_S=0.01, κ=100]</a:t>
            </a:r>
          </a:p>
        </p:txBody>
      </p:sp>
      <p:sp>
        <p:nvSpPr>
          <p:cNvPr id="69" name="TextBox 68"/>
          <p:cNvSpPr txBox="1"/>
          <p:nvPr/>
        </p:nvSpPr>
        <p:spPr>
          <a:xfrm>
            <a:off x="256032" y="20391119"/>
            <a:ext cx="10460736" cy="502920"/>
          </a:xfrm>
          <a:prstGeom prst="rect">
            <a:avLst/>
          </a:prstGeom>
          <a:noFill/>
        </p:spPr>
        <p:txBody>
          <a:bodyPr wrap="square"/>
          <a:lstStyle/>
          <a:p>
            <a:pPr algn="l">
              <a:spcBef>
                <a:spcPts val="0"/>
              </a:spcBef>
              <a:spcAft>
                <a:spcPts val="0"/>
              </a:spcAft>
              <a:defRPr sz="900" b="0" i="0">
                <a:solidFill>
                  <a:srgbClr val="0B1736"/>
                </a:solidFill>
                <a:latin typeface="Arial"/>
              </a:defRPr>
            </a:pPr>
            <a:r>
              <a:t>V(ρ) = Σᵢρᵢ (total volume), S(ρ) = ½·Σᵢρᵢ·Σⱼ∈N₆(i)(1−ρⱼ) (exposed surface regularizer). Constraint penalty aggregates all structural violations with κ = 100 to approximate hard constraints. The upper-bound ensemble estimates: σ̂⁺ = μ_σ + k·σ_σ, Ĉ⁺ = μ_C + k·σ_C.</a:t>
            </a:r>
          </a:p>
        </p:txBody>
      </p:sp>
      <p:sp>
        <p:nvSpPr>
          <p:cNvPr id="70" name="TextBox 69"/>
          <p:cNvSpPr txBox="1"/>
          <p:nvPr/>
        </p:nvSpPr>
        <p:spPr>
          <a:xfrm>
            <a:off x="256032" y="20921471"/>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Sensitivity via Surrogate Backpropagation</a:t>
            </a:r>
          </a:p>
        </p:txBody>
      </p:sp>
      <p:sp>
        <p:nvSpPr>
          <p:cNvPr id="71" name="Rounded Rectangle 70"/>
          <p:cNvSpPr/>
          <p:nvPr/>
        </p:nvSpPr>
        <p:spPr>
          <a:xfrm>
            <a:off x="256032" y="21122639"/>
            <a:ext cx="10460736" cy="347472"/>
          </a:xfrm>
          <a:prstGeom prst="roundRect">
            <a:avLst>
              <a:gd name="adj" fmla="val 25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10896" y="21150071"/>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sᵢ = (1/M)·Σₘ ∂/∂ρᵢ[fₘ(C) + 0.3·fₘ(σ)]     sᵢ &gt; 0 → safe to remove  |  sᵢ &lt; 0 → essential</a:t>
            </a:r>
          </a:p>
        </p:txBody>
      </p:sp>
      <p:sp>
        <p:nvSpPr>
          <p:cNvPr id="73" name="TextBox 72"/>
          <p:cNvSpPr txBox="1"/>
          <p:nvPr/>
        </p:nvSpPr>
        <p:spPr>
          <a:xfrm>
            <a:off x="256032" y="21506687"/>
            <a:ext cx="10460736" cy="411480"/>
          </a:xfrm>
          <a:prstGeom prst="rect">
            <a:avLst/>
          </a:prstGeom>
          <a:noFill/>
        </p:spPr>
        <p:txBody>
          <a:bodyPr wrap="square"/>
          <a:lstStyle/>
          <a:p>
            <a:pPr algn="l">
              <a:spcBef>
                <a:spcPts val="0"/>
              </a:spcBef>
              <a:spcAft>
                <a:spcPts val="0"/>
              </a:spcAft>
              <a:defRPr sz="900" b="0" i="0">
                <a:solidFill>
                  <a:srgbClr val="0B1736"/>
                </a:solidFill>
                <a:latin typeface="Arial"/>
              </a:defRPr>
            </a:pPr>
            <a:r>
              <a:t>Each sensitivity computation requires M=5 forward+backward passes through the CNN (~3–8 s on RTX A3000), replacing a full FEA adjoint solve requiring minutes. Ensemble averaging: Var[s̄ᵢ] ≈ Var[sᵢ⁽¹⁾]/M → √5 ≈ 2.24× reduction in gradient noise.</a:t>
            </a:r>
          </a:p>
        </p:txBody>
      </p:sp>
      <p:sp>
        <p:nvSpPr>
          <p:cNvPr id="74" name="TextBox 73"/>
          <p:cNvSpPr txBox="1"/>
          <p:nvPr/>
        </p:nvSpPr>
        <p:spPr>
          <a:xfrm>
            <a:off x="256032" y="21963887"/>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Part-Aware Thickness Constraint</a:t>
            </a:r>
          </a:p>
        </p:txBody>
      </p:sp>
      <p:sp>
        <p:nvSpPr>
          <p:cNvPr id="75" name="Rounded Rectangle 74"/>
          <p:cNvSpPr/>
          <p:nvPr/>
        </p:nvSpPr>
        <p:spPr>
          <a:xfrm>
            <a:off x="256032" y="22165055"/>
            <a:ext cx="10460736" cy="347472"/>
          </a:xfrm>
          <a:prstGeom prst="roundRect">
            <a:avLst>
              <a:gd name="adj" fmla="val 25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10896" y="22192487"/>
            <a:ext cx="10351008" cy="292608"/>
          </a:xfrm>
          <a:prstGeom prst="rect">
            <a:avLst/>
          </a:prstGeom>
          <a:noFill/>
        </p:spPr>
        <p:txBody>
          <a:bodyPr wrap="square"/>
          <a:lstStyle/>
          <a:p>
            <a:pPr algn="ctr">
              <a:spcBef>
                <a:spcPts val="0"/>
              </a:spcBef>
              <a:spcAft>
                <a:spcPts val="0"/>
              </a:spcAft>
              <a:defRPr sz="1000" b="0" i="0">
                <a:solidFill>
                  <a:srgbClr val="0B1736"/>
                </a:solidFill>
                <a:latin typeface="Arial"/>
              </a:defRPr>
            </a:pPr>
            <a:r>
              <a:t>t_min(p) = 2Δx = 156 mm for {ext, roof, floor}  |  1Δx = 78 mm for interior walls</a:t>
            </a:r>
          </a:p>
        </p:txBody>
      </p:sp>
      <p:pic>
        <p:nvPicPr>
          <p:cNvPr id="77" name="Picture 76" descr="Image 5.jpg"/>
          <p:cNvPicPr>
            <a:picLocks noChangeAspect="1"/>
          </p:cNvPicPr>
          <p:nvPr/>
        </p:nvPicPr>
        <p:blipFill>
          <a:blip r:embed="rId7"/>
          <a:stretch>
            <a:fillRect/>
          </a:stretch>
        </p:blipFill>
        <p:spPr>
          <a:xfrm>
            <a:off x="256032" y="25196291"/>
            <a:ext cx="4754880" cy="4636008"/>
          </a:xfrm>
          <a:prstGeom prst="rect">
            <a:avLst/>
          </a:prstGeom>
        </p:spPr>
      </p:pic>
      <p:sp>
        <p:nvSpPr>
          <p:cNvPr id="78" name="TextBox 77"/>
          <p:cNvSpPr txBox="1"/>
          <p:nvPr/>
        </p:nvSpPr>
        <p:spPr>
          <a:xfrm>
            <a:off x="5102352" y="22567391"/>
            <a:ext cx="5614416" cy="9893808"/>
          </a:xfrm>
          <a:prstGeom prst="rect">
            <a:avLst/>
          </a:prstGeom>
          <a:noFill/>
        </p:spPr>
        <p:txBody>
          <a:bodyPr wrap="square"/>
          <a:lstStyle/>
          <a:p>
            <a:pPr algn="l">
              <a:spcBef>
                <a:spcPts val="0"/>
              </a:spcBef>
              <a:spcAft>
                <a:spcPts val="0"/>
              </a:spcAft>
              <a:defRPr sz="900" b="0" i="0">
                <a:solidFill>
                  <a:srgbClr val="0B1736"/>
                </a:solidFill>
                <a:latin typeface="Arial"/>
              </a:defRPr>
            </a:pPr>
            <a:r>
              <a:t>The part-aware formulation differentially thins interior partitions (1-voxel minimum, ~78 mm) while protecting load-bearing exterior walls, roof, and floor (2-voxel minimum, ~156 mm). Exterior walls are the primary lateral and gravity load path; interior walls serve as non-structural partitions.</a:t>
            </a:r>
            <a:br/>
            <a:br/>
            <a:r>
              <a:t>This heterogeneous constraint is the key to SASTO-PA achieving 10.7pp more material reduction than the uniform-thickness baseline (SASTO-U). The distance transform identifies interior surface voxels whose depth exceeds t_min(p), making them eligible for removal.</a:t>
            </a:r>
            <a:br/>
            <a:br/>
            <a:r>
              <a:t>The 3-voxel exterior shell surface is excluded from modification entirely, protecting the building envelope.</a:t>
            </a:r>
          </a:p>
        </p:txBody>
      </p:sp>
      <p:sp>
        <p:nvSpPr>
          <p:cNvPr id="79" name="TextBox 78"/>
          <p:cNvSpPr txBox="1"/>
          <p:nvPr/>
        </p:nvSpPr>
        <p:spPr>
          <a:xfrm>
            <a:off x="256032" y="32497776"/>
            <a:ext cx="4754880"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5. Part-aware thickness schematic</a:t>
            </a:r>
          </a:p>
        </p:txBody>
      </p:sp>
      <p:sp>
        <p:nvSpPr>
          <p:cNvPr id="80" name="Rounded Rectangle 79"/>
          <p:cNvSpPr/>
          <p:nvPr/>
        </p:nvSpPr>
        <p:spPr>
          <a:xfrm>
            <a:off x="11137392" y="3063240"/>
            <a:ext cx="216164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1137392" y="3063240"/>
            <a:ext cx="216164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ENGINEERING METHODOLOGY</a:t>
            </a:r>
          </a:p>
        </p:txBody>
      </p:sp>
      <p:sp>
        <p:nvSpPr>
          <p:cNvPr id="82" name="Rounded Rectangle 81"/>
          <p:cNvSpPr/>
          <p:nvPr/>
        </p:nvSpPr>
        <p:spPr>
          <a:xfrm>
            <a:off x="11137392" y="3474720"/>
            <a:ext cx="21616416" cy="150876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11228832" y="3566160"/>
            <a:ext cx="10652760" cy="7132320"/>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1301984" y="3621024"/>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Dataset Generation Pipeline</a:t>
            </a:r>
          </a:p>
        </p:txBody>
      </p:sp>
      <p:pic>
        <p:nvPicPr>
          <p:cNvPr id="85" name="Picture 84" descr="Image 6.jpg"/>
          <p:cNvPicPr>
            <a:picLocks noChangeAspect="1"/>
          </p:cNvPicPr>
          <p:nvPr/>
        </p:nvPicPr>
        <p:blipFill>
          <a:blip r:embed="rId8"/>
          <a:stretch>
            <a:fillRect/>
          </a:stretch>
        </p:blipFill>
        <p:spPr>
          <a:xfrm>
            <a:off x="14177772" y="3840480"/>
            <a:ext cx="4754880" cy="2743200"/>
          </a:xfrm>
          <a:prstGeom prst="rect">
            <a:avLst/>
          </a:prstGeom>
        </p:spPr>
      </p:pic>
      <p:sp>
        <p:nvSpPr>
          <p:cNvPr id="86" name="TextBox 85"/>
          <p:cNvSpPr txBox="1"/>
          <p:nvPr/>
        </p:nvSpPr>
        <p:spPr>
          <a:xfrm>
            <a:off x="11301984" y="6601968"/>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6. 14,293 wireframes → 11,178 FEA sims → 128³ voxel grids</a:t>
            </a:r>
          </a:p>
        </p:txBody>
      </p:sp>
      <p:graphicFrame>
        <p:nvGraphicFramePr>
          <p:cNvPr id="87" name="Table 86"/>
          <p:cNvGraphicFramePr>
            <a:graphicFrameLocks noGrp="1"/>
          </p:cNvGraphicFramePr>
          <p:nvPr/>
        </p:nvGraphicFramePr>
        <p:xfrm>
          <a:off x="11301984" y="6821424"/>
          <a:ext cx="10506455" cy="804672"/>
        </p:xfrm>
        <a:graphic>
          <a:graphicData uri="http://schemas.openxmlformats.org/drawingml/2006/table">
            <a:tbl>
              <a:tblPr firstRow="1" bandRow="1">
                <a:tableStyleId>{5C22544A-7EE6-4342-B048-85BDC9FD1C3A}</a:tableStyleId>
              </a:tblPr>
              <a:tblGrid>
                <a:gridCol w="3151936"/>
                <a:gridCol w="2626614"/>
                <a:gridCol w="4727905"/>
              </a:tblGrid>
              <a:tr h="201168">
                <a:tc>
                  <a:txBody>
                    <a:bodyPr/>
                    <a:lstStyle/>
                    <a:p>
                      <a:pPr algn="l">
                        <a:defRPr sz="1000" b="1">
                          <a:solidFill>
                            <a:srgbClr val="FFFFFF"/>
                          </a:solidFill>
                          <a:latin typeface="Arial"/>
                        </a:defRPr>
                      </a:pPr>
                      <a:r>
                        <a:t>Split</a:t>
                      </a:r>
                    </a:p>
                  </a:txBody>
                  <a:tcPr>
                    <a:solidFill>
                      <a:srgbClr val="0A3D9A"/>
                    </a:solidFill>
                  </a:tcPr>
                </a:tc>
                <a:tc>
                  <a:txBody>
                    <a:bodyPr/>
                    <a:lstStyle/>
                    <a:p>
                      <a:pPr algn="l">
                        <a:defRPr sz="1000" b="1">
                          <a:solidFill>
                            <a:srgbClr val="FFFFFF"/>
                          </a:solidFill>
                          <a:latin typeface="Arial"/>
                        </a:defRPr>
                      </a:pPr>
                      <a:r>
                        <a:t>n</a:t>
                      </a:r>
                    </a:p>
                  </a:txBody>
                  <a:tcPr>
                    <a:solidFill>
                      <a:srgbClr val="0A3D9A"/>
                    </a:solidFill>
                  </a:tcPr>
                </a:tc>
                <a:tc>
                  <a:txBody>
                    <a:bodyPr/>
                    <a:lstStyle/>
                    <a:p>
                      <a:pPr algn="l">
                        <a:defRPr sz="1000" b="1">
                          <a:solidFill>
                            <a:srgbClr val="FFFFFF"/>
                          </a:solidFill>
                          <a:latin typeface="Arial"/>
                        </a:defRPr>
                      </a:pPr>
                      <a:r>
                        <a:t>Targets</a:t>
                      </a:r>
                    </a:p>
                  </a:txBody>
                  <a:tcPr>
                    <a:solidFill>
                      <a:srgbClr val="0A3D9A"/>
                    </a:solidFill>
                  </a:tcPr>
                </a:tc>
              </a:tr>
              <a:tr h="201168">
                <a:tc>
                  <a:txBody>
                    <a:bodyPr/>
                    <a:lstStyle/>
                    <a:p>
                      <a:pPr algn="l">
                        <a:defRPr sz="1000">
                          <a:solidFill>
                            <a:srgbClr val="0B1736"/>
                          </a:solidFill>
                          <a:latin typeface="Arial"/>
                        </a:defRPr>
                      </a:pPr>
                      <a:r>
                        <a:t>Train</a:t>
                      </a:r>
                    </a:p>
                  </a:txBody>
                  <a:tcPr>
                    <a:solidFill>
                      <a:srgbClr val="F7F9FC"/>
                    </a:solidFill>
                  </a:tcPr>
                </a:tc>
                <a:tc>
                  <a:txBody>
                    <a:bodyPr/>
                    <a:lstStyle/>
                    <a:p>
                      <a:pPr algn="l">
                        <a:defRPr sz="1000">
                          <a:solidFill>
                            <a:srgbClr val="0B1736"/>
                          </a:solidFill>
                          <a:latin typeface="Arial"/>
                        </a:defRPr>
                      </a:pPr>
                      <a:r>
                        <a:t>8,943</a:t>
                      </a:r>
                    </a:p>
                  </a:txBody>
                  <a:tcPr>
                    <a:solidFill>
                      <a:srgbClr val="F7F9FC"/>
                    </a:solidFill>
                  </a:tcPr>
                </a:tc>
                <a:tc>
                  <a:txBody>
                    <a:bodyPr/>
                    <a:lstStyle/>
                    <a:p>
                      <a:pPr algn="l">
                        <a:defRPr sz="1000">
                          <a:solidFill>
                            <a:srgbClr val="0B1736"/>
                          </a:solidFill>
                          <a:latin typeface="Arial"/>
                        </a:defRPr>
                      </a:pPr>
                      <a:r>
                        <a:t>σ_VM, u_max, C</a:t>
                      </a:r>
                    </a:p>
                  </a:txBody>
                  <a:tcPr>
                    <a:solidFill>
                      <a:srgbClr val="F7F9FC"/>
                    </a:solidFill>
                  </a:tcPr>
                </a:tc>
              </a:tr>
              <a:tr h="201168">
                <a:tc>
                  <a:txBody>
                    <a:bodyPr/>
                    <a:lstStyle/>
                    <a:p>
                      <a:pPr algn="l">
                        <a:defRPr sz="1000">
                          <a:solidFill>
                            <a:srgbClr val="0B1736"/>
                          </a:solidFill>
                          <a:latin typeface="Arial"/>
                        </a:defRPr>
                      </a:pPr>
                      <a:r>
                        <a:t>Validation</a:t>
                      </a:r>
                    </a:p>
                  </a:txBody>
                  <a:tcPr>
                    <a:solidFill>
                      <a:srgbClr val="EEF2FA"/>
                    </a:solidFill>
                  </a:tcPr>
                </a:tc>
                <a:tc>
                  <a:txBody>
                    <a:bodyPr/>
                    <a:lstStyle/>
                    <a:p>
                      <a:pPr algn="l">
                        <a:defRPr sz="1000">
                          <a:solidFill>
                            <a:srgbClr val="0B1736"/>
                          </a:solidFill>
                          <a:latin typeface="Arial"/>
                        </a:defRPr>
                      </a:pPr>
                      <a:r>
                        <a:t>1,121</a:t>
                      </a:r>
                    </a:p>
                  </a:txBody>
                  <a:tcPr>
                    <a:solidFill>
                      <a:srgbClr val="EEF2FA"/>
                    </a:solidFill>
                  </a:tcPr>
                </a:tc>
                <a:tc>
                  <a:txBody>
                    <a:bodyPr/>
                    <a:lstStyle/>
                    <a:p>
                      <a:pPr algn="l">
                        <a:defRPr sz="1000">
                          <a:solidFill>
                            <a:srgbClr val="0B1736"/>
                          </a:solidFill>
                          <a:latin typeface="Arial"/>
                        </a:defRPr>
                      </a:pPr>
                      <a:r>
                        <a:t>—</a:t>
                      </a:r>
                    </a:p>
                  </a:txBody>
                  <a:tcPr>
                    <a:solidFill>
                      <a:srgbClr val="EEF2FA"/>
                    </a:solidFill>
                  </a:tcPr>
                </a:tc>
              </a:tr>
              <a:tr h="201168">
                <a:tc>
                  <a:txBody>
                    <a:bodyPr/>
                    <a:lstStyle/>
                    <a:p>
                      <a:pPr algn="l">
                        <a:defRPr sz="1000">
                          <a:solidFill>
                            <a:srgbClr val="0B1736"/>
                          </a:solidFill>
                          <a:latin typeface="Arial"/>
                        </a:defRPr>
                      </a:pPr>
                      <a:r>
                        <a:t>Test</a:t>
                      </a:r>
                    </a:p>
                  </a:txBody>
                  <a:tcPr>
                    <a:solidFill>
                      <a:srgbClr val="F7F9FC"/>
                    </a:solidFill>
                  </a:tcPr>
                </a:tc>
                <a:tc>
                  <a:txBody>
                    <a:bodyPr/>
                    <a:lstStyle/>
                    <a:p>
                      <a:pPr algn="l">
                        <a:defRPr sz="1000">
                          <a:solidFill>
                            <a:srgbClr val="0B1736"/>
                          </a:solidFill>
                          <a:latin typeface="Arial"/>
                        </a:defRPr>
                      </a:pPr>
                      <a:r>
                        <a:t>1,114</a:t>
                      </a:r>
                    </a:p>
                  </a:txBody>
                  <a:tcPr>
                    <a:solidFill>
                      <a:srgbClr val="F7F9FC"/>
                    </a:solidFill>
                  </a:tcPr>
                </a:tc>
                <a:tc>
                  <a:txBody>
                    <a:bodyPr/>
                    <a:lstStyle/>
                    <a:p>
                      <a:pPr algn="l">
                        <a:defRPr sz="1000">
                          <a:solidFill>
                            <a:srgbClr val="0B1736"/>
                          </a:solidFill>
                          <a:latin typeface="Arial"/>
                        </a:defRPr>
                      </a:pPr>
                      <a:r>
                        <a:t>Ground-truth FEA</a:t>
                      </a:r>
                    </a:p>
                  </a:txBody>
                  <a:tcPr>
                    <a:solidFill>
                      <a:srgbClr val="F7F9FC"/>
                    </a:solidFill>
                  </a:tcPr>
                </a:tc>
              </a:tr>
            </a:tbl>
          </a:graphicData>
        </a:graphic>
      </p:graphicFrame>
      <p:sp>
        <p:nvSpPr>
          <p:cNvPr id="88" name="TextBox 87"/>
          <p:cNvSpPr txBox="1"/>
          <p:nvPr/>
        </p:nvSpPr>
        <p:spPr>
          <a:xfrm>
            <a:off x="11301984" y="7680960"/>
            <a:ext cx="10506456" cy="1645920"/>
          </a:xfrm>
          <a:prstGeom prst="rect">
            <a:avLst/>
          </a:prstGeom>
          <a:noFill/>
        </p:spPr>
        <p:txBody>
          <a:bodyPr wrap="square"/>
          <a:lstStyle/>
          <a:p>
            <a:pPr algn="l">
              <a:spcBef>
                <a:spcPts val="0"/>
              </a:spcBef>
              <a:spcAft>
                <a:spcPts val="0"/>
              </a:spcAft>
              <a:defRPr sz="900" b="0" i="0">
                <a:solidFill>
                  <a:srgbClr val="0B1736"/>
                </a:solidFill>
                <a:latin typeface="Arial"/>
              </a:defRPr>
            </a:pPr>
            <a:r>
              <a:t>Pipeline: (1) 3DWire wireframe → volumetric parts via extrusion (ext walls 4 voxels ≈ 316 mm, int walls 2 voxels ≈ 158 mm); (2) boolean fusion via FreeCAD; (3) tetrahedral meshing via Gmsh (50k–200k elements); (4) SfePy FEA under ASCE 7-22 ASD loads; (5) voxelization onto 128³ grid with part labels.</a:t>
            </a:r>
            <a:br/>
            <a:br/>
            <a:r>
              <a:t>Data filtering: 3,115/14,293 (21.8%) rejected for diverged displacement (&gt;1.0 m), degenerate compliance (&lt;10⁻⁶ J), or invalid stress (≤0 Pa). Retained data spans 4.9 orders of magnitude in stress and 7.7 orders in compliance, motivating log-transform normalization.</a:t>
            </a:r>
          </a:p>
        </p:txBody>
      </p:sp>
      <p:sp>
        <p:nvSpPr>
          <p:cNvPr id="89" name="Rounded Rectangle 88"/>
          <p:cNvSpPr/>
          <p:nvPr/>
        </p:nvSpPr>
        <p:spPr>
          <a:xfrm>
            <a:off x="22009608" y="3566160"/>
            <a:ext cx="10652760" cy="7132320"/>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22082760" y="3621024"/>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Deep Ensemble Surrogate (5×8.76M params)</a:t>
            </a:r>
          </a:p>
        </p:txBody>
      </p:sp>
      <p:sp>
        <p:nvSpPr>
          <p:cNvPr id="91" name="Rounded Rectangle 90"/>
          <p:cNvSpPr/>
          <p:nvPr/>
        </p:nvSpPr>
        <p:spPr>
          <a:xfrm>
            <a:off x="31290768" y="3621024"/>
            <a:ext cx="1280160" cy="201168"/>
          </a:xfrm>
          <a:prstGeom prst="roundRect">
            <a:avLst>
              <a:gd name="adj" fmla="val 3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1290768" y="3621024"/>
            <a:ext cx="1280160" cy="201168"/>
          </a:xfrm>
          <a:prstGeom prst="rect">
            <a:avLst/>
          </a:prstGeom>
          <a:noFill/>
        </p:spPr>
        <p:txBody>
          <a:bodyPr wrap="square"/>
          <a:lstStyle/>
          <a:p>
            <a:pPr algn="ctr">
              <a:spcBef>
                <a:spcPts val="0"/>
              </a:spcBef>
              <a:spcAft>
                <a:spcPts val="0"/>
              </a:spcAft>
              <a:defRPr sz="900" b="1" i="0">
                <a:solidFill>
                  <a:srgbClr val="FFFFFF"/>
                </a:solidFill>
                <a:latin typeface="Arial"/>
              </a:defRPr>
            </a:pPr>
            <a:r>
              <a:t>×5 ENSEMBLE</a:t>
            </a:r>
          </a:p>
        </p:txBody>
      </p:sp>
      <p:pic>
        <p:nvPicPr>
          <p:cNvPr id="93" name="Picture 92" descr="Image 7.jpg"/>
          <p:cNvPicPr>
            <a:picLocks noChangeAspect="1"/>
          </p:cNvPicPr>
          <p:nvPr/>
        </p:nvPicPr>
        <p:blipFill>
          <a:blip r:embed="rId9"/>
          <a:stretch>
            <a:fillRect/>
          </a:stretch>
        </p:blipFill>
        <p:spPr>
          <a:xfrm>
            <a:off x="22550932" y="3858768"/>
            <a:ext cx="2721254" cy="4389120"/>
          </a:xfrm>
          <a:prstGeom prst="rect">
            <a:avLst/>
          </a:prstGeom>
        </p:spPr>
      </p:pic>
      <p:sp>
        <p:nvSpPr>
          <p:cNvPr id="94" name="TextBox 93"/>
          <p:cNvSpPr txBox="1"/>
          <p:nvPr/>
        </p:nvSpPr>
        <p:spPr>
          <a:xfrm>
            <a:off x="25831800" y="3858768"/>
            <a:ext cx="6757416" cy="4389120"/>
          </a:xfrm>
          <a:prstGeom prst="rect">
            <a:avLst/>
          </a:prstGeom>
          <a:noFill/>
        </p:spPr>
        <p:txBody>
          <a:bodyPr wrap="square"/>
          <a:lstStyle/>
          <a:p>
            <a:pPr algn="l">
              <a:spcBef>
                <a:spcPts val="100"/>
              </a:spcBef>
              <a:spcAft>
                <a:spcPts val="100"/>
              </a:spcAft>
              <a:defRPr sz="1000" b="1" i="0">
                <a:solidFill>
                  <a:srgbClr val="0B1736"/>
                </a:solidFill>
                <a:latin typeface="Arial"/>
              </a:defRPr>
            </a:pPr>
            <a:r>
              <a:t>Architecture:</a:t>
            </a:r>
          </a:p>
          <a:p>
            <a:pPr algn="l">
              <a:spcBef>
                <a:spcPts val="100"/>
              </a:spcBef>
              <a:spcAft>
                <a:spcPts val="0"/>
              </a:spcAft>
              <a:defRPr sz="900" b="0" i="0">
                <a:solidFill>
                  <a:srgbClr val="0B1736"/>
                </a:solidFill>
                <a:latin typeface="Arial"/>
              </a:defRPr>
            </a:pPr>
            <a:r>
              <a:t>• 4 conv stages: 128³→64³→32³→16³→8³</a:t>
            </a:r>
          </a:p>
          <a:p>
            <a:pPr algn="l">
              <a:spcBef>
                <a:spcPts val="100"/>
              </a:spcBef>
              <a:spcAft>
                <a:spcPts val="0"/>
              </a:spcAft>
              <a:defRPr sz="900" b="0" i="0">
                <a:solidFill>
                  <a:srgbClr val="0B1736"/>
                </a:solidFill>
                <a:latin typeface="Arial"/>
              </a:defRPr>
            </a:pPr>
            <a:r>
              <a:t>• 3 SE-ResBlocks with squeeze-excitation</a:t>
            </a:r>
          </a:p>
          <a:p>
            <a:pPr algn="l">
              <a:spcBef>
                <a:spcPts val="100"/>
              </a:spcBef>
              <a:spcAft>
                <a:spcPts val="0"/>
              </a:spcAft>
              <a:defRPr sz="900" b="0" i="0">
                <a:solidFill>
                  <a:srgbClr val="0B1736"/>
                </a:solidFill>
                <a:latin typeface="Arial"/>
              </a:defRPr>
            </a:pPr>
            <a:r>
              <a:t>• Dual pooling (avg+max) → 512-d embed</a:t>
            </a:r>
          </a:p>
          <a:p>
            <a:pPr algn="l">
              <a:spcBef>
                <a:spcPts val="100"/>
              </a:spcBef>
              <a:spcAft>
                <a:spcPts val="0"/>
              </a:spcAft>
              <a:defRPr sz="900" b="0" i="0">
                <a:solidFill>
                  <a:srgbClr val="0B1736"/>
                </a:solidFill>
                <a:latin typeface="Arial"/>
              </a:defRPr>
            </a:pPr>
            <a:r>
              <a:t>• + 128-d feature MLP (material+loads)</a:t>
            </a:r>
          </a:p>
          <a:p>
            <a:pPr algn="l">
              <a:spcBef>
                <a:spcPts val="100"/>
              </a:spcBef>
              <a:spcAft>
                <a:spcPts val="200"/>
              </a:spcAft>
              <a:defRPr sz="900" b="0" i="0">
                <a:solidFill>
                  <a:srgbClr val="0B1736"/>
                </a:solidFill>
                <a:latin typeface="Arial"/>
              </a:defRPr>
            </a:pPr>
            <a:r>
              <a:t>• Head: 640→512→256→3 with skip conn</a:t>
            </a:r>
          </a:p>
          <a:p>
            <a:pPr algn="l">
              <a:spcBef>
                <a:spcPts val="100"/>
              </a:spcBef>
              <a:spcAft>
                <a:spcPts val="100"/>
              </a:spcAft>
              <a:defRPr sz="1000" b="1" i="0">
                <a:solidFill>
                  <a:srgbClr val="0B1736"/>
                </a:solidFill>
                <a:latin typeface="Arial"/>
              </a:defRPr>
            </a:pPr>
            <a:r>
              <a:t>Training:</a:t>
            </a:r>
          </a:p>
          <a:p>
            <a:pPr algn="l">
              <a:spcBef>
                <a:spcPts val="100"/>
              </a:spcBef>
              <a:spcAft>
                <a:spcPts val="0"/>
              </a:spcAft>
              <a:defRPr sz="900" b="0" i="0">
                <a:solidFill>
                  <a:srgbClr val="0B1736"/>
                </a:solidFill>
                <a:latin typeface="Arial"/>
              </a:defRPr>
            </a:pPr>
            <a:r>
              <a:t>• Huber loss (SmoothL1)</a:t>
            </a:r>
          </a:p>
          <a:p>
            <a:pPr algn="l">
              <a:spcBef>
                <a:spcPts val="100"/>
              </a:spcBef>
              <a:spcAft>
                <a:spcPts val="0"/>
              </a:spcAft>
              <a:defRPr sz="900" b="0" i="0">
                <a:solidFill>
                  <a:srgbClr val="0B1736"/>
                </a:solidFill>
                <a:latin typeface="Arial"/>
              </a:defRPr>
            </a:pPr>
            <a:r>
              <a:t>• AdamW, lr=5×10⁻⁴, cosine anneal</a:t>
            </a:r>
          </a:p>
          <a:p>
            <a:pPr algn="l">
              <a:spcBef>
                <a:spcPts val="100"/>
              </a:spcBef>
              <a:spcAft>
                <a:spcPts val="0"/>
              </a:spcAft>
              <a:defRPr sz="900" b="0" i="0">
                <a:solidFill>
                  <a:srgbClr val="0B1736"/>
                </a:solidFill>
                <a:latin typeface="Arial"/>
              </a:defRPr>
            </a:pPr>
            <a:r>
              <a:t>• EMA decay 0.999, AMP, grad clip ‖·‖≤1</a:t>
            </a:r>
          </a:p>
          <a:p>
            <a:pPr algn="l">
              <a:spcBef>
                <a:spcPts val="100"/>
              </a:spcBef>
              <a:spcAft>
                <a:spcPts val="0"/>
              </a:spcAft>
              <a:defRPr sz="900" b="0" i="0">
                <a:solidFill>
                  <a:srgbClr val="0B1736"/>
                </a:solidFill>
                <a:latin typeface="Arial"/>
              </a:defRPr>
            </a:pPr>
            <a:r>
              <a:t>• Aug: 90° rot, flips, noise σ=0.02</a:t>
            </a:r>
          </a:p>
          <a:p>
            <a:pPr algn="l">
              <a:spcBef>
                <a:spcPts val="100"/>
              </a:spcBef>
              <a:spcAft>
                <a:spcPts val="0"/>
              </a:spcAft>
              <a:defRPr sz="900" b="0" i="0">
                <a:solidFill>
                  <a:srgbClr val="0B1736"/>
                </a:solidFill>
                <a:latin typeface="Arial"/>
              </a:defRPr>
            </a:pPr>
            <a:r>
              <a:t>• Dropout 0.15, stochastic depth 0–0.1</a:t>
            </a:r>
          </a:p>
          <a:p>
            <a:pPr algn="l">
              <a:spcBef>
                <a:spcPts val="100"/>
              </a:spcBef>
              <a:spcAft>
                <a:spcPts val="200"/>
              </a:spcAft>
              <a:defRPr sz="900" b="0" i="0">
                <a:solidFill>
                  <a:srgbClr val="0B1736"/>
                </a:solidFill>
                <a:latin typeface="Arial"/>
              </a:defRPr>
            </a:pPr>
            <a:r>
              <a:t>• Input: log(1+|y|) → z-score normalize</a:t>
            </a:r>
          </a:p>
          <a:p>
            <a:pPr algn="l">
              <a:spcBef>
                <a:spcPts val="100"/>
              </a:spcBef>
              <a:spcAft>
                <a:spcPts val="100"/>
              </a:spcAft>
              <a:defRPr sz="1000" b="1" i="0">
                <a:solidFill>
                  <a:srgbClr val="0B1736"/>
                </a:solidFill>
                <a:latin typeface="Arial"/>
              </a:defRPr>
            </a:pPr>
            <a:r>
              <a:t>Outputs: peak σ_VM, max u, compliance C</a:t>
            </a:r>
          </a:p>
          <a:p>
            <a:pPr algn="l">
              <a:spcBef>
                <a:spcPts val="100"/>
              </a:spcBef>
              <a:spcAft>
                <a:spcPts val="0"/>
              </a:spcAft>
              <a:defRPr sz="900" b="0" i="0">
                <a:solidFill>
                  <a:srgbClr val="0B1736"/>
                </a:solidFill>
                <a:latin typeface="Arial"/>
              </a:defRPr>
            </a:pPr>
            <a:r>
              <a:t>Predicts global scalars (not field), enabling fast backprop sensitivity + ensemble UQ.</a:t>
            </a:r>
          </a:p>
        </p:txBody>
      </p:sp>
      <p:graphicFrame>
        <p:nvGraphicFramePr>
          <p:cNvPr id="95" name="Table 94"/>
          <p:cNvGraphicFramePr>
            <a:graphicFrameLocks noGrp="1"/>
          </p:cNvGraphicFramePr>
          <p:nvPr/>
        </p:nvGraphicFramePr>
        <p:xfrm>
          <a:off x="22082760" y="8321040"/>
          <a:ext cx="10506455" cy="1005840"/>
        </p:xfrm>
        <a:graphic>
          <a:graphicData uri="http://schemas.openxmlformats.org/drawingml/2006/table">
            <a:tbl>
              <a:tblPr firstRow="1" bandRow="1">
                <a:tableStyleId>{5C22544A-7EE6-4342-B048-85BDC9FD1C3A}</a:tableStyleId>
              </a:tblPr>
              <a:tblGrid>
                <a:gridCol w="4202582"/>
                <a:gridCol w="6303873"/>
              </a:tblGrid>
              <a:tr h="201168">
                <a:tc>
                  <a:txBody>
                    <a:bodyPr/>
                    <a:lstStyle/>
                    <a:p>
                      <a:pPr algn="l">
                        <a:defRPr sz="1000" b="1">
                          <a:solidFill>
                            <a:srgbClr val="FFFFFF"/>
                          </a:solidFill>
                          <a:latin typeface="Arial"/>
                        </a:defRPr>
                      </a:pPr>
                      <a:r>
                        <a:t>Parameter</a:t>
                      </a:r>
                    </a:p>
                  </a:txBody>
                  <a:tcPr>
                    <a:solidFill>
                      <a:srgbClr val="0A3D9A"/>
                    </a:solidFill>
                  </a:tcPr>
                </a:tc>
                <a:tc>
                  <a:txBody>
                    <a:bodyPr/>
                    <a:lstStyle/>
                    <a:p>
                      <a:pPr algn="l">
                        <a:defRPr sz="1000" b="1">
                          <a:solidFill>
                            <a:srgbClr val="FFFFFF"/>
                          </a:solidFill>
                          <a:latin typeface="Arial"/>
                        </a:defRPr>
                      </a:pPr>
                      <a:r>
                        <a:t>Value</a:t>
                      </a:r>
                    </a:p>
                  </a:txBody>
                  <a:tcPr>
                    <a:solidFill>
                      <a:srgbClr val="0A3D9A"/>
                    </a:solidFill>
                  </a:tcPr>
                </a:tc>
              </a:tr>
              <a:tr h="201168">
                <a:tc>
                  <a:txBody>
                    <a:bodyPr/>
                    <a:lstStyle/>
                    <a:p>
                      <a:pPr algn="l">
                        <a:defRPr sz="1000">
                          <a:solidFill>
                            <a:srgbClr val="0B1736"/>
                          </a:solidFill>
                          <a:latin typeface="Arial"/>
                        </a:defRPr>
                      </a:pPr>
                      <a:r>
                        <a:t>Ensemble size</a:t>
                      </a:r>
                    </a:p>
                  </a:txBody>
                  <a:tcPr>
                    <a:solidFill>
                      <a:srgbClr val="F7F9FC"/>
                    </a:solidFill>
                  </a:tcPr>
                </a:tc>
                <a:tc>
                  <a:txBody>
                    <a:bodyPr/>
                    <a:lstStyle/>
                    <a:p>
                      <a:pPr algn="l">
                        <a:defRPr sz="1000">
                          <a:solidFill>
                            <a:srgbClr val="0B1736"/>
                          </a:solidFill>
                          <a:latin typeface="Arial"/>
                        </a:defRPr>
                      </a:pPr>
                      <a:r>
                        <a:t>M = 5 (43.8M total)</a:t>
                      </a:r>
                    </a:p>
                  </a:txBody>
                  <a:tcPr>
                    <a:solidFill>
                      <a:srgbClr val="F7F9FC"/>
                    </a:solidFill>
                  </a:tcPr>
                </a:tc>
              </a:tr>
              <a:tr h="201168">
                <a:tc>
                  <a:txBody>
                    <a:bodyPr/>
                    <a:lstStyle/>
                    <a:p>
                      <a:pPr algn="l">
                        <a:defRPr sz="1000">
                          <a:solidFill>
                            <a:srgbClr val="0B1736"/>
                          </a:solidFill>
                          <a:latin typeface="Arial"/>
                        </a:defRPr>
                      </a:pPr>
                      <a:r>
                        <a:t>Input</a:t>
                      </a:r>
                    </a:p>
                  </a:txBody>
                  <a:tcPr>
                    <a:solidFill>
                      <a:srgbClr val="EEF2FA"/>
                    </a:solidFill>
                  </a:tcPr>
                </a:tc>
                <a:tc>
                  <a:txBody>
                    <a:bodyPr/>
                    <a:lstStyle/>
                    <a:p>
                      <a:pPr algn="l">
                        <a:defRPr sz="1000">
                          <a:solidFill>
                            <a:srgbClr val="0B1736"/>
                          </a:solidFill>
                          <a:latin typeface="Arial"/>
                        </a:defRPr>
                      </a:pPr>
                      <a:r>
                        <a:t>7-ch 128³ + 10-d feature</a:t>
                      </a:r>
                    </a:p>
                  </a:txBody>
                  <a:tcPr>
                    <a:solidFill>
                      <a:srgbClr val="EEF2FA"/>
                    </a:solidFill>
                  </a:tcPr>
                </a:tc>
              </a:tr>
              <a:tr h="201168">
                <a:tc>
                  <a:txBody>
                    <a:bodyPr/>
                    <a:lstStyle/>
                    <a:p>
                      <a:pPr algn="l">
                        <a:defRPr sz="1000">
                          <a:solidFill>
                            <a:srgbClr val="0B1736"/>
                          </a:solidFill>
                          <a:latin typeface="Arial"/>
                        </a:defRPr>
                      </a:pPr>
                      <a:r>
                        <a:t>Regularization</a:t>
                      </a:r>
                    </a:p>
                  </a:txBody>
                  <a:tcPr>
                    <a:solidFill>
                      <a:srgbClr val="F7F9FC"/>
                    </a:solidFill>
                  </a:tcPr>
                </a:tc>
                <a:tc>
                  <a:txBody>
                    <a:bodyPr/>
                    <a:lstStyle/>
                    <a:p>
                      <a:pPr algn="l">
                        <a:defRPr sz="1000">
                          <a:solidFill>
                            <a:srgbClr val="0B1736"/>
                          </a:solidFill>
                          <a:latin typeface="Arial"/>
                        </a:defRPr>
                      </a:pPr>
                      <a:r>
                        <a:t>dropout 0.15, WD 10⁻⁴</a:t>
                      </a:r>
                    </a:p>
                  </a:txBody>
                  <a:tcPr>
                    <a:solidFill>
                      <a:srgbClr val="F7F9FC"/>
                    </a:solidFill>
                  </a:tcPr>
                </a:tc>
              </a:tr>
              <a:tr h="201168">
                <a:tc>
                  <a:txBody>
                    <a:bodyPr/>
                    <a:lstStyle/>
                    <a:p>
                      <a:pPr algn="l">
                        <a:defRPr sz="1000">
                          <a:solidFill>
                            <a:srgbClr val="0B1736"/>
                          </a:solidFill>
                          <a:latin typeface="Arial"/>
                        </a:defRPr>
                      </a:pPr>
                      <a:r>
                        <a:t>Normalization</a:t>
                      </a:r>
                    </a:p>
                  </a:txBody>
                  <a:tcPr>
                    <a:solidFill>
                      <a:srgbClr val="EEF2FA"/>
                    </a:solidFill>
                  </a:tcPr>
                </a:tc>
                <a:tc>
                  <a:txBody>
                    <a:bodyPr/>
                    <a:lstStyle/>
                    <a:p>
                      <a:pPr algn="l">
                        <a:defRPr sz="1000">
                          <a:solidFill>
                            <a:srgbClr val="0B1736"/>
                          </a:solidFill>
                          <a:latin typeface="Arial"/>
                        </a:defRPr>
                      </a:pPr>
                      <a:r>
                        <a:t>log(1+|y|) → z-score, 2/98‰ clip</a:t>
                      </a:r>
                    </a:p>
                  </a:txBody>
                  <a:tcPr>
                    <a:solidFill>
                      <a:srgbClr val="EEF2FA"/>
                    </a:solidFill>
                  </a:tcPr>
                </a:tc>
              </a:tr>
            </a:tbl>
          </a:graphicData>
        </a:graphic>
      </p:graphicFrame>
      <p:sp>
        <p:nvSpPr>
          <p:cNvPr id="96" name="TextBox 95"/>
          <p:cNvSpPr txBox="1"/>
          <p:nvPr/>
        </p:nvSpPr>
        <p:spPr>
          <a:xfrm>
            <a:off x="22082760" y="9363456"/>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7. Dual pooling → 512-d embed → 3 scalar outputs per member</a:t>
            </a:r>
          </a:p>
        </p:txBody>
      </p:sp>
      <p:sp>
        <p:nvSpPr>
          <p:cNvPr id="97" name="TextBox 96"/>
          <p:cNvSpPr txBox="1"/>
          <p:nvPr/>
        </p:nvSpPr>
        <p:spPr>
          <a:xfrm>
            <a:off x="22082760" y="9564624"/>
            <a:ext cx="10506456" cy="731520"/>
          </a:xfrm>
          <a:prstGeom prst="rect">
            <a:avLst/>
          </a:prstGeom>
          <a:noFill/>
        </p:spPr>
        <p:txBody>
          <a:bodyPr wrap="square"/>
          <a:lstStyle/>
          <a:p>
            <a:pPr algn="l">
              <a:spcBef>
                <a:spcPts val="0"/>
              </a:spcBef>
              <a:spcAft>
                <a:spcPts val="0"/>
              </a:spcAft>
              <a:defRPr sz="900" b="0" i="0">
                <a:solidFill>
                  <a:srgbClr val="0B1736"/>
                </a:solidFill>
                <a:latin typeface="Arial"/>
              </a:defRPr>
            </a:pPr>
            <a:r>
              <a:t>Each member: ~8.76M parameters. Ensemble provides epistemic uncertainty estimates via member disagreement. Gradient variance reduced by √M ≈ 2.24× vs. single model. Trained on 4× NVIDIA GB200 GPUs.</a:t>
            </a:r>
          </a:p>
        </p:txBody>
      </p:sp>
      <p:sp>
        <p:nvSpPr>
          <p:cNvPr id="98" name="Rounded Rectangle 97"/>
          <p:cNvSpPr/>
          <p:nvPr/>
        </p:nvSpPr>
        <p:spPr>
          <a:xfrm>
            <a:off x="11228832" y="10826496"/>
            <a:ext cx="10652760" cy="7644383"/>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1301984" y="10881360"/>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SASTO Algorithm — Sensitivity-Guided Erosion</a:t>
            </a:r>
          </a:p>
        </p:txBody>
      </p:sp>
      <p:pic>
        <p:nvPicPr>
          <p:cNvPr id="100" name="Picture 99" descr="Image 8.jpg"/>
          <p:cNvPicPr>
            <a:picLocks noChangeAspect="1"/>
          </p:cNvPicPr>
          <p:nvPr/>
        </p:nvPicPr>
        <p:blipFill>
          <a:blip r:embed="rId10"/>
          <a:stretch>
            <a:fillRect/>
          </a:stretch>
        </p:blipFill>
        <p:spPr>
          <a:xfrm>
            <a:off x="13278002" y="11119104"/>
            <a:ext cx="6554419" cy="2926080"/>
          </a:xfrm>
          <a:prstGeom prst="rect">
            <a:avLst/>
          </a:prstGeom>
        </p:spPr>
      </p:pic>
      <p:sp>
        <p:nvSpPr>
          <p:cNvPr id="101" name="TextBox 100"/>
          <p:cNvSpPr txBox="1"/>
          <p:nvPr/>
        </p:nvSpPr>
        <p:spPr>
          <a:xfrm>
            <a:off x="11301984" y="14063472"/>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8. Three-phase optimization. Phase 1 removes &gt;99% of material.</a:t>
            </a:r>
          </a:p>
        </p:txBody>
      </p:sp>
      <p:sp>
        <p:nvSpPr>
          <p:cNvPr id="102" name="Rounded Rectangle 101"/>
          <p:cNvSpPr/>
          <p:nvPr/>
        </p:nvSpPr>
        <p:spPr>
          <a:xfrm>
            <a:off x="11301984" y="14282928"/>
            <a:ext cx="10506456" cy="182880"/>
          </a:xfrm>
          <a:prstGeom prst="roundRect">
            <a:avLst>
              <a:gd name="adj" fmla="val 15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1375136" y="14282928"/>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1: Sensitivity-Guided Erosion</a:t>
            </a:r>
          </a:p>
        </p:txBody>
      </p:sp>
      <p:sp>
        <p:nvSpPr>
          <p:cNvPr id="104" name="TextBox 103"/>
          <p:cNvSpPr txBox="1"/>
          <p:nvPr/>
        </p:nvSpPr>
        <p:spPr>
          <a:xfrm>
            <a:off x="11375136" y="14484096"/>
            <a:ext cx="10360152" cy="384048"/>
          </a:xfrm>
          <a:prstGeom prst="rect">
            <a:avLst/>
          </a:prstGeom>
          <a:noFill/>
        </p:spPr>
        <p:txBody>
          <a:bodyPr wrap="square"/>
          <a:lstStyle/>
          <a:p>
            <a:pPr algn="l">
              <a:spcBef>
                <a:spcPts val="0"/>
              </a:spcBef>
              <a:spcAft>
                <a:spcPts val="0"/>
              </a:spcAft>
              <a:defRPr sz="800" b="0" i="0">
                <a:solidFill>
                  <a:srgbClr val="0B1736"/>
                </a:solidFill>
                <a:latin typeface="Arial"/>
              </a:defRPr>
            </a:pPr>
            <a:r>
              <a:t>Sort candidates by descending sᵢ; batch-remove 6-simple-points; if constraints violated → undo, halve B → max(B/2, 10). Accounts for &gt;99% of total removal.</a:t>
            </a:r>
          </a:p>
        </p:txBody>
      </p:sp>
      <p:sp>
        <p:nvSpPr>
          <p:cNvPr id="105" name="Rounded Rectangle 104"/>
          <p:cNvSpPr/>
          <p:nvPr/>
        </p:nvSpPr>
        <p:spPr>
          <a:xfrm>
            <a:off x="11301984" y="14886432"/>
            <a:ext cx="10506456" cy="182880"/>
          </a:xfrm>
          <a:prstGeom prst="roundRect">
            <a:avLst>
              <a:gd name="adj" fmla="val 15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375136" y="14886432"/>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2: Fine-Grained Endgame</a:t>
            </a:r>
          </a:p>
        </p:txBody>
      </p:sp>
      <p:sp>
        <p:nvSpPr>
          <p:cNvPr id="107" name="TextBox 106"/>
          <p:cNvSpPr txBox="1"/>
          <p:nvPr/>
        </p:nvSpPr>
        <p:spPr>
          <a:xfrm>
            <a:off x="11375136" y="15087600"/>
            <a:ext cx="10360152" cy="384048"/>
          </a:xfrm>
          <a:prstGeom prst="rect">
            <a:avLst/>
          </a:prstGeom>
          <a:noFill/>
        </p:spPr>
        <p:txBody>
          <a:bodyPr wrap="square"/>
          <a:lstStyle/>
          <a:p>
            <a:pPr algn="l">
              <a:spcBef>
                <a:spcPts val="0"/>
              </a:spcBef>
              <a:spcAft>
                <a:spcPts val="0"/>
              </a:spcAft>
              <a:defRPr sz="800" b="0" i="0">
                <a:solidFill>
                  <a:srgbClr val="0B1736"/>
                </a:solidFill>
                <a:latin typeface="Arial"/>
              </a:defRPr>
            </a:pPr>
            <a:r>
              <a:t>Re-run Phase 1 with B ∈ {5, 1} to squeeze remaining feasible removals near the constraint boundary.</a:t>
            </a:r>
          </a:p>
        </p:txBody>
      </p:sp>
      <p:sp>
        <p:nvSpPr>
          <p:cNvPr id="108" name="Rounded Rectangle 107"/>
          <p:cNvSpPr/>
          <p:nvPr/>
        </p:nvSpPr>
        <p:spPr>
          <a:xfrm>
            <a:off x="11301984" y="15489936"/>
            <a:ext cx="10506456" cy="182880"/>
          </a:xfrm>
          <a:prstGeom prst="roundRect">
            <a:avLst>
              <a:gd name="adj" fmla="val 15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1375136" y="15489936"/>
            <a:ext cx="10360152" cy="182880"/>
          </a:xfrm>
          <a:prstGeom prst="rect">
            <a:avLst/>
          </a:prstGeom>
          <a:noFill/>
        </p:spPr>
        <p:txBody>
          <a:bodyPr wrap="square"/>
          <a:lstStyle/>
          <a:p>
            <a:pPr algn="l">
              <a:spcBef>
                <a:spcPts val="0"/>
              </a:spcBef>
              <a:spcAft>
                <a:spcPts val="0"/>
              </a:spcAft>
              <a:defRPr sz="900" b="1" i="0">
                <a:solidFill>
                  <a:srgbClr val="FFFFFF"/>
                </a:solidFill>
                <a:latin typeface="Arial"/>
              </a:defRPr>
            </a:pPr>
            <a:r>
              <a:t>Phase 3: Swap Refinement</a:t>
            </a:r>
          </a:p>
        </p:txBody>
      </p:sp>
      <p:sp>
        <p:nvSpPr>
          <p:cNvPr id="110" name="TextBox 109"/>
          <p:cNvSpPr txBox="1"/>
          <p:nvPr/>
        </p:nvSpPr>
        <p:spPr>
          <a:xfrm>
            <a:off x="11375136" y="15691104"/>
            <a:ext cx="10360152" cy="384048"/>
          </a:xfrm>
          <a:prstGeom prst="rect">
            <a:avLst/>
          </a:prstGeom>
          <a:noFill/>
        </p:spPr>
        <p:txBody>
          <a:bodyPr wrap="square"/>
          <a:lstStyle/>
          <a:p>
            <a:pPr algn="l">
              <a:spcBef>
                <a:spcPts val="0"/>
              </a:spcBef>
              <a:spcAft>
                <a:spcPts val="0"/>
              </a:spcAft>
              <a:defRPr sz="800" b="0" i="0">
                <a:solidFill>
                  <a:srgbClr val="0B1736"/>
                </a:solidFill>
                <a:latin typeface="Arial"/>
              </a:defRPr>
            </a:pPr>
            <a:r>
              <a:t>Thick interior voxels (dist ≥ 3) swapped with removed neighbors; accept if volume decreases and constraints hold.</a:t>
            </a:r>
          </a:p>
        </p:txBody>
      </p:sp>
      <p:sp>
        <p:nvSpPr>
          <p:cNvPr id="111" name="TextBox 110"/>
          <p:cNvSpPr txBox="1"/>
          <p:nvPr/>
        </p:nvSpPr>
        <p:spPr>
          <a:xfrm>
            <a:off x="11301984" y="16093440"/>
            <a:ext cx="10506456" cy="457200"/>
          </a:xfrm>
          <a:prstGeom prst="rect">
            <a:avLst/>
          </a:prstGeom>
          <a:noFill/>
        </p:spPr>
        <p:txBody>
          <a:bodyPr wrap="square"/>
          <a:lstStyle/>
          <a:p>
            <a:pPr algn="l">
              <a:spcBef>
                <a:spcPts val="0"/>
              </a:spcBef>
              <a:spcAft>
                <a:spcPts val="0"/>
              </a:spcAft>
              <a:defRPr sz="800" b="0" i="0">
                <a:solidFill>
                  <a:srgbClr val="0B1736"/>
                </a:solidFill>
                <a:latin typeface="Arial"/>
              </a:defRPr>
            </a:pPr>
            <a:r>
              <a:t>Post-processing: fill enclosed air pockets (≤50 voxels), remove shard voxels (&lt;2 face-neighbors), compute SDF → marching cubes → Laplacian smoothing → watertight STL. 90% produce single-component mesh directly; remaining 10% need trivial fragment removal (mean 1.2 components, max 4).</a:t>
            </a:r>
          </a:p>
        </p:txBody>
      </p:sp>
      <p:sp>
        <p:nvSpPr>
          <p:cNvPr id="112" name="Rounded Rectangle 111"/>
          <p:cNvSpPr/>
          <p:nvPr/>
        </p:nvSpPr>
        <p:spPr>
          <a:xfrm>
            <a:off x="22009608" y="10826496"/>
            <a:ext cx="10652760" cy="7644383"/>
          </a:xfrm>
          <a:prstGeom prst="roundRect">
            <a:avLst>
              <a:gd name="adj" fmla="val 30000"/>
            </a:avLst>
          </a:prstGeom>
          <a:solidFill>
            <a:srgbClr val="F7F9FC"/>
          </a:solidFill>
          <a:ln w="635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082760" y="10881360"/>
            <a:ext cx="10506456" cy="201168"/>
          </a:xfrm>
          <a:prstGeom prst="rect">
            <a:avLst/>
          </a:prstGeom>
          <a:noFill/>
        </p:spPr>
        <p:txBody>
          <a:bodyPr wrap="square"/>
          <a:lstStyle/>
          <a:p>
            <a:pPr algn="l">
              <a:spcBef>
                <a:spcPts val="0"/>
              </a:spcBef>
              <a:spcAft>
                <a:spcPts val="0"/>
              </a:spcAft>
              <a:defRPr sz="1200" b="1" i="0">
                <a:solidFill>
                  <a:srgbClr val="0B1736"/>
                </a:solidFill>
                <a:latin typeface="Arial"/>
              </a:defRPr>
            </a:pPr>
            <a:r>
              <a:t>Topology: 6-Connectivity Guarantee</a:t>
            </a:r>
          </a:p>
        </p:txBody>
      </p:sp>
      <p:sp>
        <p:nvSpPr>
          <p:cNvPr id="114" name="Rounded Rectangle 113"/>
          <p:cNvSpPr/>
          <p:nvPr/>
        </p:nvSpPr>
        <p:spPr>
          <a:xfrm>
            <a:off x="22082760" y="11119104"/>
            <a:ext cx="5161788" cy="2377440"/>
          </a:xfrm>
          <a:prstGeom prst="roundRect">
            <a:avLst>
              <a:gd name="adj" fmla="val 25000"/>
            </a:avLst>
          </a:prstGeom>
          <a:solidFill>
            <a:srgbClr val="F7F9FC"/>
          </a:solidFill>
          <a:ln w="19050">
            <a:solidFill>
              <a:srgbClr val="D726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2082760" y="11137392"/>
            <a:ext cx="5161788" cy="164592"/>
          </a:xfrm>
          <a:prstGeom prst="rect">
            <a:avLst/>
          </a:prstGeom>
          <a:noFill/>
        </p:spPr>
        <p:txBody>
          <a:bodyPr wrap="square"/>
          <a:lstStyle/>
          <a:p>
            <a:pPr algn="ctr">
              <a:spcBef>
                <a:spcPts val="0"/>
              </a:spcBef>
              <a:spcAft>
                <a:spcPts val="0"/>
              </a:spcAft>
              <a:defRPr sz="900" b="1" i="0">
                <a:solidFill>
                  <a:srgbClr val="D7263D"/>
                </a:solidFill>
                <a:latin typeface="Arial"/>
              </a:defRPr>
            </a:pPr>
            <a:r>
              <a:t>26-CONN — FAILS</a:t>
            </a:r>
          </a:p>
        </p:txBody>
      </p:sp>
      <p:pic>
        <p:nvPicPr>
          <p:cNvPr id="116" name="Picture 115" descr="Image 9.jpg"/>
          <p:cNvPicPr>
            <a:picLocks noChangeAspect="1"/>
          </p:cNvPicPr>
          <p:nvPr/>
        </p:nvPicPr>
        <p:blipFill>
          <a:blip r:embed="rId11"/>
          <a:stretch>
            <a:fillRect/>
          </a:stretch>
        </p:blipFill>
        <p:spPr>
          <a:xfrm>
            <a:off x="23789894" y="11320272"/>
            <a:ext cx="1747520" cy="1463040"/>
          </a:xfrm>
          <a:prstGeom prst="rect">
            <a:avLst/>
          </a:prstGeom>
        </p:spPr>
      </p:pic>
      <p:sp>
        <p:nvSpPr>
          <p:cNvPr id="117" name="TextBox 116"/>
          <p:cNvSpPr txBox="1"/>
          <p:nvPr/>
        </p:nvSpPr>
        <p:spPr>
          <a:xfrm>
            <a:off x="22082760" y="12819888"/>
            <a:ext cx="5161788" cy="640080"/>
          </a:xfrm>
          <a:prstGeom prst="rect">
            <a:avLst/>
          </a:prstGeom>
          <a:noFill/>
        </p:spPr>
        <p:txBody>
          <a:bodyPr wrap="square"/>
          <a:lstStyle/>
          <a:p>
            <a:pPr algn="ctr">
              <a:spcBef>
                <a:spcPts val="0"/>
              </a:spcBef>
              <a:spcAft>
                <a:spcPts val="0"/>
              </a:spcAft>
              <a:defRPr sz="800" b="1" i="0">
                <a:solidFill>
                  <a:srgbClr val="D7263D"/>
                </a:solidFill>
                <a:latin typeface="Arial"/>
              </a:defRPr>
            </a:pPr>
            <a:r>
              <a:t>✗ Thousands of floating fragments</a:t>
            </a:r>
            <a:br/>
            <a:r>
              <a:t>✗ Diagonal-only connections</a:t>
            </a:r>
            <a:br/>
            <a:r>
              <a:t>✗ Marching cubes incompatible</a:t>
            </a:r>
            <a:br/>
            <a:r>
              <a:t>✗ Cannot generate AM toolpath</a:t>
            </a:r>
          </a:p>
        </p:txBody>
      </p:sp>
      <p:sp>
        <p:nvSpPr>
          <p:cNvPr id="118" name="TextBox 117"/>
          <p:cNvSpPr txBox="1"/>
          <p:nvPr/>
        </p:nvSpPr>
        <p:spPr>
          <a:xfrm>
            <a:off x="27244548" y="11942064"/>
            <a:ext cx="182880" cy="274320"/>
          </a:xfrm>
          <a:prstGeom prst="rect">
            <a:avLst/>
          </a:prstGeom>
          <a:noFill/>
        </p:spPr>
        <p:txBody>
          <a:bodyPr wrap="square"/>
          <a:lstStyle/>
          <a:p>
            <a:pPr algn="ctr">
              <a:spcBef>
                <a:spcPts val="0"/>
              </a:spcBef>
              <a:spcAft>
                <a:spcPts val="0"/>
              </a:spcAft>
              <a:defRPr sz="1100" b="1" i="0">
                <a:solidFill>
                  <a:srgbClr val="D7263D"/>
                </a:solidFill>
                <a:latin typeface="Arial"/>
              </a:defRPr>
            </a:pPr>
            <a:r>
              <a:t>vs.</a:t>
            </a:r>
          </a:p>
        </p:txBody>
      </p:sp>
      <p:sp>
        <p:nvSpPr>
          <p:cNvPr id="119" name="Rounded Rectangle 118"/>
          <p:cNvSpPr/>
          <p:nvPr/>
        </p:nvSpPr>
        <p:spPr>
          <a:xfrm>
            <a:off x="27427427" y="11119104"/>
            <a:ext cx="5161788" cy="2377440"/>
          </a:xfrm>
          <a:prstGeom prst="roundRect">
            <a:avLst>
              <a:gd name="adj" fmla="val 25000"/>
            </a:avLst>
          </a:prstGeom>
          <a:solidFill>
            <a:srgbClr val="F7F9FC"/>
          </a:solidFill>
          <a:ln w="19050">
            <a:solidFill>
              <a:srgbClr val="008C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7427427" y="11137392"/>
            <a:ext cx="5161788" cy="164592"/>
          </a:xfrm>
          <a:prstGeom prst="rect">
            <a:avLst/>
          </a:prstGeom>
          <a:noFill/>
        </p:spPr>
        <p:txBody>
          <a:bodyPr wrap="square"/>
          <a:lstStyle/>
          <a:p>
            <a:pPr algn="ctr">
              <a:spcBef>
                <a:spcPts val="0"/>
              </a:spcBef>
              <a:spcAft>
                <a:spcPts val="0"/>
              </a:spcAft>
              <a:defRPr sz="900" b="1" i="0">
                <a:solidFill>
                  <a:srgbClr val="008C9E"/>
                </a:solidFill>
                <a:latin typeface="Arial"/>
              </a:defRPr>
            </a:pPr>
            <a:r>
              <a:t>6-CONN — WORKS</a:t>
            </a:r>
          </a:p>
        </p:txBody>
      </p:sp>
      <p:pic>
        <p:nvPicPr>
          <p:cNvPr id="121" name="Picture 120" descr="Image 0.jpg"/>
          <p:cNvPicPr>
            <a:picLocks noChangeAspect="1"/>
          </p:cNvPicPr>
          <p:nvPr/>
        </p:nvPicPr>
        <p:blipFill>
          <a:blip r:embed="rId2"/>
          <a:stretch>
            <a:fillRect/>
          </a:stretch>
        </p:blipFill>
        <p:spPr>
          <a:xfrm>
            <a:off x="29295090" y="11320272"/>
            <a:ext cx="1426464" cy="1463040"/>
          </a:xfrm>
          <a:prstGeom prst="rect">
            <a:avLst/>
          </a:prstGeom>
        </p:spPr>
      </p:pic>
      <p:sp>
        <p:nvSpPr>
          <p:cNvPr id="122" name="TextBox 121"/>
          <p:cNvSpPr txBox="1"/>
          <p:nvPr/>
        </p:nvSpPr>
        <p:spPr>
          <a:xfrm>
            <a:off x="27427427" y="12819888"/>
            <a:ext cx="5161788" cy="640080"/>
          </a:xfrm>
          <a:prstGeom prst="rect">
            <a:avLst/>
          </a:prstGeom>
          <a:noFill/>
        </p:spPr>
        <p:txBody>
          <a:bodyPr wrap="square"/>
          <a:lstStyle/>
          <a:p>
            <a:pPr algn="ctr">
              <a:spcBef>
                <a:spcPts val="0"/>
              </a:spcBef>
              <a:spcAft>
                <a:spcPts val="0"/>
              </a:spcAft>
              <a:defRPr sz="800" b="1" i="0">
                <a:solidFill>
                  <a:srgbClr val="008C9E"/>
                </a:solidFill>
                <a:latin typeface="Arial"/>
              </a:defRPr>
            </a:pPr>
            <a:r>
              <a:t>✓ 1 connected component</a:t>
            </a:r>
            <a:br/>
            <a:r>
              <a:t>✓ Face-share adjacency only</a:t>
            </a:r>
            <a:br/>
            <a:r>
              <a:t>✓ Watertight STL confirmed</a:t>
            </a:r>
            <a:br/>
            <a:r>
              <a:t>✓ AM toolpath compatible</a:t>
            </a:r>
          </a:p>
        </p:txBody>
      </p:sp>
      <p:sp>
        <p:nvSpPr>
          <p:cNvPr id="123" name="Rounded Rectangle 122"/>
          <p:cNvSpPr/>
          <p:nvPr/>
        </p:nvSpPr>
        <p:spPr>
          <a:xfrm>
            <a:off x="22082760" y="13569696"/>
            <a:ext cx="10506456" cy="457200"/>
          </a:xfrm>
          <a:prstGeom prst="roundRect">
            <a:avLst>
              <a:gd name="adj" fmla="val 20000"/>
            </a:avLst>
          </a:prstGeom>
          <a:solidFill>
            <a:srgbClr val="E8EEF2"/>
          </a:solidFill>
          <a:ln w="12700">
            <a:solidFill>
              <a:srgbClr val="008C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22137624" y="13606272"/>
            <a:ext cx="10396728" cy="384048"/>
          </a:xfrm>
          <a:prstGeom prst="rect">
            <a:avLst/>
          </a:prstGeom>
          <a:noFill/>
        </p:spPr>
        <p:txBody>
          <a:bodyPr wrap="square"/>
          <a:lstStyle/>
          <a:p>
            <a:pPr algn="ctr">
              <a:spcBef>
                <a:spcPts val="0"/>
              </a:spcBef>
              <a:spcAft>
                <a:spcPts val="0"/>
              </a:spcAft>
              <a:defRPr sz="800" b="0" i="0">
                <a:solidFill>
                  <a:srgbClr val="0B1736"/>
                </a:solidFill>
                <a:latin typeface="Arial"/>
              </a:defRPr>
            </a:pPr>
            <a:r>
              <a:t>Proposition: A binary voxel field with exactly one 6-connected foreground component yields a single-component marching-cubes surface mesh. Proof by induction: two 6-adjacent voxels share a face whose 4 dual-grid vertices satisfy ψ ≤ 0 → connected triangle patches.</a:t>
            </a:r>
          </a:p>
        </p:txBody>
      </p:sp>
      <p:sp>
        <p:nvSpPr>
          <p:cNvPr id="125" name="TextBox 124"/>
          <p:cNvSpPr txBox="1"/>
          <p:nvPr/>
        </p:nvSpPr>
        <p:spPr>
          <a:xfrm>
            <a:off x="22082760" y="14063472"/>
            <a:ext cx="10506456" cy="182880"/>
          </a:xfrm>
          <a:prstGeom prst="rect">
            <a:avLst/>
          </a:prstGeom>
          <a:noFill/>
        </p:spPr>
        <p:txBody>
          <a:bodyPr wrap="square"/>
          <a:lstStyle/>
          <a:p>
            <a:pPr algn="l">
              <a:spcBef>
                <a:spcPts val="0"/>
              </a:spcBef>
              <a:spcAft>
                <a:spcPts val="0"/>
              </a:spcAft>
              <a:defRPr sz="1000" b="1" i="0">
                <a:solidFill>
                  <a:srgbClr val="0B1736"/>
                </a:solidFill>
                <a:latin typeface="Arial"/>
              </a:defRPr>
            </a:pPr>
            <a:r>
              <a:t>6-Simple Point Test (Kong &amp; Rosenfeld 1989)</a:t>
            </a:r>
          </a:p>
        </p:txBody>
      </p:sp>
      <p:sp>
        <p:nvSpPr>
          <p:cNvPr id="126" name="Rounded Rectangle 125"/>
          <p:cNvSpPr/>
          <p:nvPr/>
        </p:nvSpPr>
        <p:spPr>
          <a:xfrm>
            <a:off x="22082760" y="14264640"/>
            <a:ext cx="10506456" cy="347472"/>
          </a:xfrm>
          <a:prstGeom prst="roundRect">
            <a:avLst>
              <a:gd name="adj" fmla="val 25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2137623" y="14292072"/>
            <a:ext cx="10396728" cy="292608"/>
          </a:xfrm>
          <a:prstGeom prst="rect">
            <a:avLst/>
          </a:prstGeom>
          <a:noFill/>
        </p:spPr>
        <p:txBody>
          <a:bodyPr wrap="square"/>
          <a:lstStyle/>
          <a:p>
            <a:pPr algn="ctr">
              <a:spcBef>
                <a:spcPts val="0"/>
              </a:spcBef>
              <a:spcAft>
                <a:spcPts val="0"/>
              </a:spcAft>
              <a:defRPr sz="1000" b="0" i="0">
                <a:solidFill>
                  <a:srgbClr val="0B1736"/>
                </a:solidFill>
                <a:latin typeface="Arial"/>
              </a:defRPr>
            </a:pPr>
            <a:r>
              <a:t>SP₆(v) = 1  iff  |C₆(ρ'∩N₂₆(v))| = 1  ∧  |C₂₆(ρ̄'∩N₂₆(v)∪{v})| = 1</a:t>
            </a:r>
          </a:p>
        </p:txBody>
      </p:sp>
      <p:sp>
        <p:nvSpPr>
          <p:cNvPr id="128" name="TextBox 127"/>
          <p:cNvSpPr txBox="1"/>
          <p:nvPr/>
        </p:nvSpPr>
        <p:spPr>
          <a:xfrm>
            <a:off x="22082760" y="14648688"/>
            <a:ext cx="10506456" cy="548640"/>
          </a:xfrm>
          <a:prstGeom prst="rect">
            <a:avLst/>
          </a:prstGeom>
          <a:noFill/>
        </p:spPr>
        <p:txBody>
          <a:bodyPr wrap="square"/>
          <a:lstStyle/>
          <a:p>
            <a:pPr algn="l">
              <a:spcBef>
                <a:spcPts val="0"/>
              </a:spcBef>
              <a:spcAft>
                <a:spcPts val="0"/>
              </a:spcAft>
              <a:defRPr sz="800" b="0" i="0">
                <a:solidFill>
                  <a:srgbClr val="0B1736"/>
                </a:solidFill>
                <a:latin typeface="Arial"/>
              </a:defRPr>
            </a:pPr>
            <a:r>
              <a:t>Foreground uses 6-connectivity; background uses complementary 26-connectivity. This (6,26) pairing follows digital topology convention and prevents diagonal-only attachments that violate marching cubes assumptions. The standard (26,6) pairing in topology optimization literature produces thousands of floating fragments.</a:t>
            </a:r>
          </a:p>
        </p:txBody>
      </p:sp>
      <p:sp>
        <p:nvSpPr>
          <p:cNvPr id="129" name="TextBox 128"/>
          <p:cNvSpPr txBox="1"/>
          <p:nvPr/>
        </p:nvSpPr>
        <p:spPr>
          <a:xfrm>
            <a:off x="22082760" y="18269712"/>
            <a:ext cx="1050645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9. 6-conn eliminates floating fragments incompatible with AM toolpaths</a:t>
            </a:r>
          </a:p>
        </p:txBody>
      </p:sp>
      <p:sp>
        <p:nvSpPr>
          <p:cNvPr id="130" name="Rounded Rectangle 129"/>
          <p:cNvSpPr/>
          <p:nvPr/>
        </p:nvSpPr>
        <p:spPr>
          <a:xfrm>
            <a:off x="11137392" y="18598896"/>
            <a:ext cx="216164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137392" y="18598896"/>
            <a:ext cx="216164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RESULTS &amp; IN-SILICO VALIDATION</a:t>
            </a:r>
          </a:p>
        </p:txBody>
      </p:sp>
      <p:sp>
        <p:nvSpPr>
          <p:cNvPr id="132" name="Rounded Rectangle 131"/>
          <p:cNvSpPr/>
          <p:nvPr/>
        </p:nvSpPr>
        <p:spPr>
          <a:xfrm>
            <a:off x="11137392" y="19010376"/>
            <a:ext cx="21616416" cy="13743432"/>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228832"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Reference Case (Sample 00472)</a:t>
            </a:r>
          </a:p>
        </p:txBody>
      </p:sp>
      <p:pic>
        <p:nvPicPr>
          <p:cNvPr id="134" name="Picture 133" descr="Image 11.jpg"/>
          <p:cNvPicPr>
            <a:picLocks noChangeAspect="1"/>
          </p:cNvPicPr>
          <p:nvPr/>
        </p:nvPicPr>
        <p:blipFill>
          <a:blip r:embed="rId3"/>
          <a:stretch>
            <a:fillRect/>
          </a:stretch>
        </p:blipFill>
        <p:spPr>
          <a:xfrm>
            <a:off x="12838176" y="19321272"/>
            <a:ext cx="3840479" cy="2560320"/>
          </a:xfrm>
          <a:prstGeom prst="rect">
            <a:avLst/>
          </a:prstGeom>
        </p:spPr>
      </p:pic>
      <p:sp>
        <p:nvSpPr>
          <p:cNvPr id="135" name="Rounded Rectangle 134"/>
          <p:cNvSpPr/>
          <p:nvPr/>
        </p:nvSpPr>
        <p:spPr>
          <a:xfrm>
            <a:off x="14118336" y="21113496"/>
            <a:ext cx="1280160" cy="201168"/>
          </a:xfrm>
          <a:prstGeom prst="roundRect">
            <a:avLst>
              <a:gd name="adj" fmla="val 30000"/>
            </a:avLst>
          </a:prstGeom>
          <a:solidFill>
            <a:srgbClr val="D726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4118336" y="21113496"/>
            <a:ext cx="1280160" cy="201168"/>
          </a:xfrm>
          <a:prstGeom prst="rect">
            <a:avLst/>
          </a:prstGeom>
          <a:noFill/>
        </p:spPr>
        <p:txBody>
          <a:bodyPr wrap="square"/>
          <a:lstStyle/>
          <a:p>
            <a:pPr algn="ctr">
              <a:spcBef>
                <a:spcPts val="0"/>
              </a:spcBef>
              <a:spcAft>
                <a:spcPts val="0"/>
              </a:spcAft>
              <a:defRPr sz="900" b="1" i="0">
                <a:solidFill>
                  <a:srgbClr val="FFFFFF"/>
                </a:solidFill>
                <a:latin typeface="Arial"/>
              </a:defRPr>
            </a:pPr>
            <a:r>
              <a:t>−45.0% material</a:t>
            </a:r>
          </a:p>
        </p:txBody>
      </p:sp>
      <p:sp>
        <p:nvSpPr>
          <p:cNvPr id="137" name="TextBox 136"/>
          <p:cNvSpPr txBox="1"/>
          <p:nvPr/>
        </p:nvSpPr>
        <p:spPr>
          <a:xfrm>
            <a:off x="11228832" y="2191816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Before/after optimization renders</a:t>
            </a:r>
          </a:p>
        </p:txBody>
      </p:sp>
      <p:graphicFrame>
        <p:nvGraphicFramePr>
          <p:cNvPr id="138" name="Table 137"/>
          <p:cNvGraphicFramePr>
            <a:graphicFrameLocks noGrp="1"/>
          </p:cNvGraphicFramePr>
          <p:nvPr/>
        </p:nvGraphicFramePr>
        <p:xfrm>
          <a:off x="11228832" y="22137624"/>
          <a:ext cx="7059166" cy="1408176"/>
        </p:xfrm>
        <a:graphic>
          <a:graphicData uri="http://schemas.openxmlformats.org/drawingml/2006/table">
            <a:tbl>
              <a:tblPr firstRow="1" bandRow="1">
                <a:tableStyleId>{5C22544A-7EE6-4342-B048-85BDC9FD1C3A}</a:tableStyleId>
              </a:tblPr>
              <a:tblGrid>
                <a:gridCol w="2682483"/>
                <a:gridCol w="2117750"/>
                <a:gridCol w="2258933"/>
              </a:tblGrid>
              <a:tr h="201168">
                <a:tc>
                  <a:txBody>
                    <a:bodyPr/>
                    <a:lstStyle/>
                    <a:p>
                      <a:pPr algn="l">
                        <a:defRPr sz="1000" b="1">
                          <a:solidFill>
                            <a:srgbClr val="FFFFFF"/>
                          </a:solidFill>
                          <a:latin typeface="Arial"/>
                        </a:defRPr>
                      </a:pPr>
                      <a:r>
                        <a:t>Metric</a:t>
                      </a:r>
                    </a:p>
                  </a:txBody>
                  <a:tcPr>
                    <a:solidFill>
                      <a:srgbClr val="0A3D9A"/>
                    </a:solidFill>
                  </a:tcPr>
                </a:tc>
                <a:tc>
                  <a:txBody>
                    <a:bodyPr/>
                    <a:lstStyle/>
                    <a:p>
                      <a:pPr algn="l">
                        <a:defRPr sz="1000" b="1">
                          <a:solidFill>
                            <a:srgbClr val="FFFFFF"/>
                          </a:solidFill>
                          <a:latin typeface="Arial"/>
                        </a:defRPr>
                      </a:pPr>
                      <a:r>
                        <a:t>Baseline</a:t>
                      </a:r>
                    </a:p>
                  </a:txBody>
                  <a:tcPr>
                    <a:solidFill>
                      <a:srgbClr val="0A3D9A"/>
                    </a:solidFill>
                  </a:tcPr>
                </a:tc>
                <a:tc>
                  <a:txBody>
                    <a:bodyPr/>
                    <a:lstStyle/>
                    <a:p>
                      <a:pPr algn="l">
                        <a:defRPr sz="1000" b="1">
                          <a:solidFill>
                            <a:srgbClr val="FFFFFF"/>
                          </a:solidFill>
                          <a:latin typeface="Arial"/>
                        </a:defRPr>
                      </a:pPr>
                      <a:r>
                        <a:t>SASTO-PA</a:t>
                      </a:r>
                    </a:p>
                  </a:txBody>
                  <a:tcPr>
                    <a:solidFill>
                      <a:srgbClr val="0A3D9A"/>
                    </a:solidFill>
                  </a:tcPr>
                </a:tc>
              </a:tr>
              <a:tr h="201168">
                <a:tc>
                  <a:txBody>
                    <a:bodyPr/>
                    <a:lstStyle/>
                    <a:p>
                      <a:pPr algn="l">
                        <a:defRPr sz="1000">
                          <a:solidFill>
                            <a:srgbClr val="0B1736"/>
                          </a:solidFill>
                          <a:latin typeface="Arial"/>
                        </a:defRPr>
                      </a:pPr>
                      <a:r>
                        <a:t>Vol. reduction</a:t>
                      </a:r>
                    </a:p>
                  </a:txBody>
                  <a:tcPr>
                    <a:solidFill>
                      <a:srgbClr val="F7F9FC"/>
                    </a:solidFill>
                  </a:tcPr>
                </a:tc>
                <a:tc>
                  <a:txBody>
                    <a:bodyPr/>
                    <a:lstStyle/>
                    <a:p>
                      <a:pPr algn="l">
                        <a:defRPr sz="1000">
                          <a:solidFill>
                            <a:srgbClr val="0B1736"/>
                          </a:solidFill>
                          <a:latin typeface="Arial"/>
                        </a:defRPr>
                      </a:pPr>
                      <a:r>
                        <a:t>—</a:t>
                      </a:r>
                    </a:p>
                  </a:txBody>
                  <a:tcPr>
                    <a:solidFill>
                      <a:srgbClr val="F7F9FC"/>
                    </a:solidFill>
                  </a:tcPr>
                </a:tc>
                <a:tc>
                  <a:txBody>
                    <a:bodyPr/>
                    <a:lstStyle/>
                    <a:p>
                      <a:pPr algn="l">
                        <a:defRPr sz="1000">
                          <a:solidFill>
                            <a:srgbClr val="0B1736"/>
                          </a:solidFill>
                          <a:latin typeface="Arial"/>
                        </a:defRPr>
                      </a:pPr>
                      <a:r>
                        <a:t>45.0% ★</a:t>
                      </a:r>
                    </a:p>
                  </a:txBody>
                  <a:tcPr>
                    <a:solidFill>
                      <a:srgbClr val="F7F9FC"/>
                    </a:solidFill>
                  </a:tcPr>
                </a:tc>
              </a:tr>
              <a:tr h="201168">
                <a:tc>
                  <a:txBody>
                    <a:bodyPr/>
                    <a:lstStyle/>
                    <a:p>
                      <a:pPr algn="l">
                        <a:defRPr sz="1000">
                          <a:solidFill>
                            <a:srgbClr val="0B1736"/>
                          </a:solidFill>
                          <a:latin typeface="Arial"/>
                        </a:defRPr>
                      </a:pPr>
                      <a:r>
                        <a:t>VM stress (Pa)</a:t>
                      </a:r>
                    </a:p>
                  </a:txBody>
                  <a:tcPr>
                    <a:solidFill>
                      <a:srgbClr val="EEF2FA"/>
                    </a:solidFill>
                  </a:tcPr>
                </a:tc>
                <a:tc>
                  <a:txBody>
                    <a:bodyPr/>
                    <a:lstStyle/>
                    <a:p>
                      <a:pPr algn="l">
                        <a:defRPr sz="1000">
                          <a:solidFill>
                            <a:srgbClr val="0B1736"/>
                          </a:solidFill>
                          <a:latin typeface="Arial"/>
                        </a:defRPr>
                      </a:pPr>
                      <a:r>
                        <a:t>3.08×10⁶</a:t>
                      </a:r>
                    </a:p>
                  </a:txBody>
                  <a:tcPr>
                    <a:solidFill>
                      <a:srgbClr val="EEF2FA"/>
                    </a:solidFill>
                  </a:tcPr>
                </a:tc>
                <a:tc>
                  <a:txBody>
                    <a:bodyPr/>
                    <a:lstStyle/>
                    <a:p>
                      <a:pPr algn="l">
                        <a:defRPr sz="1000">
                          <a:solidFill>
                            <a:srgbClr val="0B1736"/>
                          </a:solidFill>
                          <a:latin typeface="Arial"/>
                        </a:defRPr>
                      </a:pPr>
                      <a:r>
                        <a:t>3.08×10⁶ ✓</a:t>
                      </a:r>
                    </a:p>
                  </a:txBody>
                  <a:tcPr>
                    <a:solidFill>
                      <a:srgbClr val="EEF2FA"/>
                    </a:solidFill>
                  </a:tcPr>
                </a:tc>
              </a:tr>
              <a:tr h="201168">
                <a:tc>
                  <a:txBody>
                    <a:bodyPr/>
                    <a:lstStyle/>
                    <a:p>
                      <a:pPr algn="l">
                        <a:defRPr sz="1000">
                          <a:solidFill>
                            <a:srgbClr val="0B1736"/>
                          </a:solidFill>
                          <a:latin typeface="Arial"/>
                        </a:defRPr>
                      </a:pPr>
                      <a:r>
                        <a:t>Compliance ratio</a:t>
                      </a:r>
                    </a:p>
                  </a:txBody>
                  <a:tcPr>
                    <a:solidFill>
                      <a:srgbClr val="F7F9FC"/>
                    </a:solidFill>
                  </a:tcPr>
                </a:tc>
                <a:tc>
                  <a:txBody>
                    <a:bodyPr/>
                    <a:lstStyle/>
                    <a:p>
                      <a:pPr algn="l">
                        <a:defRPr sz="1000">
                          <a:solidFill>
                            <a:srgbClr val="0B1736"/>
                          </a:solidFill>
                          <a:latin typeface="Arial"/>
                        </a:defRPr>
                      </a:pPr>
                      <a:r>
                        <a:t>1.00</a:t>
                      </a:r>
                    </a:p>
                  </a:txBody>
                  <a:tcPr>
                    <a:solidFill>
                      <a:srgbClr val="F7F9FC"/>
                    </a:solidFill>
                  </a:tcPr>
                </a:tc>
                <a:tc>
                  <a:txBody>
                    <a:bodyPr/>
                    <a:lstStyle/>
                    <a:p>
                      <a:pPr algn="l">
                        <a:defRPr sz="1000">
                          <a:solidFill>
                            <a:srgbClr val="0B1736"/>
                          </a:solidFill>
                          <a:latin typeface="Arial"/>
                        </a:defRPr>
                      </a:pPr>
                      <a:r>
                        <a:t>1.004 ✓</a:t>
                      </a:r>
                    </a:p>
                  </a:txBody>
                  <a:tcPr>
                    <a:solidFill>
                      <a:srgbClr val="F7F9FC"/>
                    </a:solidFill>
                  </a:tcPr>
                </a:tc>
              </a:tr>
              <a:tr h="201168">
                <a:tc>
                  <a:txBody>
                    <a:bodyPr/>
                    <a:lstStyle/>
                    <a:p>
                      <a:pPr algn="l">
                        <a:defRPr sz="1000">
                          <a:solidFill>
                            <a:srgbClr val="0B1736"/>
                          </a:solidFill>
                          <a:latin typeface="Arial"/>
                        </a:defRPr>
                      </a:pPr>
                      <a:r>
                        <a:t>Mesh components</a:t>
                      </a:r>
                    </a:p>
                  </a:txBody>
                  <a:tcPr>
                    <a:solidFill>
                      <a:srgbClr val="EEF2FA"/>
                    </a:solidFill>
                  </a:tcPr>
                </a:tc>
                <a:tc>
                  <a:txBody>
                    <a:bodyPr/>
                    <a:lstStyle/>
                    <a:p>
                      <a:pPr algn="l">
                        <a:defRPr sz="1000">
                          <a:solidFill>
                            <a:srgbClr val="0B1736"/>
                          </a:solidFill>
                          <a:latin typeface="Arial"/>
                        </a:defRPr>
                      </a:pPr>
                      <a:r>
                        <a:t>1</a:t>
                      </a:r>
                    </a:p>
                  </a:txBody>
                  <a:tcPr>
                    <a:solidFill>
                      <a:srgbClr val="EEF2FA"/>
                    </a:solidFill>
                  </a:tcPr>
                </a:tc>
                <a:tc>
                  <a:txBody>
                    <a:bodyPr/>
                    <a:lstStyle/>
                    <a:p>
                      <a:pPr algn="l">
                        <a:defRPr sz="1000">
                          <a:solidFill>
                            <a:srgbClr val="0B1736"/>
                          </a:solidFill>
                          <a:latin typeface="Arial"/>
                        </a:defRPr>
                      </a:pPr>
                      <a:r>
                        <a:t>1 ✓</a:t>
                      </a:r>
                    </a:p>
                  </a:txBody>
                  <a:tcPr>
                    <a:solidFill>
                      <a:srgbClr val="EEF2FA"/>
                    </a:solidFill>
                  </a:tcPr>
                </a:tc>
              </a:tr>
              <a:tr h="201168">
                <a:tc>
                  <a:txBody>
                    <a:bodyPr/>
                    <a:lstStyle/>
                    <a:p>
                      <a:pPr algn="l">
                        <a:defRPr sz="1000">
                          <a:solidFill>
                            <a:srgbClr val="0B1736"/>
                          </a:solidFill>
                          <a:latin typeface="Arial"/>
                        </a:defRPr>
                      </a:pPr>
                      <a:r>
                        <a:t>Runtime</a:t>
                      </a:r>
                    </a:p>
                  </a:txBody>
                  <a:tcPr>
                    <a:solidFill>
                      <a:srgbClr val="F7F9FC"/>
                    </a:solidFill>
                  </a:tcPr>
                </a:tc>
                <a:tc>
                  <a:txBody>
                    <a:bodyPr/>
                    <a:lstStyle/>
                    <a:p>
                      <a:pPr algn="l">
                        <a:defRPr sz="1000">
                          <a:solidFill>
                            <a:srgbClr val="0B1736"/>
                          </a:solidFill>
                          <a:latin typeface="Arial"/>
                        </a:defRPr>
                      </a:pPr>
                      <a:r>
                        <a:t>—</a:t>
                      </a:r>
                    </a:p>
                  </a:txBody>
                  <a:tcPr>
                    <a:solidFill>
                      <a:srgbClr val="F7F9FC"/>
                    </a:solidFill>
                  </a:tcPr>
                </a:tc>
                <a:tc>
                  <a:txBody>
                    <a:bodyPr/>
                    <a:lstStyle/>
                    <a:p>
                      <a:pPr algn="l">
                        <a:defRPr sz="1000">
                          <a:solidFill>
                            <a:srgbClr val="0B1736"/>
                          </a:solidFill>
                          <a:latin typeface="Arial"/>
                        </a:defRPr>
                      </a:pPr>
                      <a:r>
                        <a:t>160 s</a:t>
                      </a:r>
                    </a:p>
                  </a:txBody>
                  <a:tcPr>
                    <a:solidFill>
                      <a:srgbClr val="F7F9FC"/>
                    </a:solidFill>
                  </a:tcPr>
                </a:tc>
              </a:tr>
              <a:tr h="201168">
                <a:tc>
                  <a:txBody>
                    <a:bodyPr/>
                    <a:lstStyle/>
                    <a:p>
                      <a:pPr algn="l">
                        <a:defRPr sz="1000">
                          <a:solidFill>
                            <a:srgbClr val="0B1736"/>
                          </a:solidFill>
                          <a:latin typeface="Arial"/>
                        </a:defRPr>
                      </a:pPr>
                      <a:r>
                        <a:t>EI Index</a:t>
                      </a:r>
                    </a:p>
                  </a:txBody>
                  <a:tcPr>
                    <a:solidFill>
                      <a:srgbClr val="EEF2FA"/>
                    </a:solidFill>
                  </a:tcPr>
                </a:tc>
                <a:tc>
                  <a:txBody>
                    <a:bodyPr/>
                    <a:lstStyle/>
                    <a:p>
                      <a:pPr algn="l">
                        <a:defRPr sz="1000">
                          <a:solidFill>
                            <a:srgbClr val="0B1736"/>
                          </a:solidFill>
                          <a:latin typeface="Arial"/>
                        </a:defRPr>
                      </a:pPr>
                      <a:r>
                        <a:t>—</a:t>
                      </a:r>
                    </a:p>
                  </a:txBody>
                  <a:tcPr>
                    <a:solidFill>
                      <a:srgbClr val="EEF2FA"/>
                    </a:solidFill>
                  </a:tcPr>
                </a:tc>
                <a:tc>
                  <a:txBody>
                    <a:bodyPr/>
                    <a:lstStyle/>
                    <a:p>
                      <a:pPr algn="l">
                        <a:defRPr sz="1000">
                          <a:solidFill>
                            <a:srgbClr val="0B1736"/>
                          </a:solidFill>
                          <a:latin typeface="Arial"/>
                        </a:defRPr>
                      </a:pPr>
                      <a:r>
                        <a:t>0.358 ★</a:t>
                      </a:r>
                    </a:p>
                  </a:txBody>
                  <a:tcPr>
                    <a:solidFill>
                      <a:srgbClr val="EEF2FA"/>
                    </a:solidFill>
                  </a:tcPr>
                </a:tc>
              </a:tr>
            </a:tbl>
          </a:graphicData>
        </a:graphic>
      </p:graphicFrame>
      <p:sp>
        <p:nvSpPr>
          <p:cNvPr id="139" name="TextBox 138"/>
          <p:cNvSpPr txBox="1"/>
          <p:nvPr/>
        </p:nvSpPr>
        <p:spPr>
          <a:xfrm>
            <a:off x="11228832" y="23582376"/>
            <a:ext cx="7059168" cy="548640"/>
          </a:xfrm>
          <a:prstGeom prst="rect">
            <a:avLst/>
          </a:prstGeom>
          <a:noFill/>
        </p:spPr>
        <p:txBody>
          <a:bodyPr wrap="square"/>
          <a:lstStyle/>
          <a:p>
            <a:pPr algn="l">
              <a:spcBef>
                <a:spcPts val="0"/>
              </a:spcBef>
              <a:spcAft>
                <a:spcPts val="0"/>
              </a:spcAft>
              <a:defRPr sz="800" b="0" i="0">
                <a:solidFill>
                  <a:srgbClr val="0B1736"/>
                </a:solidFill>
                <a:latin typeface="Arial"/>
              </a:defRPr>
            </a:pPr>
            <a:r>
              <a:t>Table 1. SASTO-PA achieves 10.7pp more reduction than SASTO-U (34.3%) by permitting 1-voxel interior walls. EI Index = ΔV/V₀ / [(σ⁺/σ_allow)(1+C⁺/C_allow)]. Higher = better material efficiency per unit of structural utilization.</a:t>
            </a:r>
          </a:p>
        </p:txBody>
      </p:sp>
      <p:sp>
        <p:nvSpPr>
          <p:cNvPr id="140" name="TextBox 139"/>
          <p:cNvSpPr txBox="1"/>
          <p:nvPr/>
        </p:nvSpPr>
        <p:spPr>
          <a:xfrm>
            <a:off x="18416016"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1,114-Geometry Generalization</a:t>
            </a:r>
          </a:p>
        </p:txBody>
      </p:sp>
      <p:pic>
        <p:nvPicPr>
          <p:cNvPr id="141" name="Picture 140" descr="fig10_histogram.png"/>
          <p:cNvPicPr>
            <a:picLocks noChangeAspect="1"/>
          </p:cNvPicPr>
          <p:nvPr/>
        </p:nvPicPr>
        <p:blipFill>
          <a:blip r:embed="rId12"/>
          <a:stretch>
            <a:fillRect/>
          </a:stretch>
        </p:blipFill>
        <p:spPr>
          <a:xfrm>
            <a:off x="19781949" y="19321272"/>
            <a:ext cx="4327301" cy="2194560"/>
          </a:xfrm>
          <a:prstGeom prst="rect">
            <a:avLst/>
          </a:prstGeom>
        </p:spPr>
      </p:pic>
      <p:sp>
        <p:nvSpPr>
          <p:cNvPr id="142" name="TextBox 141"/>
          <p:cNvSpPr txBox="1"/>
          <p:nvPr/>
        </p:nvSpPr>
        <p:spPr>
          <a:xfrm>
            <a:off x="18416016" y="2155240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10. Volume reduction histogram | n=1,114 | μ=23.5%±7.8%</a:t>
            </a:r>
          </a:p>
        </p:txBody>
      </p:sp>
      <p:sp>
        <p:nvSpPr>
          <p:cNvPr id="143" name="TextBox 142"/>
          <p:cNvSpPr txBox="1"/>
          <p:nvPr/>
        </p:nvSpPr>
        <p:spPr>
          <a:xfrm>
            <a:off x="18416016" y="21753576"/>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Across all 1,114 held-out test geometries, SASTO-PA achieves mean 23.5%±7.8% (std) material reduction. Maximum 45.0% on individual designs. Part-aware rule yields 10.7pp more than uniform.</a:t>
            </a:r>
          </a:p>
        </p:txBody>
      </p:sp>
      <p:pic>
        <p:nvPicPr>
          <p:cNvPr id="144" name="Picture 143" descr="fig11_per_part.png"/>
          <p:cNvPicPr>
            <a:picLocks noChangeAspect="1"/>
          </p:cNvPicPr>
          <p:nvPr/>
        </p:nvPicPr>
        <p:blipFill>
          <a:blip r:embed="rId13"/>
          <a:stretch>
            <a:fillRect/>
          </a:stretch>
        </p:blipFill>
        <p:spPr>
          <a:xfrm>
            <a:off x="19742388" y="22247352"/>
            <a:ext cx="4406422" cy="1920240"/>
          </a:xfrm>
          <a:prstGeom prst="rect">
            <a:avLst/>
          </a:prstGeom>
        </p:spPr>
      </p:pic>
      <p:sp>
        <p:nvSpPr>
          <p:cNvPr id="145" name="TextBox 144"/>
          <p:cNvSpPr txBox="1"/>
          <p:nvPr/>
        </p:nvSpPr>
        <p:spPr>
          <a:xfrm>
            <a:off x="18416016" y="2420416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11. Per-part retention: load-bearing &gt;91%, interior = primary target</a:t>
            </a:r>
          </a:p>
        </p:txBody>
      </p:sp>
      <p:sp>
        <p:nvSpPr>
          <p:cNvPr id="146" name="TextBox 145"/>
          <p:cNvSpPr txBox="1"/>
          <p:nvPr/>
        </p:nvSpPr>
        <p:spPr>
          <a:xfrm>
            <a:off x="18416016" y="24405336"/>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Exterior walls and roof retain &gt;91% of material (load-bearing). Interior walls are the primary optimization target, consistent with their non-structural classification under ASCE 7-22.</a:t>
            </a:r>
          </a:p>
        </p:txBody>
      </p:sp>
      <p:sp>
        <p:nvSpPr>
          <p:cNvPr id="147" name="TextBox 146"/>
          <p:cNvSpPr txBox="1"/>
          <p:nvPr/>
        </p:nvSpPr>
        <p:spPr>
          <a:xfrm>
            <a:off x="25603200" y="19101816"/>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Speedup vs. SIMP</a:t>
            </a:r>
          </a:p>
        </p:txBody>
      </p:sp>
      <p:pic>
        <p:nvPicPr>
          <p:cNvPr id="148" name="Picture 147" descr="fig12_speedup.png"/>
          <p:cNvPicPr>
            <a:picLocks noChangeAspect="1"/>
          </p:cNvPicPr>
          <p:nvPr/>
        </p:nvPicPr>
        <p:blipFill>
          <a:blip r:embed="rId14"/>
          <a:stretch>
            <a:fillRect/>
          </a:stretch>
        </p:blipFill>
        <p:spPr>
          <a:xfrm>
            <a:off x="26864118" y="19321272"/>
            <a:ext cx="4537330" cy="1828800"/>
          </a:xfrm>
          <a:prstGeom prst="rect">
            <a:avLst/>
          </a:prstGeom>
        </p:spPr>
      </p:pic>
      <p:sp>
        <p:nvSpPr>
          <p:cNvPr id="149" name="TextBox 148"/>
          <p:cNvSpPr txBox="1"/>
          <p:nvPr/>
        </p:nvSpPr>
        <p:spPr>
          <a:xfrm>
            <a:off x="25603200" y="21186648"/>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12. SIMP 64³: 94 s vs SASTO 128³: 50 s → 23–92× faster</a:t>
            </a:r>
          </a:p>
        </p:txBody>
      </p:sp>
      <p:sp>
        <p:nvSpPr>
          <p:cNvPr id="150" name="TextBox 149"/>
          <p:cNvSpPr txBox="1"/>
          <p:nvPr/>
        </p:nvSpPr>
        <p:spPr>
          <a:xfrm>
            <a:off x="25603200" y="21387816"/>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SASTO at 128³ (median 50s, consumer GPU) vs. SIMP at 64³ (94s) and 128³ (77 min). SIMP requires hundreds of FEA solves; SASTO uses only surrogate forward+backward passes.</a:t>
            </a:r>
          </a:p>
        </p:txBody>
      </p:sp>
      <p:sp>
        <p:nvSpPr>
          <p:cNvPr id="151" name="TextBox 150"/>
          <p:cNvSpPr txBox="1"/>
          <p:nvPr/>
        </p:nvSpPr>
        <p:spPr>
          <a:xfrm>
            <a:off x="25603200" y="21881592"/>
            <a:ext cx="7059168" cy="182880"/>
          </a:xfrm>
          <a:prstGeom prst="rect">
            <a:avLst/>
          </a:prstGeom>
          <a:noFill/>
        </p:spPr>
        <p:txBody>
          <a:bodyPr wrap="square"/>
          <a:lstStyle/>
          <a:p>
            <a:pPr algn="l">
              <a:spcBef>
                <a:spcPts val="0"/>
              </a:spcBef>
              <a:spcAft>
                <a:spcPts val="0"/>
              </a:spcAft>
              <a:defRPr sz="1100" b="1" i="0">
                <a:solidFill>
                  <a:srgbClr val="0B1736"/>
                </a:solidFill>
                <a:latin typeface="Arial"/>
              </a:defRPr>
            </a:pPr>
            <a:r>
              <a:t>Independent FEA Re-analysis (n=1,114)</a:t>
            </a:r>
          </a:p>
        </p:txBody>
      </p:sp>
      <p:pic>
        <p:nvPicPr>
          <p:cNvPr id="152" name="Picture 151" descr="fig13_fea_compliance.png"/>
          <p:cNvPicPr>
            <a:picLocks noChangeAspect="1"/>
          </p:cNvPicPr>
          <p:nvPr/>
        </p:nvPicPr>
        <p:blipFill>
          <a:blip r:embed="rId15"/>
          <a:stretch>
            <a:fillRect/>
          </a:stretch>
        </p:blipFill>
        <p:spPr>
          <a:xfrm>
            <a:off x="27059465" y="22101048"/>
            <a:ext cx="4146637" cy="2103120"/>
          </a:xfrm>
          <a:prstGeom prst="rect">
            <a:avLst/>
          </a:prstGeom>
        </p:spPr>
      </p:pic>
      <p:sp>
        <p:nvSpPr>
          <p:cNvPr id="153" name="Rounded Rectangle 152"/>
          <p:cNvSpPr/>
          <p:nvPr/>
        </p:nvSpPr>
        <p:spPr>
          <a:xfrm>
            <a:off x="25658064" y="22192488"/>
            <a:ext cx="1371600" cy="182880"/>
          </a:xfrm>
          <a:prstGeom prst="roundRect">
            <a:avLst>
              <a:gd name="adj" fmla="val 3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25658064" y="22192488"/>
            <a:ext cx="1371600" cy="182880"/>
          </a:xfrm>
          <a:prstGeom prst="rect">
            <a:avLst/>
          </a:prstGeom>
          <a:noFill/>
        </p:spPr>
        <p:txBody>
          <a:bodyPr wrap="square"/>
          <a:lstStyle/>
          <a:p>
            <a:pPr algn="ctr">
              <a:spcBef>
                <a:spcPts val="0"/>
              </a:spcBef>
              <a:spcAft>
                <a:spcPts val="0"/>
              </a:spcAft>
              <a:defRPr sz="900" b="1" i="0">
                <a:solidFill>
                  <a:srgbClr val="FFFFFF"/>
                </a:solidFill>
                <a:latin typeface="Arial"/>
              </a:defRPr>
            </a:pPr>
            <a:r>
              <a:t>0/1,114 violations</a:t>
            </a:r>
          </a:p>
        </p:txBody>
      </p:sp>
      <p:sp>
        <p:nvSpPr>
          <p:cNvPr id="155" name="Rounded Rectangle 154"/>
          <p:cNvSpPr/>
          <p:nvPr/>
        </p:nvSpPr>
        <p:spPr>
          <a:xfrm>
            <a:off x="25658064" y="22411944"/>
            <a:ext cx="1463040" cy="182880"/>
          </a:xfrm>
          <a:prstGeom prst="roundRect">
            <a:avLst>
              <a:gd name="adj" fmla="val 3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5658064" y="22411944"/>
            <a:ext cx="1463040" cy="182880"/>
          </a:xfrm>
          <a:prstGeom prst="rect">
            <a:avLst/>
          </a:prstGeom>
          <a:noFill/>
        </p:spPr>
        <p:txBody>
          <a:bodyPr wrap="square"/>
          <a:lstStyle/>
          <a:p>
            <a:pPr algn="ctr">
              <a:spcBef>
                <a:spcPts val="0"/>
              </a:spcBef>
              <a:spcAft>
                <a:spcPts val="0"/>
              </a:spcAft>
              <a:defRPr sz="900" b="1" i="0">
                <a:solidFill>
                  <a:srgbClr val="FFFFFF"/>
                </a:solidFill>
                <a:latin typeface="Arial"/>
              </a:defRPr>
            </a:pPr>
            <a:r>
              <a:t>P(violation) ≤ 0.09%</a:t>
            </a:r>
          </a:p>
        </p:txBody>
      </p:sp>
      <p:sp>
        <p:nvSpPr>
          <p:cNvPr id="157" name="TextBox 156"/>
          <p:cNvSpPr txBox="1"/>
          <p:nvPr/>
        </p:nvSpPr>
        <p:spPr>
          <a:xfrm>
            <a:off x="25603200" y="24240744"/>
            <a:ext cx="7059168"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13. All C_opt/C_base ≤ 1.15. Max observed: 1.004</a:t>
            </a:r>
          </a:p>
        </p:txBody>
      </p:sp>
      <p:sp>
        <p:nvSpPr>
          <p:cNvPr id="158" name="TextBox 157"/>
          <p:cNvSpPr txBox="1"/>
          <p:nvPr/>
        </p:nvSpPr>
        <p:spPr>
          <a:xfrm>
            <a:off x="25603200" y="24441912"/>
            <a:ext cx="7059168" cy="457200"/>
          </a:xfrm>
          <a:prstGeom prst="rect">
            <a:avLst/>
          </a:prstGeom>
          <a:noFill/>
        </p:spPr>
        <p:txBody>
          <a:bodyPr wrap="square"/>
          <a:lstStyle/>
          <a:p>
            <a:pPr algn="l">
              <a:spcBef>
                <a:spcPts val="0"/>
              </a:spcBef>
              <a:spcAft>
                <a:spcPts val="0"/>
              </a:spcAft>
              <a:defRPr sz="800" b="0" i="0">
                <a:solidFill>
                  <a:srgbClr val="0B1736"/>
                </a:solidFill>
                <a:latin typeface="Arial"/>
              </a:defRPr>
            </a:pPr>
            <a:r>
              <a:t>Same-method FEA reanalysis on all 1,114 optimized designs: zero violations of stress, displacement, or stiffness constraints. Max compliance ratio = 1.004 (vs. 1.15 limit). Confirms surrogate conservatism.</a:t>
            </a:r>
          </a:p>
        </p:txBody>
      </p:sp>
      <p:sp>
        <p:nvSpPr>
          <p:cNvPr id="159" name="Rounded Rectangle 158"/>
          <p:cNvSpPr/>
          <p:nvPr/>
        </p:nvSpPr>
        <p:spPr>
          <a:xfrm>
            <a:off x="11228832" y="31565087"/>
            <a:ext cx="21433536" cy="1097280"/>
          </a:xfrm>
          <a:prstGeom prst="roundRect">
            <a:avLst>
              <a:gd name="adj" fmla="val 30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1228832" y="31638239"/>
            <a:ext cx="5358384" cy="502920"/>
          </a:xfrm>
          <a:prstGeom prst="rect">
            <a:avLst/>
          </a:prstGeom>
          <a:noFill/>
        </p:spPr>
        <p:txBody>
          <a:bodyPr wrap="square"/>
          <a:lstStyle/>
          <a:p>
            <a:pPr algn="ctr">
              <a:spcBef>
                <a:spcPts val="0"/>
              </a:spcBef>
              <a:spcAft>
                <a:spcPts val="0"/>
              </a:spcAft>
              <a:defRPr sz="2800" b="1" i="0">
                <a:solidFill>
                  <a:srgbClr val="CFA535"/>
                </a:solidFill>
                <a:latin typeface="Arial Black"/>
              </a:defRPr>
            </a:pPr>
            <a:r>
              <a:t>23.5%</a:t>
            </a:r>
          </a:p>
        </p:txBody>
      </p:sp>
      <p:sp>
        <p:nvSpPr>
          <p:cNvPr id="161" name="TextBox 160"/>
          <p:cNvSpPr txBox="1"/>
          <p:nvPr/>
        </p:nvSpPr>
        <p:spPr>
          <a:xfrm>
            <a:off x="11228832" y="32223455"/>
            <a:ext cx="5358384" cy="365760"/>
          </a:xfrm>
          <a:prstGeom prst="rect">
            <a:avLst/>
          </a:prstGeom>
          <a:noFill/>
        </p:spPr>
        <p:txBody>
          <a:bodyPr wrap="square"/>
          <a:lstStyle/>
          <a:p>
            <a:pPr algn="ctr">
              <a:spcBef>
                <a:spcPts val="0"/>
              </a:spcBef>
              <a:spcAft>
                <a:spcPts val="0"/>
              </a:spcAft>
              <a:defRPr sz="900" b="0" i="0">
                <a:solidFill>
                  <a:srgbClr val="FFFFFF"/>
                </a:solidFill>
                <a:latin typeface="Arial"/>
              </a:defRPr>
            </a:pPr>
            <a:r>
              <a:t>Mean material</a:t>
            </a:r>
            <a:br/>
            <a:r>
              <a:t>reduction</a:t>
            </a:r>
          </a:p>
        </p:txBody>
      </p:sp>
      <p:sp>
        <p:nvSpPr>
          <p:cNvPr id="162" name="TextBox 161"/>
          <p:cNvSpPr txBox="1"/>
          <p:nvPr/>
        </p:nvSpPr>
        <p:spPr>
          <a:xfrm>
            <a:off x="16587216" y="31638239"/>
            <a:ext cx="5358384" cy="502920"/>
          </a:xfrm>
          <a:prstGeom prst="rect">
            <a:avLst/>
          </a:prstGeom>
          <a:noFill/>
        </p:spPr>
        <p:txBody>
          <a:bodyPr wrap="square"/>
          <a:lstStyle/>
          <a:p>
            <a:pPr algn="ctr">
              <a:spcBef>
                <a:spcPts val="0"/>
              </a:spcBef>
              <a:spcAft>
                <a:spcPts val="0"/>
              </a:spcAft>
              <a:defRPr sz="2800" b="1" i="0">
                <a:solidFill>
                  <a:srgbClr val="CFA535"/>
                </a:solidFill>
                <a:latin typeface="Arial Black"/>
              </a:defRPr>
            </a:pPr>
            <a:r>
              <a:t>23–92×</a:t>
            </a:r>
          </a:p>
        </p:txBody>
      </p:sp>
      <p:sp>
        <p:nvSpPr>
          <p:cNvPr id="163" name="TextBox 162"/>
          <p:cNvSpPr txBox="1"/>
          <p:nvPr/>
        </p:nvSpPr>
        <p:spPr>
          <a:xfrm>
            <a:off x="16587216" y="32223455"/>
            <a:ext cx="5358384" cy="365760"/>
          </a:xfrm>
          <a:prstGeom prst="rect">
            <a:avLst/>
          </a:prstGeom>
          <a:noFill/>
        </p:spPr>
        <p:txBody>
          <a:bodyPr wrap="square"/>
          <a:lstStyle/>
          <a:p>
            <a:pPr algn="ctr">
              <a:spcBef>
                <a:spcPts val="0"/>
              </a:spcBef>
              <a:spcAft>
                <a:spcPts val="0"/>
              </a:spcAft>
              <a:defRPr sz="900" b="0" i="0">
                <a:solidFill>
                  <a:srgbClr val="FFFFFF"/>
                </a:solidFill>
                <a:latin typeface="Arial"/>
              </a:defRPr>
            </a:pPr>
            <a:r>
              <a:t>Speedup</a:t>
            </a:r>
            <a:br/>
            <a:r>
              <a:t>vs. SIMP</a:t>
            </a:r>
          </a:p>
        </p:txBody>
      </p:sp>
      <p:sp>
        <p:nvSpPr>
          <p:cNvPr id="164" name="Rectangle 163"/>
          <p:cNvSpPr/>
          <p:nvPr/>
        </p:nvSpPr>
        <p:spPr>
          <a:xfrm>
            <a:off x="16587216" y="31729679"/>
            <a:ext cx="18288"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21945600" y="31638239"/>
            <a:ext cx="5358384" cy="502920"/>
          </a:xfrm>
          <a:prstGeom prst="rect">
            <a:avLst/>
          </a:prstGeom>
          <a:noFill/>
        </p:spPr>
        <p:txBody>
          <a:bodyPr wrap="square"/>
          <a:lstStyle/>
          <a:p>
            <a:pPr algn="ctr">
              <a:spcBef>
                <a:spcPts val="0"/>
              </a:spcBef>
              <a:spcAft>
                <a:spcPts val="0"/>
              </a:spcAft>
              <a:defRPr sz="2800" b="1" i="0">
                <a:solidFill>
                  <a:srgbClr val="CFA535"/>
                </a:solidFill>
                <a:latin typeface="Arial Black"/>
              </a:defRPr>
            </a:pPr>
            <a:r>
              <a:t>0 / 1,114</a:t>
            </a:r>
          </a:p>
        </p:txBody>
      </p:sp>
      <p:sp>
        <p:nvSpPr>
          <p:cNvPr id="166" name="TextBox 165"/>
          <p:cNvSpPr txBox="1"/>
          <p:nvPr/>
        </p:nvSpPr>
        <p:spPr>
          <a:xfrm>
            <a:off x="21945600" y="32223455"/>
            <a:ext cx="5358384" cy="365760"/>
          </a:xfrm>
          <a:prstGeom prst="rect">
            <a:avLst/>
          </a:prstGeom>
          <a:noFill/>
        </p:spPr>
        <p:txBody>
          <a:bodyPr wrap="square"/>
          <a:lstStyle/>
          <a:p>
            <a:pPr algn="ctr">
              <a:spcBef>
                <a:spcPts val="0"/>
              </a:spcBef>
              <a:spcAft>
                <a:spcPts val="0"/>
              </a:spcAft>
              <a:defRPr sz="900" b="0" i="0">
                <a:solidFill>
                  <a:srgbClr val="FFFFFF"/>
                </a:solidFill>
                <a:latin typeface="Arial"/>
              </a:defRPr>
            </a:pPr>
            <a:r>
              <a:t>FEA constraint</a:t>
            </a:r>
            <a:br/>
            <a:r>
              <a:t>violations</a:t>
            </a:r>
          </a:p>
        </p:txBody>
      </p:sp>
      <p:sp>
        <p:nvSpPr>
          <p:cNvPr id="167" name="Rectangle 166"/>
          <p:cNvSpPr/>
          <p:nvPr/>
        </p:nvSpPr>
        <p:spPr>
          <a:xfrm>
            <a:off x="21945600" y="31729679"/>
            <a:ext cx="18288"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27303984" y="31638239"/>
            <a:ext cx="5358384" cy="502920"/>
          </a:xfrm>
          <a:prstGeom prst="rect">
            <a:avLst/>
          </a:prstGeom>
          <a:noFill/>
        </p:spPr>
        <p:txBody>
          <a:bodyPr wrap="square"/>
          <a:lstStyle/>
          <a:p>
            <a:pPr algn="ctr">
              <a:spcBef>
                <a:spcPts val="0"/>
              </a:spcBef>
              <a:spcAft>
                <a:spcPts val="0"/>
              </a:spcAft>
              <a:defRPr sz="2800" b="1" i="0">
                <a:solidFill>
                  <a:srgbClr val="CFA535"/>
                </a:solidFill>
                <a:latin typeface="Arial Black"/>
              </a:defRPr>
            </a:pPr>
            <a:r>
              <a:t>50 sec</a:t>
            </a:r>
          </a:p>
        </p:txBody>
      </p:sp>
      <p:sp>
        <p:nvSpPr>
          <p:cNvPr id="169" name="TextBox 168"/>
          <p:cNvSpPr txBox="1"/>
          <p:nvPr/>
        </p:nvSpPr>
        <p:spPr>
          <a:xfrm>
            <a:off x="27303984" y="32223455"/>
            <a:ext cx="5358384" cy="365760"/>
          </a:xfrm>
          <a:prstGeom prst="rect">
            <a:avLst/>
          </a:prstGeom>
          <a:noFill/>
        </p:spPr>
        <p:txBody>
          <a:bodyPr wrap="square"/>
          <a:lstStyle/>
          <a:p>
            <a:pPr algn="ctr">
              <a:spcBef>
                <a:spcPts val="0"/>
              </a:spcBef>
              <a:spcAft>
                <a:spcPts val="0"/>
              </a:spcAft>
              <a:defRPr sz="900" b="0" i="0">
                <a:solidFill>
                  <a:srgbClr val="FFFFFF"/>
                </a:solidFill>
                <a:latin typeface="Arial"/>
              </a:defRPr>
            </a:pPr>
            <a:r>
              <a:t>Median</a:t>
            </a:r>
            <a:br/>
            <a:r>
              <a:t>runtime</a:t>
            </a:r>
          </a:p>
        </p:txBody>
      </p:sp>
      <p:sp>
        <p:nvSpPr>
          <p:cNvPr id="170" name="Rectangle 169"/>
          <p:cNvSpPr/>
          <p:nvPr/>
        </p:nvSpPr>
        <p:spPr>
          <a:xfrm>
            <a:off x="27303984" y="31729679"/>
            <a:ext cx="18288"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ounded Rectangle 170"/>
          <p:cNvSpPr/>
          <p:nvPr/>
        </p:nvSpPr>
        <p:spPr>
          <a:xfrm>
            <a:off x="33082992" y="3063240"/>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33082992" y="3063240"/>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STATISTICAL ANALYSIS</a:t>
            </a:r>
          </a:p>
        </p:txBody>
      </p:sp>
      <p:sp>
        <p:nvSpPr>
          <p:cNvPr id="173" name="Rounded Rectangle 172"/>
          <p:cNvSpPr/>
          <p:nvPr/>
        </p:nvSpPr>
        <p:spPr>
          <a:xfrm>
            <a:off x="33082992" y="3474720"/>
            <a:ext cx="10643616" cy="1261872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33174432" y="3566160"/>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Surrogate Model Performance</a:t>
            </a:r>
          </a:p>
        </p:txBody>
      </p:sp>
      <p:graphicFrame>
        <p:nvGraphicFramePr>
          <p:cNvPr id="175" name="Table 174"/>
          <p:cNvGraphicFramePr>
            <a:graphicFrameLocks noGrp="1"/>
          </p:cNvGraphicFramePr>
          <p:nvPr/>
        </p:nvGraphicFramePr>
        <p:xfrm>
          <a:off x="33174432" y="3767328"/>
          <a:ext cx="10460733" cy="804672"/>
        </p:xfrm>
        <a:graphic>
          <a:graphicData uri="http://schemas.openxmlformats.org/drawingml/2006/table">
            <a:tbl>
              <a:tblPr firstRow="1" bandRow="1">
                <a:tableStyleId>{5C22544A-7EE6-4342-B048-85BDC9FD1C3A}</a:tableStyleId>
              </a:tblPr>
              <a:tblGrid>
                <a:gridCol w="3661257"/>
                <a:gridCol w="2301361"/>
                <a:gridCol w="2301361"/>
                <a:gridCol w="2196754"/>
              </a:tblGrid>
              <a:tr h="201168">
                <a:tc>
                  <a:txBody>
                    <a:bodyPr/>
                    <a:lstStyle/>
                    <a:p>
                      <a:pPr algn="l">
                        <a:defRPr sz="1000" b="1">
                          <a:solidFill>
                            <a:srgbClr val="FFFFFF"/>
                          </a:solidFill>
                          <a:latin typeface="Arial"/>
                        </a:defRPr>
                      </a:pPr>
                      <a:r>
                        <a:t>Target</a:t>
                      </a:r>
                    </a:p>
                  </a:txBody>
                  <a:tcPr>
                    <a:solidFill>
                      <a:srgbClr val="0A3D9A"/>
                    </a:solidFill>
                  </a:tcPr>
                </a:tc>
                <a:tc>
                  <a:txBody>
                    <a:bodyPr/>
                    <a:lstStyle/>
                    <a:p>
                      <a:pPr algn="l">
                        <a:defRPr sz="1000" b="1">
                          <a:solidFill>
                            <a:srgbClr val="FFFFFF"/>
                          </a:solidFill>
                          <a:latin typeface="Arial"/>
                        </a:defRPr>
                      </a:pPr>
                      <a:r>
                        <a:t>Spearman ρ</a:t>
                      </a:r>
                    </a:p>
                  </a:txBody>
                  <a:tcPr>
                    <a:solidFill>
                      <a:srgbClr val="0A3D9A"/>
                    </a:solidFill>
                  </a:tcPr>
                </a:tc>
                <a:tc>
                  <a:txBody>
                    <a:bodyPr/>
                    <a:lstStyle/>
                    <a:p>
                      <a:pPr algn="l">
                        <a:defRPr sz="1000" b="1">
                          <a:solidFill>
                            <a:srgbClr val="FFFFFF"/>
                          </a:solidFill>
                          <a:latin typeface="Arial"/>
                        </a:defRPr>
                      </a:pPr>
                      <a:r>
                        <a:t>R²_log</a:t>
                      </a:r>
                    </a:p>
                  </a:txBody>
                  <a:tcPr>
                    <a:solidFill>
                      <a:srgbClr val="0A3D9A"/>
                    </a:solidFill>
                  </a:tcPr>
                </a:tc>
                <a:tc>
                  <a:txBody>
                    <a:bodyPr/>
                    <a:lstStyle/>
                    <a:p>
                      <a:pPr algn="l">
                        <a:defRPr sz="1000" b="1">
                          <a:solidFill>
                            <a:srgbClr val="FFFFFF"/>
                          </a:solidFill>
                          <a:latin typeface="Arial"/>
                        </a:defRPr>
                      </a:pPr>
                      <a:r>
                        <a:t>MAPE%</a:t>
                      </a:r>
                    </a:p>
                  </a:txBody>
                  <a:tcPr>
                    <a:solidFill>
                      <a:srgbClr val="0A3D9A"/>
                    </a:solidFill>
                  </a:tcPr>
                </a:tc>
              </a:tr>
              <a:tr h="201168">
                <a:tc>
                  <a:txBody>
                    <a:bodyPr/>
                    <a:lstStyle/>
                    <a:p>
                      <a:pPr algn="l">
                        <a:defRPr sz="1000">
                          <a:solidFill>
                            <a:srgbClr val="0B1736"/>
                          </a:solidFill>
                          <a:latin typeface="Arial"/>
                        </a:defRPr>
                      </a:pPr>
                      <a:r>
                        <a:t>Von Mises stress</a:t>
                      </a:r>
                    </a:p>
                  </a:txBody>
                  <a:tcPr>
                    <a:solidFill>
                      <a:srgbClr val="F7F9FC"/>
                    </a:solidFill>
                  </a:tcPr>
                </a:tc>
                <a:tc>
                  <a:txBody>
                    <a:bodyPr/>
                    <a:lstStyle/>
                    <a:p>
                      <a:pPr algn="l">
                        <a:defRPr sz="1000">
                          <a:solidFill>
                            <a:srgbClr val="0B1736"/>
                          </a:solidFill>
                          <a:latin typeface="Arial"/>
                        </a:defRPr>
                      </a:pPr>
                      <a:r>
                        <a:t>0.737</a:t>
                      </a:r>
                    </a:p>
                  </a:txBody>
                  <a:tcPr>
                    <a:solidFill>
                      <a:srgbClr val="F7F9FC"/>
                    </a:solidFill>
                  </a:tcPr>
                </a:tc>
                <a:tc>
                  <a:txBody>
                    <a:bodyPr/>
                    <a:lstStyle/>
                    <a:p>
                      <a:pPr algn="l">
                        <a:defRPr sz="1000">
                          <a:solidFill>
                            <a:srgbClr val="0B1736"/>
                          </a:solidFill>
                          <a:latin typeface="Arial"/>
                        </a:defRPr>
                      </a:pPr>
                      <a:r>
                        <a:t>0.419</a:t>
                      </a:r>
                    </a:p>
                  </a:txBody>
                  <a:tcPr>
                    <a:solidFill>
                      <a:srgbClr val="F7F9FC"/>
                    </a:solidFill>
                  </a:tcPr>
                </a:tc>
                <a:tc>
                  <a:txBody>
                    <a:bodyPr/>
                    <a:lstStyle/>
                    <a:p>
                      <a:pPr algn="l">
                        <a:defRPr sz="1000">
                          <a:solidFill>
                            <a:srgbClr val="0B1736"/>
                          </a:solidFill>
                          <a:latin typeface="Arial"/>
                        </a:defRPr>
                      </a:pPr>
                      <a:r>
                        <a:t>37.4</a:t>
                      </a:r>
                    </a:p>
                  </a:txBody>
                  <a:tcPr>
                    <a:solidFill>
                      <a:srgbClr val="F7F9FC"/>
                    </a:solidFill>
                  </a:tcPr>
                </a:tc>
              </a:tr>
              <a:tr h="201168">
                <a:tc>
                  <a:txBody>
                    <a:bodyPr/>
                    <a:lstStyle/>
                    <a:p>
                      <a:pPr algn="l">
                        <a:defRPr sz="1000">
                          <a:solidFill>
                            <a:srgbClr val="0B1736"/>
                          </a:solidFill>
                          <a:latin typeface="Arial"/>
                        </a:defRPr>
                      </a:pPr>
                      <a:r>
                        <a:t>Displacement</a:t>
                      </a:r>
                    </a:p>
                  </a:txBody>
                  <a:tcPr>
                    <a:solidFill>
                      <a:srgbClr val="EEF2FA"/>
                    </a:solidFill>
                  </a:tcPr>
                </a:tc>
                <a:tc>
                  <a:txBody>
                    <a:bodyPr/>
                    <a:lstStyle/>
                    <a:p>
                      <a:pPr algn="l">
                        <a:defRPr sz="1000">
                          <a:solidFill>
                            <a:srgbClr val="0B1736"/>
                          </a:solidFill>
                          <a:latin typeface="Arial"/>
                        </a:defRPr>
                      </a:pPr>
                      <a:r>
                        <a:t>0.970 ★</a:t>
                      </a:r>
                    </a:p>
                  </a:txBody>
                  <a:tcPr>
                    <a:solidFill>
                      <a:srgbClr val="EEF2FA"/>
                    </a:solidFill>
                  </a:tcPr>
                </a:tc>
                <a:tc>
                  <a:txBody>
                    <a:bodyPr/>
                    <a:lstStyle/>
                    <a:p>
                      <a:pPr algn="l">
                        <a:defRPr sz="1000">
                          <a:solidFill>
                            <a:srgbClr val="0B1736"/>
                          </a:solidFill>
                          <a:latin typeface="Arial"/>
                        </a:defRPr>
                      </a:pPr>
                      <a:r>
                        <a:t>0.842</a:t>
                      </a:r>
                    </a:p>
                  </a:txBody>
                  <a:tcPr>
                    <a:solidFill>
                      <a:srgbClr val="EEF2FA"/>
                    </a:solidFill>
                  </a:tcPr>
                </a:tc>
                <a:tc>
                  <a:txBody>
                    <a:bodyPr/>
                    <a:lstStyle/>
                    <a:p>
                      <a:pPr algn="l">
                        <a:defRPr sz="1000">
                          <a:solidFill>
                            <a:srgbClr val="0B1736"/>
                          </a:solidFill>
                          <a:latin typeface="Arial"/>
                        </a:defRPr>
                      </a:pPr>
                      <a:r>
                        <a:t>10.9</a:t>
                      </a:r>
                    </a:p>
                  </a:txBody>
                  <a:tcPr>
                    <a:solidFill>
                      <a:srgbClr val="EEF2FA"/>
                    </a:solidFill>
                  </a:tcPr>
                </a:tc>
              </a:tr>
              <a:tr h="201168">
                <a:tc>
                  <a:txBody>
                    <a:bodyPr/>
                    <a:lstStyle/>
                    <a:p>
                      <a:pPr algn="l">
                        <a:defRPr sz="1000">
                          <a:solidFill>
                            <a:srgbClr val="0B1736"/>
                          </a:solidFill>
                          <a:latin typeface="Arial"/>
                        </a:defRPr>
                      </a:pPr>
                      <a:r>
                        <a:t>Compliance</a:t>
                      </a:r>
                    </a:p>
                  </a:txBody>
                  <a:tcPr>
                    <a:solidFill>
                      <a:srgbClr val="F7F9FC"/>
                    </a:solidFill>
                  </a:tcPr>
                </a:tc>
                <a:tc>
                  <a:txBody>
                    <a:bodyPr/>
                    <a:lstStyle/>
                    <a:p>
                      <a:pPr algn="l">
                        <a:defRPr sz="1000">
                          <a:solidFill>
                            <a:srgbClr val="0B1736"/>
                          </a:solidFill>
                          <a:latin typeface="Arial"/>
                        </a:defRPr>
                      </a:pPr>
                      <a:r>
                        <a:t>0.948 ★</a:t>
                      </a:r>
                    </a:p>
                  </a:txBody>
                  <a:tcPr>
                    <a:solidFill>
                      <a:srgbClr val="F7F9FC"/>
                    </a:solidFill>
                  </a:tcPr>
                </a:tc>
                <a:tc>
                  <a:txBody>
                    <a:bodyPr/>
                    <a:lstStyle/>
                    <a:p>
                      <a:pPr algn="l">
                        <a:defRPr sz="1000">
                          <a:solidFill>
                            <a:srgbClr val="0B1736"/>
                          </a:solidFill>
                          <a:latin typeface="Arial"/>
                        </a:defRPr>
                      </a:pPr>
                      <a:r>
                        <a:t>0.814</a:t>
                      </a:r>
                    </a:p>
                  </a:txBody>
                  <a:tcPr>
                    <a:solidFill>
                      <a:srgbClr val="F7F9FC"/>
                    </a:solidFill>
                  </a:tcPr>
                </a:tc>
                <a:tc>
                  <a:txBody>
                    <a:bodyPr/>
                    <a:lstStyle/>
                    <a:p>
                      <a:pPr algn="l">
                        <a:defRPr sz="1000">
                          <a:solidFill>
                            <a:srgbClr val="0B1736"/>
                          </a:solidFill>
                          <a:latin typeface="Arial"/>
                        </a:defRPr>
                      </a:pPr>
                      <a:r>
                        <a:t>18.5</a:t>
                      </a:r>
                    </a:p>
                  </a:txBody>
                  <a:tcPr>
                    <a:solidFill>
                      <a:srgbClr val="F7F9FC"/>
                    </a:solidFill>
                  </a:tcPr>
                </a:tc>
              </a:tr>
            </a:tbl>
          </a:graphicData>
        </a:graphic>
      </p:graphicFrame>
      <p:sp>
        <p:nvSpPr>
          <p:cNvPr id="176" name="Rounded Rectangle 175"/>
          <p:cNvSpPr/>
          <p:nvPr/>
        </p:nvSpPr>
        <p:spPr>
          <a:xfrm>
            <a:off x="33174432" y="4608576"/>
            <a:ext cx="10460736" cy="310896"/>
          </a:xfrm>
          <a:prstGeom prst="roundRect">
            <a:avLst>
              <a:gd name="adj" fmla="val 20000"/>
            </a:avLst>
          </a:prstGeom>
          <a:solidFill>
            <a:srgbClr val="E8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33229296" y="4636008"/>
            <a:ext cx="10351008" cy="256032"/>
          </a:xfrm>
          <a:prstGeom prst="rect">
            <a:avLst/>
          </a:prstGeom>
          <a:noFill/>
        </p:spPr>
        <p:txBody>
          <a:bodyPr wrap="square"/>
          <a:lstStyle/>
          <a:p>
            <a:pPr algn="ctr">
              <a:spcBef>
                <a:spcPts val="0"/>
              </a:spcBef>
              <a:spcAft>
                <a:spcPts val="0"/>
              </a:spcAft>
              <a:defRPr sz="800" b="0" i="0">
                <a:solidFill>
                  <a:srgbClr val="0B1736"/>
                </a:solidFill>
                <a:latin typeface="Arial"/>
              </a:defRPr>
            </a:pPr>
            <a:r>
              <a:t>Ranking accuracy (Spearman ρ), not pointwise prediction, drives optimization safety. Compliance ρ=0.948 → correct voxel ordering for removal. Stress ρ=0.737 is adequate because the penalty acts as a soft gate, not a hard classifier.</a:t>
            </a:r>
          </a:p>
        </p:txBody>
      </p:sp>
      <p:sp>
        <p:nvSpPr>
          <p:cNvPr id="178" name="TextBox 177"/>
          <p:cNvSpPr txBox="1"/>
          <p:nvPr/>
        </p:nvSpPr>
        <p:spPr>
          <a:xfrm>
            <a:off x="33174432" y="4956048"/>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Optimization Convergence</a:t>
            </a:r>
          </a:p>
        </p:txBody>
      </p:sp>
      <p:pic>
        <p:nvPicPr>
          <p:cNvPr id="179" name="Picture 178" descr="fig14_convergence.png"/>
          <p:cNvPicPr>
            <a:picLocks noChangeAspect="1"/>
          </p:cNvPicPr>
          <p:nvPr/>
        </p:nvPicPr>
        <p:blipFill>
          <a:blip r:embed="rId16"/>
          <a:stretch>
            <a:fillRect/>
          </a:stretch>
        </p:blipFill>
        <p:spPr>
          <a:xfrm>
            <a:off x="35299764" y="5157216"/>
            <a:ext cx="6210071" cy="2103120"/>
          </a:xfrm>
          <a:prstGeom prst="rect">
            <a:avLst/>
          </a:prstGeom>
        </p:spPr>
      </p:pic>
      <p:sp>
        <p:nvSpPr>
          <p:cNvPr id="180" name="TextBox 179"/>
          <p:cNvSpPr txBox="1"/>
          <p:nvPr/>
        </p:nvSpPr>
        <p:spPr>
          <a:xfrm>
            <a:off x="33174432" y="7296912"/>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14. SASTO-PA (teal) vs. SASTO-U (gold). Part-aware enables deeper removal.</a:t>
            </a:r>
          </a:p>
        </p:txBody>
      </p:sp>
      <p:sp>
        <p:nvSpPr>
          <p:cNvPr id="181" name="TextBox 180"/>
          <p:cNvSpPr txBox="1"/>
          <p:nvPr/>
        </p:nvSpPr>
        <p:spPr>
          <a:xfrm>
            <a:off x="33174432" y="7498079"/>
            <a:ext cx="10460736" cy="365760"/>
          </a:xfrm>
          <a:prstGeom prst="rect">
            <a:avLst/>
          </a:prstGeom>
          <a:noFill/>
        </p:spPr>
        <p:txBody>
          <a:bodyPr wrap="square"/>
          <a:lstStyle/>
          <a:p>
            <a:pPr algn="l">
              <a:spcBef>
                <a:spcPts val="0"/>
              </a:spcBef>
              <a:spcAft>
                <a:spcPts val="0"/>
              </a:spcAft>
              <a:defRPr sz="800" b="0" i="0">
                <a:solidFill>
                  <a:srgbClr val="0B1736"/>
                </a:solidFill>
                <a:latin typeface="Arial"/>
              </a:defRPr>
            </a:pPr>
            <a:r>
              <a:t>SASTO-PA converges to 45.0% reduction vs. SASTO-U at 34.3% on the reference geometry. Phase 1 removes &gt;99% of material in large batches; Phases 2–3 squeeze the remaining feasible voxels near the constraint boundary.</a:t>
            </a:r>
          </a:p>
        </p:txBody>
      </p:sp>
      <p:sp>
        <p:nvSpPr>
          <p:cNvPr id="182" name="TextBox 181"/>
          <p:cNvSpPr txBox="1"/>
          <p:nvPr/>
        </p:nvSpPr>
        <p:spPr>
          <a:xfrm>
            <a:off x="33174432" y="7900415"/>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k-Factor Sensitivity (Pareto Frontier)</a:t>
            </a:r>
          </a:p>
        </p:txBody>
      </p:sp>
      <p:pic>
        <p:nvPicPr>
          <p:cNvPr id="183" name="Picture 182" descr="fig15_k_factor.png"/>
          <p:cNvPicPr>
            <a:picLocks noChangeAspect="1"/>
          </p:cNvPicPr>
          <p:nvPr/>
        </p:nvPicPr>
        <p:blipFill>
          <a:blip r:embed="rId17"/>
          <a:stretch>
            <a:fillRect/>
          </a:stretch>
        </p:blipFill>
        <p:spPr>
          <a:xfrm>
            <a:off x="35223994" y="8101583"/>
            <a:ext cx="6361611" cy="1828800"/>
          </a:xfrm>
          <a:prstGeom prst="rect">
            <a:avLst/>
          </a:prstGeom>
        </p:spPr>
      </p:pic>
      <p:sp>
        <p:nvSpPr>
          <p:cNvPr id="184" name="Rounded Rectangle 183"/>
          <p:cNvSpPr/>
          <p:nvPr/>
        </p:nvSpPr>
        <p:spPr>
          <a:xfrm>
            <a:off x="37673280" y="9198863"/>
            <a:ext cx="1463040" cy="182880"/>
          </a:xfrm>
          <a:prstGeom prst="roundRect">
            <a:avLst>
              <a:gd name="adj" fmla="val 30000"/>
            </a:avLst>
          </a:prstGeom>
          <a:solidFill>
            <a:srgbClr val="CFA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37673280" y="9198863"/>
            <a:ext cx="1463040" cy="182880"/>
          </a:xfrm>
          <a:prstGeom prst="rect">
            <a:avLst/>
          </a:prstGeom>
          <a:noFill/>
        </p:spPr>
        <p:txBody>
          <a:bodyPr wrap="square"/>
          <a:lstStyle/>
          <a:p>
            <a:pPr algn="ctr">
              <a:spcBef>
                <a:spcPts val="0"/>
              </a:spcBef>
              <a:spcAft>
                <a:spcPts val="0"/>
              </a:spcAft>
              <a:defRPr sz="900" b="1" i="0">
                <a:solidFill>
                  <a:srgbClr val="FFFFFF"/>
                </a:solidFill>
                <a:latin typeface="Arial"/>
              </a:defRPr>
            </a:pPr>
            <a:r>
              <a:t>k=1.0 Operating Point</a:t>
            </a:r>
          </a:p>
        </p:txBody>
      </p:sp>
      <p:sp>
        <p:nvSpPr>
          <p:cNvPr id="186" name="TextBox 185"/>
          <p:cNvSpPr txBox="1"/>
          <p:nvPr/>
        </p:nvSpPr>
        <p:spPr>
          <a:xfrm>
            <a:off x="33174432" y="9966959"/>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15. Non-monotonic Pareto: both gate stringency and budget depend on k.</a:t>
            </a:r>
          </a:p>
        </p:txBody>
      </p:sp>
      <p:sp>
        <p:nvSpPr>
          <p:cNvPr id="187" name="TextBox 186"/>
          <p:cNvSpPr txBox="1"/>
          <p:nvPr/>
        </p:nvSpPr>
        <p:spPr>
          <a:xfrm>
            <a:off x="33174432" y="10168128"/>
            <a:ext cx="10460736" cy="365760"/>
          </a:xfrm>
          <a:prstGeom prst="rect">
            <a:avLst/>
          </a:prstGeom>
          <a:noFill/>
        </p:spPr>
        <p:txBody>
          <a:bodyPr wrap="square"/>
          <a:lstStyle/>
          <a:p>
            <a:pPr algn="l">
              <a:spcBef>
                <a:spcPts val="0"/>
              </a:spcBef>
              <a:spcAft>
                <a:spcPts val="0"/>
              </a:spcAft>
              <a:defRPr sz="800" b="0" i="0">
                <a:solidFill>
                  <a:srgbClr val="0B1736"/>
                </a:solidFill>
                <a:latin typeface="Arial"/>
              </a:defRPr>
            </a:pPr>
            <a:r>
              <a:t>k&lt;0.5: under-conservative → risks violations. k&gt;2.0: over-conservative → less removal. k=1.0 achieves Pareto-optimal balance: maximum reduction with zero violations. Conformal calibration: k_conformal = 1.90 for 84.1% coverage (heavier-tailed than Gaussian).</a:t>
            </a:r>
          </a:p>
        </p:txBody>
      </p:sp>
      <p:sp>
        <p:nvSpPr>
          <p:cNvPr id="188" name="TextBox 187"/>
          <p:cNvSpPr txBox="1"/>
          <p:nvPr/>
        </p:nvSpPr>
        <p:spPr>
          <a:xfrm>
            <a:off x="33174432" y="10570463"/>
            <a:ext cx="10460736" cy="182880"/>
          </a:xfrm>
          <a:prstGeom prst="rect">
            <a:avLst/>
          </a:prstGeom>
          <a:noFill/>
        </p:spPr>
        <p:txBody>
          <a:bodyPr wrap="square"/>
          <a:lstStyle/>
          <a:p>
            <a:pPr algn="l">
              <a:spcBef>
                <a:spcPts val="0"/>
              </a:spcBef>
              <a:spcAft>
                <a:spcPts val="0"/>
              </a:spcAft>
              <a:defRPr sz="1200" b="1" i="0">
                <a:solidFill>
                  <a:srgbClr val="0B1736"/>
                </a:solidFill>
                <a:latin typeface="Arial"/>
              </a:defRPr>
            </a:pPr>
            <a:r>
              <a:t>Conformal Prediction &amp; UQ</a:t>
            </a:r>
          </a:p>
        </p:txBody>
      </p:sp>
      <p:pic>
        <p:nvPicPr>
          <p:cNvPr id="189" name="Picture 188" descr="fig16_uncertainty.png"/>
          <p:cNvPicPr>
            <a:picLocks noChangeAspect="1"/>
          </p:cNvPicPr>
          <p:nvPr/>
        </p:nvPicPr>
        <p:blipFill>
          <a:blip r:embed="rId18"/>
          <a:stretch>
            <a:fillRect/>
          </a:stretch>
        </p:blipFill>
        <p:spPr>
          <a:xfrm>
            <a:off x="35501168" y="10771632"/>
            <a:ext cx="5807262" cy="1645920"/>
          </a:xfrm>
          <a:prstGeom prst="rect">
            <a:avLst/>
          </a:prstGeom>
        </p:spPr>
      </p:pic>
      <p:sp>
        <p:nvSpPr>
          <p:cNvPr id="190" name="TextBox 189"/>
          <p:cNvSpPr txBox="1"/>
          <p:nvPr/>
        </p:nvSpPr>
        <p:spPr>
          <a:xfrm>
            <a:off x="33174432" y="12454128"/>
            <a:ext cx="10460736" cy="182880"/>
          </a:xfrm>
          <a:prstGeom prst="rect">
            <a:avLst/>
          </a:prstGeom>
          <a:noFill/>
        </p:spPr>
        <p:txBody>
          <a:bodyPr wrap="square"/>
          <a:lstStyle/>
          <a:p>
            <a:pPr algn="ctr">
              <a:spcBef>
                <a:spcPts val="0"/>
              </a:spcBef>
              <a:spcAft>
                <a:spcPts val="0"/>
              </a:spcAft>
              <a:defRPr sz="800" b="0" i="1">
                <a:solidFill>
                  <a:srgbClr val="0B1736"/>
                </a:solidFill>
                <a:latin typeface="Arial"/>
              </a:defRPr>
            </a:pPr>
            <a:r>
              <a:t>Fig. 16. Uncertainty bands widen during optimization. Γ_D ≈ 0.184 (sub-linear).</a:t>
            </a:r>
          </a:p>
        </p:txBody>
      </p:sp>
      <p:sp>
        <p:nvSpPr>
          <p:cNvPr id="191" name="TextBox 190"/>
          <p:cNvSpPr txBox="1"/>
          <p:nvPr/>
        </p:nvSpPr>
        <p:spPr>
          <a:xfrm>
            <a:off x="33174432" y="12655296"/>
            <a:ext cx="10460736" cy="548640"/>
          </a:xfrm>
          <a:prstGeom prst="rect">
            <a:avLst/>
          </a:prstGeom>
          <a:noFill/>
        </p:spPr>
        <p:txBody>
          <a:bodyPr wrap="square"/>
          <a:lstStyle/>
          <a:p>
            <a:pPr algn="l">
              <a:spcBef>
                <a:spcPts val="0"/>
              </a:spcBef>
              <a:spcAft>
                <a:spcPts val="0"/>
              </a:spcAft>
              <a:defRPr sz="800" b="0" i="0">
                <a:solidFill>
                  <a:srgbClr val="0B1736"/>
                </a:solidFill>
                <a:latin typeface="Arial"/>
              </a:defRPr>
            </a:pPr>
            <a:r>
              <a:t>Ensemble disagreement D(ϕ) = (1/T)·Σⱼ σⱼ/μⱼ tracks distribution shift as material is removed. Disagreement divergence rate Γ_D ≈ 0.184 signals sub-linear uncertainty growth. Distribution-free conformal certification on n=1,114 FEA-validated designs: P(violation) ≤ 0.09% (one-sided Clopper-Pearson at α=0.05). Ensemble residuals are heavier-tailed than Gaussian.</a:t>
            </a:r>
          </a:p>
        </p:txBody>
      </p:sp>
      <p:sp>
        <p:nvSpPr>
          <p:cNvPr id="192" name="Rounded Rectangle 191"/>
          <p:cNvSpPr/>
          <p:nvPr/>
        </p:nvSpPr>
        <p:spPr>
          <a:xfrm>
            <a:off x="33082992" y="16130016"/>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33082992" y="16130016"/>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CONCLUSIONS</a:t>
            </a:r>
          </a:p>
        </p:txBody>
      </p:sp>
      <p:sp>
        <p:nvSpPr>
          <p:cNvPr id="194" name="Rounded Rectangle 193"/>
          <p:cNvSpPr/>
          <p:nvPr/>
        </p:nvSpPr>
        <p:spPr>
          <a:xfrm>
            <a:off x="33082992" y="16541496"/>
            <a:ext cx="10643616" cy="502920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ounded Rectangle 194"/>
          <p:cNvSpPr/>
          <p:nvPr/>
        </p:nvSpPr>
        <p:spPr>
          <a:xfrm>
            <a:off x="33174432" y="16632936"/>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33174432" y="16632936"/>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1</a:t>
            </a:r>
          </a:p>
        </p:txBody>
      </p:sp>
      <p:sp>
        <p:nvSpPr>
          <p:cNvPr id="197" name="TextBox 196"/>
          <p:cNvSpPr txBox="1"/>
          <p:nvPr/>
        </p:nvSpPr>
        <p:spPr>
          <a:xfrm>
            <a:off x="33430464" y="16632936"/>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SASTO achieves 23.5%±7.8% mean material reduction across 1,114 held-out geometries, up to 45.0% on individual designs — the first surrogate-accelerated, topology-preserving optimizer at building scale.</a:t>
            </a:r>
          </a:p>
        </p:txBody>
      </p:sp>
      <p:sp>
        <p:nvSpPr>
          <p:cNvPr id="198" name="Rounded Rectangle 197"/>
          <p:cNvSpPr/>
          <p:nvPr/>
        </p:nvSpPr>
        <p:spPr>
          <a:xfrm>
            <a:off x="33174432" y="17437608"/>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33174432" y="17437608"/>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2</a:t>
            </a:r>
          </a:p>
        </p:txBody>
      </p:sp>
      <p:sp>
        <p:nvSpPr>
          <p:cNvPr id="200" name="TextBox 199"/>
          <p:cNvSpPr txBox="1"/>
          <p:nvPr/>
        </p:nvSpPr>
        <p:spPr>
          <a:xfrm>
            <a:off x="33430464" y="17437608"/>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Deep ensemble surrogate (5×8.76M params) provides 23–92× speedup vs. SIMP: median 50 s on consumer GPU vs. 19–77 min for SIMP. Predicts global scalars enabling fast backprop sensitivity.</a:t>
            </a:r>
          </a:p>
        </p:txBody>
      </p:sp>
      <p:sp>
        <p:nvSpPr>
          <p:cNvPr id="201" name="Rounded Rectangle 200"/>
          <p:cNvSpPr/>
          <p:nvPr/>
        </p:nvSpPr>
        <p:spPr>
          <a:xfrm>
            <a:off x="33174432" y="18242280"/>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33174432" y="18242280"/>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3</a:t>
            </a:r>
          </a:p>
        </p:txBody>
      </p:sp>
      <p:sp>
        <p:nvSpPr>
          <p:cNvPr id="203" name="TextBox 202"/>
          <p:cNvSpPr txBox="1"/>
          <p:nvPr/>
        </p:nvSpPr>
        <p:spPr>
          <a:xfrm>
            <a:off x="33430464" y="18242280"/>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6-connectivity criterion (new in building-scale TO) eliminates thousands of floating mesh fragments produced by standard 26-connectivity, guaranteeing watertight single-component STLs compatible with AM toolpath generation.</a:t>
            </a:r>
          </a:p>
        </p:txBody>
      </p:sp>
      <p:sp>
        <p:nvSpPr>
          <p:cNvPr id="204" name="Rounded Rectangle 203"/>
          <p:cNvSpPr/>
          <p:nvPr/>
        </p:nvSpPr>
        <p:spPr>
          <a:xfrm>
            <a:off x="33174432" y="19046952"/>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33174432" y="19046952"/>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4</a:t>
            </a:r>
          </a:p>
        </p:txBody>
      </p:sp>
      <p:sp>
        <p:nvSpPr>
          <p:cNvPr id="206" name="TextBox 205"/>
          <p:cNvSpPr txBox="1"/>
          <p:nvPr/>
        </p:nvSpPr>
        <p:spPr>
          <a:xfrm>
            <a:off x="33430464" y="19046952"/>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Part-aware thickness yields 10.7pp more reduction than uniform baseline by permitting 1-voxel (78 mm) interior walls while protecting 2-voxel (156 mm) load-bearing exterior members.</a:t>
            </a:r>
          </a:p>
        </p:txBody>
      </p:sp>
      <p:sp>
        <p:nvSpPr>
          <p:cNvPr id="207" name="Rounded Rectangle 206"/>
          <p:cNvSpPr/>
          <p:nvPr/>
        </p:nvSpPr>
        <p:spPr>
          <a:xfrm>
            <a:off x="33174432" y="19851623"/>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33174432" y="19851623"/>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5</a:t>
            </a:r>
          </a:p>
        </p:txBody>
      </p:sp>
      <p:sp>
        <p:nvSpPr>
          <p:cNvPr id="209" name="TextBox 208"/>
          <p:cNvSpPr txBox="1"/>
          <p:nvPr/>
        </p:nvSpPr>
        <p:spPr>
          <a:xfrm>
            <a:off x="33430464" y="19851623"/>
            <a:ext cx="10204704" cy="731520"/>
          </a:xfrm>
          <a:prstGeom prst="rect">
            <a:avLst/>
          </a:prstGeom>
          <a:noFill/>
        </p:spPr>
        <p:txBody>
          <a:bodyPr wrap="square"/>
          <a:lstStyle/>
          <a:p>
            <a:pPr algn="l">
              <a:spcBef>
                <a:spcPts val="0"/>
              </a:spcBef>
              <a:spcAft>
                <a:spcPts val="0"/>
              </a:spcAft>
              <a:defRPr sz="900" b="0" i="0">
                <a:solidFill>
                  <a:srgbClr val="0B1736"/>
                </a:solidFill>
                <a:latin typeface="Arial"/>
              </a:defRPr>
            </a:pPr>
            <a:r>
              <a:t>Independent FEA re-analysis: zero violations across all 1,114 designs (max C_opt/C_base = 1.004 vs. 1.15 limit). Conformal certification: P(violation) ≤ 0.09% at 95% confidence.</a:t>
            </a:r>
          </a:p>
        </p:txBody>
      </p:sp>
      <p:sp>
        <p:nvSpPr>
          <p:cNvPr id="210" name="Rounded Rectangle 209"/>
          <p:cNvSpPr/>
          <p:nvPr/>
        </p:nvSpPr>
        <p:spPr>
          <a:xfrm>
            <a:off x="33174432" y="21223224"/>
            <a:ext cx="10460736" cy="292608"/>
          </a:xfrm>
          <a:prstGeom prst="roundRect">
            <a:avLst>
              <a:gd name="adj" fmla="val 20000"/>
            </a:avLst>
          </a:prstGeom>
          <a:solidFill>
            <a:srgbClr val="E8EEF2"/>
          </a:solidFill>
          <a:ln w="12700">
            <a:solidFill>
              <a:srgbClr val="CFA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33229296" y="21250656"/>
            <a:ext cx="10351008" cy="237744"/>
          </a:xfrm>
          <a:prstGeom prst="rect">
            <a:avLst/>
          </a:prstGeom>
          <a:noFill/>
        </p:spPr>
        <p:txBody>
          <a:bodyPr wrap="square"/>
          <a:lstStyle/>
          <a:p>
            <a:pPr algn="ctr">
              <a:spcBef>
                <a:spcPts val="0"/>
              </a:spcBef>
              <a:spcAft>
                <a:spcPts val="0"/>
              </a:spcAft>
              <a:defRPr sz="800" b="1" i="0">
                <a:solidFill>
                  <a:srgbClr val="0B1736"/>
                </a:solidFill>
                <a:latin typeface="Arial"/>
              </a:defRPr>
            </a:pPr>
            <a:r>
              <a:t>Impact: 8% of global CO₂ = cement. 23.5% less concrete per house → millions of tons saved at scale if adopted by AM construction.</a:t>
            </a:r>
          </a:p>
        </p:txBody>
      </p:sp>
      <p:sp>
        <p:nvSpPr>
          <p:cNvPr id="212" name="Rounded Rectangle 211"/>
          <p:cNvSpPr/>
          <p:nvPr/>
        </p:nvSpPr>
        <p:spPr>
          <a:xfrm>
            <a:off x="33082992" y="21607272"/>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33082992" y="21607272"/>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FUTURE WORK</a:t>
            </a:r>
          </a:p>
        </p:txBody>
      </p:sp>
      <p:sp>
        <p:nvSpPr>
          <p:cNvPr id="214" name="Rounded Rectangle 213"/>
          <p:cNvSpPr/>
          <p:nvPr/>
        </p:nvSpPr>
        <p:spPr>
          <a:xfrm>
            <a:off x="33082992" y="22018752"/>
            <a:ext cx="10643616" cy="347472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ounded Rectangle 214"/>
          <p:cNvSpPr/>
          <p:nvPr/>
        </p:nvSpPr>
        <p:spPr>
          <a:xfrm>
            <a:off x="33174432" y="22110192"/>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33174432" y="22110192"/>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1</a:t>
            </a:r>
          </a:p>
        </p:txBody>
      </p:sp>
      <p:sp>
        <p:nvSpPr>
          <p:cNvPr id="217" name="TextBox 216"/>
          <p:cNvSpPr txBox="1"/>
          <p:nvPr/>
        </p:nvSpPr>
        <p:spPr>
          <a:xfrm>
            <a:off x="33430464" y="22110192"/>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FEA-IN-THE-LOOP ACTIVE LEARNING</a:t>
            </a:r>
          </a:p>
        </p:txBody>
      </p:sp>
      <p:sp>
        <p:nvSpPr>
          <p:cNvPr id="218" name="TextBox 217"/>
          <p:cNvSpPr txBox="1"/>
          <p:nvPr/>
        </p:nvSpPr>
        <p:spPr>
          <a:xfrm>
            <a:off x="33430464" y="22311360"/>
            <a:ext cx="10204704" cy="585216"/>
          </a:xfrm>
          <a:prstGeom prst="rect">
            <a:avLst/>
          </a:prstGeom>
          <a:noFill/>
        </p:spPr>
        <p:txBody>
          <a:bodyPr wrap="square"/>
          <a:lstStyle/>
          <a:p>
            <a:pPr algn="l">
              <a:spcBef>
                <a:spcPts val="0"/>
              </a:spcBef>
              <a:spcAft>
                <a:spcPts val="0"/>
              </a:spcAft>
              <a:defRPr sz="900" b="0" i="0">
                <a:solidFill>
                  <a:srgbClr val="0B1736"/>
                </a:solidFill>
                <a:latin typeface="Arial"/>
              </a:defRPr>
            </a:pPr>
            <a:r>
              <a:t>When ensemble Γ_D &gt; threshold τ, trigger ground-truth FEA mid-optimization → self-correcting safety net. Extends to multi-story and seismic load cases where displacement may become active.</a:t>
            </a:r>
          </a:p>
        </p:txBody>
      </p:sp>
      <p:sp>
        <p:nvSpPr>
          <p:cNvPr id="219" name="Rounded Rectangle 218"/>
          <p:cNvSpPr/>
          <p:nvPr/>
        </p:nvSpPr>
        <p:spPr>
          <a:xfrm>
            <a:off x="33174432" y="22951440"/>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33174432" y="22951440"/>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2</a:t>
            </a:r>
          </a:p>
        </p:txBody>
      </p:sp>
      <p:sp>
        <p:nvSpPr>
          <p:cNvPr id="221" name="TextBox 220"/>
          <p:cNvSpPr txBox="1"/>
          <p:nvPr/>
        </p:nvSpPr>
        <p:spPr>
          <a:xfrm>
            <a:off x="33430464" y="22951440"/>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NONLINEAR FEA SPOT CHECKS</a:t>
            </a:r>
          </a:p>
        </p:txBody>
      </p:sp>
      <p:sp>
        <p:nvSpPr>
          <p:cNvPr id="222" name="TextBox 221"/>
          <p:cNvSpPr txBox="1"/>
          <p:nvPr/>
        </p:nvSpPr>
        <p:spPr>
          <a:xfrm>
            <a:off x="33430464" y="23152608"/>
            <a:ext cx="10204704" cy="585216"/>
          </a:xfrm>
          <a:prstGeom prst="rect">
            <a:avLst/>
          </a:prstGeom>
          <a:noFill/>
        </p:spPr>
        <p:txBody>
          <a:bodyPr wrap="square"/>
          <a:lstStyle/>
          <a:p>
            <a:pPr algn="l">
              <a:spcBef>
                <a:spcPts val="0"/>
              </a:spcBef>
              <a:spcAft>
                <a:spcPts val="0"/>
              </a:spcAft>
              <a:defRPr sz="900" b="0" i="0">
                <a:solidFill>
                  <a:srgbClr val="0B1736"/>
                </a:solidFill>
                <a:latin typeface="Arial"/>
              </a:defRPr>
            </a:pPr>
            <a:r>
              <a:t>Concrete damaged plasticity (CDP) on 5 representative designs to assess tension cracking, compression softening, and buckling in 78 mm interior partitions.</a:t>
            </a:r>
          </a:p>
        </p:txBody>
      </p:sp>
      <p:sp>
        <p:nvSpPr>
          <p:cNvPr id="223" name="Rounded Rectangle 222"/>
          <p:cNvSpPr/>
          <p:nvPr/>
        </p:nvSpPr>
        <p:spPr>
          <a:xfrm>
            <a:off x="33174432" y="23792688"/>
            <a:ext cx="201168" cy="201168"/>
          </a:xfrm>
          <a:prstGeom prst="roundRect">
            <a:avLst>
              <a:gd name="adj" fmla="val 5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33174432" y="23792688"/>
            <a:ext cx="201168" cy="201168"/>
          </a:xfrm>
          <a:prstGeom prst="rect">
            <a:avLst/>
          </a:prstGeom>
          <a:noFill/>
        </p:spPr>
        <p:txBody>
          <a:bodyPr wrap="square"/>
          <a:lstStyle/>
          <a:p>
            <a:pPr algn="ctr">
              <a:spcBef>
                <a:spcPts val="0"/>
              </a:spcBef>
              <a:spcAft>
                <a:spcPts val="0"/>
              </a:spcAft>
              <a:defRPr sz="1000" b="1" i="0">
                <a:solidFill>
                  <a:srgbClr val="FFFFFF"/>
                </a:solidFill>
                <a:latin typeface="Arial"/>
              </a:defRPr>
            </a:pPr>
            <a:r>
              <a:t>3</a:t>
            </a:r>
          </a:p>
        </p:txBody>
      </p:sp>
      <p:sp>
        <p:nvSpPr>
          <p:cNvPr id="225" name="TextBox 224"/>
          <p:cNvSpPr txBox="1"/>
          <p:nvPr/>
        </p:nvSpPr>
        <p:spPr>
          <a:xfrm>
            <a:off x="33430464" y="23792688"/>
            <a:ext cx="10204704" cy="182880"/>
          </a:xfrm>
          <a:prstGeom prst="rect">
            <a:avLst/>
          </a:prstGeom>
          <a:noFill/>
        </p:spPr>
        <p:txBody>
          <a:bodyPr wrap="square"/>
          <a:lstStyle/>
          <a:p>
            <a:pPr algn="l">
              <a:spcBef>
                <a:spcPts val="0"/>
              </a:spcBef>
              <a:spcAft>
                <a:spcPts val="0"/>
              </a:spcAft>
              <a:defRPr sz="1000" b="1" i="0">
                <a:solidFill>
                  <a:srgbClr val="0A3D9A"/>
                </a:solidFill>
                <a:latin typeface="Arial"/>
              </a:defRPr>
            </a:pPr>
            <a:r>
              <a:t>PHYSICAL PRINT VALIDATION</a:t>
            </a:r>
          </a:p>
        </p:txBody>
      </p:sp>
      <p:sp>
        <p:nvSpPr>
          <p:cNvPr id="226" name="TextBox 225"/>
          <p:cNvSpPr txBox="1"/>
          <p:nvPr/>
        </p:nvSpPr>
        <p:spPr>
          <a:xfrm>
            <a:off x="33430464" y="23993856"/>
            <a:ext cx="10204704" cy="585216"/>
          </a:xfrm>
          <a:prstGeom prst="rect">
            <a:avLst/>
          </a:prstGeom>
          <a:noFill/>
        </p:spPr>
        <p:txBody>
          <a:bodyPr wrap="square"/>
          <a:lstStyle/>
          <a:p>
            <a:pPr algn="l">
              <a:spcBef>
                <a:spcPts val="0"/>
              </a:spcBef>
              <a:spcAft>
                <a:spcPts val="0"/>
              </a:spcAft>
              <a:defRPr sz="900" b="0" i="0">
                <a:solidFill>
                  <a:srgbClr val="0B1736"/>
                </a:solidFill>
                <a:latin typeface="Arial"/>
              </a:defRPr>
            </a:pPr>
            <a:r>
              <a:t>1:10 scale concrete print of optimized house. Compression testing + digital image correlation (DIC) for full-field strain mapping. Compare measured vs. predicted structural response.</a:t>
            </a:r>
          </a:p>
        </p:txBody>
      </p:sp>
      <p:sp>
        <p:nvSpPr>
          <p:cNvPr id="227" name="Rounded Rectangle 226"/>
          <p:cNvSpPr/>
          <p:nvPr/>
        </p:nvSpPr>
        <p:spPr>
          <a:xfrm>
            <a:off x="33604200" y="24670512"/>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33604200" y="24707088"/>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Optimized STL</a:t>
            </a:r>
          </a:p>
        </p:txBody>
      </p:sp>
      <p:sp>
        <p:nvSpPr>
          <p:cNvPr id="229" name="TextBox 228"/>
          <p:cNvSpPr txBox="1"/>
          <p:nvPr/>
        </p:nvSpPr>
        <p:spPr>
          <a:xfrm>
            <a:off x="36640008" y="24688800"/>
            <a:ext cx="237744" cy="274320"/>
          </a:xfrm>
          <a:prstGeom prst="rect">
            <a:avLst/>
          </a:prstGeom>
          <a:noFill/>
        </p:spPr>
        <p:txBody>
          <a:bodyPr wrap="square"/>
          <a:lstStyle/>
          <a:p>
            <a:pPr algn="ctr">
              <a:spcBef>
                <a:spcPts val="0"/>
              </a:spcBef>
              <a:spcAft>
                <a:spcPts val="0"/>
              </a:spcAft>
              <a:defRPr sz="1300" b="1" i="0">
                <a:solidFill>
                  <a:srgbClr val="CFA535"/>
                </a:solidFill>
                <a:latin typeface="Arial"/>
              </a:defRPr>
            </a:pPr>
            <a:r>
              <a:t>►</a:t>
            </a:r>
          </a:p>
        </p:txBody>
      </p:sp>
      <p:sp>
        <p:nvSpPr>
          <p:cNvPr id="230" name="Rounded Rectangle 229"/>
          <p:cNvSpPr/>
          <p:nvPr/>
        </p:nvSpPr>
        <p:spPr>
          <a:xfrm>
            <a:off x="36896040" y="24670512"/>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36896040" y="24707088"/>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3D Print 1:10</a:t>
            </a:r>
          </a:p>
        </p:txBody>
      </p:sp>
      <p:sp>
        <p:nvSpPr>
          <p:cNvPr id="232" name="TextBox 231"/>
          <p:cNvSpPr txBox="1"/>
          <p:nvPr/>
        </p:nvSpPr>
        <p:spPr>
          <a:xfrm>
            <a:off x="39931848" y="24688800"/>
            <a:ext cx="237744" cy="274320"/>
          </a:xfrm>
          <a:prstGeom prst="rect">
            <a:avLst/>
          </a:prstGeom>
          <a:noFill/>
        </p:spPr>
        <p:txBody>
          <a:bodyPr wrap="square"/>
          <a:lstStyle/>
          <a:p>
            <a:pPr algn="ctr">
              <a:spcBef>
                <a:spcPts val="0"/>
              </a:spcBef>
              <a:spcAft>
                <a:spcPts val="0"/>
              </a:spcAft>
              <a:defRPr sz="1300" b="1" i="0">
                <a:solidFill>
                  <a:srgbClr val="CFA535"/>
                </a:solidFill>
                <a:latin typeface="Arial"/>
              </a:defRPr>
            </a:pPr>
            <a:r>
              <a:t>►</a:t>
            </a:r>
          </a:p>
        </p:txBody>
      </p:sp>
      <p:sp>
        <p:nvSpPr>
          <p:cNvPr id="233" name="Rounded Rectangle 232"/>
          <p:cNvSpPr/>
          <p:nvPr/>
        </p:nvSpPr>
        <p:spPr>
          <a:xfrm>
            <a:off x="40187880" y="24670512"/>
            <a:ext cx="3017520" cy="310896"/>
          </a:xfrm>
          <a:prstGeom prst="roundRect">
            <a:avLst>
              <a:gd name="adj" fmla="val 20000"/>
            </a:avLst>
          </a:prstGeom>
          <a:solidFill>
            <a:srgbClr val="008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40187880" y="24707088"/>
            <a:ext cx="3017520" cy="237744"/>
          </a:xfrm>
          <a:prstGeom prst="rect">
            <a:avLst/>
          </a:prstGeom>
          <a:noFill/>
        </p:spPr>
        <p:txBody>
          <a:bodyPr wrap="square"/>
          <a:lstStyle/>
          <a:p>
            <a:pPr algn="ctr">
              <a:spcBef>
                <a:spcPts val="0"/>
              </a:spcBef>
              <a:spcAft>
                <a:spcPts val="0"/>
              </a:spcAft>
              <a:defRPr sz="900" b="1" i="0">
                <a:solidFill>
                  <a:srgbClr val="FFFFFF"/>
                </a:solidFill>
                <a:latin typeface="Arial"/>
              </a:defRPr>
            </a:pPr>
            <a:r>
              <a:t>Compression + DIC</a:t>
            </a:r>
          </a:p>
        </p:txBody>
      </p:sp>
      <p:sp>
        <p:nvSpPr>
          <p:cNvPr id="235" name="Rounded Rectangle 234"/>
          <p:cNvSpPr/>
          <p:nvPr/>
        </p:nvSpPr>
        <p:spPr>
          <a:xfrm>
            <a:off x="33082992" y="25530048"/>
            <a:ext cx="10643616" cy="411480"/>
          </a:xfrm>
          <a:prstGeom prst="roundRect">
            <a:avLst>
              <a:gd name="adj" fmla="val 15000"/>
            </a:avLst>
          </a:prstGeom>
          <a:solidFill>
            <a:srgbClr val="0A3D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33082992" y="25530048"/>
            <a:ext cx="10643616" cy="411480"/>
          </a:xfrm>
          <a:prstGeom prst="rect">
            <a:avLst/>
          </a:prstGeom>
          <a:noFill/>
        </p:spPr>
        <p:txBody>
          <a:bodyPr wrap="square"/>
          <a:lstStyle/>
          <a:p>
            <a:pPr algn="ctr">
              <a:spcBef>
                <a:spcPts val="0"/>
              </a:spcBef>
              <a:spcAft>
                <a:spcPts val="0"/>
              </a:spcAft>
              <a:defRPr sz="2800" b="1" i="0">
                <a:solidFill>
                  <a:srgbClr val="FFFFFF"/>
                </a:solidFill>
                <a:latin typeface="Arial Black"/>
              </a:defRPr>
            </a:pPr>
            <a:r>
              <a:t>KEY REFERENCES</a:t>
            </a:r>
          </a:p>
        </p:txBody>
      </p:sp>
      <p:sp>
        <p:nvSpPr>
          <p:cNvPr id="237" name="Rounded Rectangle 236"/>
          <p:cNvSpPr/>
          <p:nvPr/>
        </p:nvSpPr>
        <p:spPr>
          <a:xfrm>
            <a:off x="33082992" y="25941527"/>
            <a:ext cx="10643616" cy="6812280"/>
          </a:xfrm>
          <a:prstGeom prst="roundRect">
            <a:avLst>
              <a:gd name="adj" fmla="val 40000"/>
            </a:avLst>
          </a:prstGeom>
          <a:solidFill>
            <a:srgbClr val="F7F9FC"/>
          </a:solidFill>
          <a:ln w="12700">
            <a:solidFill>
              <a:srgbClr val="B7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33174432" y="26032968"/>
            <a:ext cx="10460736" cy="6629400"/>
          </a:xfrm>
          <a:prstGeom prst="rect">
            <a:avLst/>
          </a:prstGeom>
          <a:noFill/>
        </p:spPr>
        <p:txBody>
          <a:bodyPr wrap="square"/>
          <a:lstStyle/>
          <a:p>
            <a:pPr algn="l">
              <a:spcBef>
                <a:spcPts val="0"/>
              </a:spcBef>
              <a:spcAft>
                <a:spcPts val="100"/>
              </a:spcAft>
              <a:defRPr sz="900" b="0" i="0">
                <a:solidFill>
                  <a:srgbClr val="0B1736"/>
                </a:solidFill>
                <a:latin typeface="Arial"/>
              </a:defRPr>
            </a:pPr>
            <a:r>
              <a:t>1. Bendsøe &amp; Sigmund (2003). Topology Optimization: Theory, Methods and Applications. Springer.</a:t>
            </a:r>
          </a:p>
          <a:p>
            <a:pPr algn="l">
              <a:spcBef>
                <a:spcPts val="0"/>
              </a:spcBef>
              <a:spcAft>
                <a:spcPts val="100"/>
              </a:spcAft>
              <a:defRPr sz="900" b="0" i="0">
                <a:solidFill>
                  <a:srgbClr val="0B1736"/>
                </a:solidFill>
                <a:latin typeface="Arial"/>
              </a:defRPr>
            </a:pPr>
            <a:r>
              <a:t>2. Lakshminarayanan et al. (2017). Simple and scalable predictive uncertainty estimation. NeurIPS.</a:t>
            </a:r>
          </a:p>
          <a:p>
            <a:pPr algn="l">
              <a:spcBef>
                <a:spcPts val="0"/>
              </a:spcBef>
              <a:spcAft>
                <a:spcPts val="100"/>
              </a:spcAft>
              <a:defRPr sz="900" b="0" i="0">
                <a:solidFill>
                  <a:srgbClr val="0B1736"/>
                </a:solidFill>
                <a:latin typeface="Arial"/>
              </a:defRPr>
            </a:pPr>
            <a:r>
              <a:t>3. Kong &amp; Rosenfeld (1989). Digital topology: Introduction and survey. CVGIP 48(3).</a:t>
            </a:r>
          </a:p>
          <a:p>
            <a:pPr algn="l">
              <a:spcBef>
                <a:spcPts val="0"/>
              </a:spcBef>
              <a:spcAft>
                <a:spcPts val="100"/>
              </a:spcAft>
              <a:defRPr sz="900" b="0" i="0">
                <a:solidFill>
                  <a:srgbClr val="0B1736"/>
                </a:solidFill>
                <a:latin typeface="Arial"/>
              </a:defRPr>
            </a:pPr>
            <a:r>
              <a:t>4. ASCE (2022). ASCE/SEI 7-22 Minimum Design Loads and Associated Criteria.</a:t>
            </a:r>
          </a:p>
          <a:p>
            <a:pPr algn="l">
              <a:spcBef>
                <a:spcPts val="0"/>
              </a:spcBef>
              <a:spcAft>
                <a:spcPts val="100"/>
              </a:spcAft>
              <a:defRPr sz="900" b="0" i="0">
                <a:solidFill>
                  <a:srgbClr val="0B1736"/>
                </a:solidFill>
                <a:latin typeface="Arial"/>
              </a:defRPr>
            </a:pPr>
            <a:r>
              <a:t>5. Buswell et al. (2018). 3D printing using concrete extrusion. Cement &amp; Concrete Research 112.</a:t>
            </a:r>
          </a:p>
          <a:p>
            <a:pPr algn="l">
              <a:spcBef>
                <a:spcPts val="0"/>
              </a:spcBef>
              <a:spcAft>
                <a:spcPts val="100"/>
              </a:spcAft>
              <a:defRPr sz="900" b="0" i="0">
                <a:solidFill>
                  <a:srgbClr val="0B1736"/>
                </a:solidFill>
                <a:latin typeface="Arial"/>
              </a:defRPr>
            </a:pPr>
            <a:r>
              <a:t>6. Sigmund &amp; Maute (2013). Topology optimization approaches. Struct Multidisc Optim 48.</a:t>
            </a:r>
          </a:p>
          <a:p>
            <a:pPr algn="l">
              <a:spcBef>
                <a:spcPts val="0"/>
              </a:spcBef>
              <a:spcAft>
                <a:spcPts val="100"/>
              </a:spcAft>
              <a:defRPr sz="900" b="0" i="0">
                <a:solidFill>
                  <a:srgbClr val="0B1736"/>
                </a:solidFill>
                <a:latin typeface="Arial"/>
              </a:defRPr>
            </a:pPr>
            <a:r>
              <a:t>7. Lin et al. (2024). 3DWire: large-scale 3D wireframe dataset. KAUST.</a:t>
            </a:r>
          </a:p>
          <a:p>
            <a:pPr algn="l">
              <a:spcBef>
                <a:spcPts val="0"/>
              </a:spcBef>
              <a:spcAft>
                <a:spcPts val="100"/>
              </a:spcAft>
              <a:defRPr sz="900" b="0" i="0">
                <a:solidFill>
                  <a:srgbClr val="0B1736"/>
                </a:solidFill>
                <a:latin typeface="Arial"/>
              </a:defRPr>
            </a:pPr>
            <a:r>
              <a:t>8. IEA (2021). Global Status Report for Buildings and Construction.</a:t>
            </a:r>
          </a:p>
          <a:p>
            <a:pPr algn="l">
              <a:spcBef>
                <a:spcPts val="0"/>
              </a:spcBef>
              <a:spcAft>
                <a:spcPts val="100"/>
              </a:spcAft>
              <a:defRPr sz="900" b="0" i="0">
                <a:solidFill>
                  <a:srgbClr val="0B1736"/>
                </a:solidFill>
                <a:latin typeface="Arial"/>
              </a:defRPr>
            </a:pPr>
            <a:r>
              <a:t>9. Lorensen &amp; Cline (1987). Marching Cubes. SIGGRAPH.</a:t>
            </a:r>
          </a:p>
          <a:p>
            <a:pPr algn="l">
              <a:spcBef>
                <a:spcPts val="0"/>
              </a:spcBef>
              <a:spcAft>
                <a:spcPts val="100"/>
              </a:spcAft>
              <a:defRPr sz="900" b="0" i="0">
                <a:solidFill>
                  <a:srgbClr val="0B1736"/>
                </a:solidFill>
                <a:latin typeface="Arial"/>
              </a:defRPr>
            </a:pPr>
            <a:r>
              <a:t>10. Vovk et al. (2005). Algorithmic Learning in a Random World. Springer.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