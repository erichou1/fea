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 Id="rId7" Type="http://schemas.openxmlformats.org/officeDocument/2006/relationships/image" Target="../media/image6.png"/><Relationship Id="rId8" Type="http://schemas.openxmlformats.org/officeDocument/2006/relationships/image" Target="../media/image7.jpg"/><Relationship Id="rId9" Type="http://schemas.openxmlformats.org/officeDocument/2006/relationships/image" Target="../media/image8.jpg"/><Relationship Id="rId10" Type="http://schemas.openxmlformats.org/officeDocument/2006/relationships/image" Target="../media/image9.jpg"/><Relationship Id="rId11" Type="http://schemas.openxmlformats.org/officeDocument/2006/relationships/image" Target="../media/image10.jpg"/><Relationship Id="rId12" Type="http://schemas.openxmlformats.org/officeDocument/2006/relationships/image" Target="../media/image11.jp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image" Target="../media/image20.png"/><Relationship Id="rId22" Type="http://schemas.openxmlformats.org/officeDocument/2006/relationships/image" Target="../media/image21.png"/><Relationship Id="rId23" Type="http://schemas.openxmlformats.org/officeDocument/2006/relationships/image" Target="../media/image22.png"/><Relationship Id="rId24" Type="http://schemas.openxmlformats.org/officeDocument/2006/relationships/image" Target="../media/image23.png"/><Relationship Id="rId25" Type="http://schemas.openxmlformats.org/officeDocument/2006/relationships/image" Target="../media/image2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062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2743200"/>
          </a:xfrm>
          <a:prstGeom prst="rect">
            <a:avLst/>
          </a:prstGeom>
          <a:solidFill>
            <a:srgbClr val="0320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15768"/>
            <a:ext cx="43891200" cy="27432"/>
          </a:xfrm>
          <a:prstGeom prst="rect">
            <a:avLst/>
          </a:prstGeom>
          <a:solidFill>
            <a:srgbClr val="CFA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 0.jpg"/>
          <p:cNvPicPr>
            <a:picLocks noChangeAspect="1"/>
          </p:cNvPicPr>
          <p:nvPr/>
        </p:nvPicPr>
        <p:blipFill>
          <a:blip r:embed="rId2"/>
          <a:stretch>
            <a:fillRect/>
          </a:stretch>
        </p:blipFill>
        <p:spPr>
          <a:xfrm>
            <a:off x="665225" y="274320"/>
            <a:ext cx="1961388" cy="2011680"/>
          </a:xfrm>
          <a:prstGeom prst="rect">
            <a:avLst/>
          </a:prstGeom>
        </p:spPr>
      </p:pic>
      <p:pic>
        <p:nvPicPr>
          <p:cNvPr id="6" name="Picture 5" descr="Image 11.jpg"/>
          <p:cNvPicPr>
            <a:picLocks noChangeAspect="1"/>
          </p:cNvPicPr>
          <p:nvPr/>
        </p:nvPicPr>
        <p:blipFill>
          <a:blip r:embed="rId3"/>
          <a:stretch>
            <a:fillRect/>
          </a:stretch>
        </p:blipFill>
        <p:spPr>
          <a:xfrm>
            <a:off x="3657600" y="487680"/>
            <a:ext cx="2377440" cy="1584960"/>
          </a:xfrm>
          <a:prstGeom prst="rect">
            <a:avLst/>
          </a:prstGeom>
        </p:spPr>
      </p:pic>
      <p:sp>
        <p:nvSpPr>
          <p:cNvPr id="7" name="TextBox 6"/>
          <p:cNvSpPr txBox="1"/>
          <p:nvPr/>
        </p:nvSpPr>
        <p:spPr>
          <a:xfrm>
            <a:off x="6858000" y="182880"/>
            <a:ext cx="25603200" cy="914400"/>
          </a:xfrm>
          <a:prstGeom prst="rect">
            <a:avLst/>
          </a:prstGeom>
          <a:noFill/>
        </p:spPr>
        <p:txBody>
          <a:bodyPr wrap="square" lIns="18288" rIns="18288" tIns="18288" bIns="18288"/>
          <a:lstStyle/>
          <a:p>
            <a:pPr algn="ctr">
              <a:lnSpc>
                <a:spcPts val="5980"/>
              </a:lnSpc>
              <a:spcBef>
                <a:spcPts val="0"/>
              </a:spcBef>
              <a:spcAft>
                <a:spcPts val="0"/>
              </a:spcAft>
              <a:defRPr sz="5200" b="1" i="0">
                <a:solidFill>
                  <a:srgbClr val="FFFFFF"/>
                </a:solidFill>
                <a:latin typeface="Arial Black"/>
              </a:defRPr>
            </a:pPr>
            <a:r>
              <a:t>SURROGATE-ACCELERATED STRUCTURAL OPTIMIZATION</a:t>
            </a:r>
          </a:p>
        </p:txBody>
      </p:sp>
      <p:sp>
        <p:nvSpPr>
          <p:cNvPr id="8" name="TextBox 7"/>
          <p:cNvSpPr txBox="1"/>
          <p:nvPr/>
        </p:nvSpPr>
        <p:spPr>
          <a:xfrm>
            <a:off x="6858000" y="1051560"/>
            <a:ext cx="25603200" cy="640080"/>
          </a:xfrm>
          <a:prstGeom prst="rect">
            <a:avLst/>
          </a:prstGeom>
          <a:noFill/>
        </p:spPr>
        <p:txBody>
          <a:bodyPr wrap="square" lIns="18288" rIns="18288" tIns="18288" bIns="18288"/>
          <a:lstStyle/>
          <a:p>
            <a:pPr algn="ctr">
              <a:lnSpc>
                <a:spcPts val="2990"/>
              </a:lnSpc>
              <a:spcBef>
                <a:spcPts val="0"/>
              </a:spcBef>
              <a:spcAft>
                <a:spcPts val="0"/>
              </a:spcAft>
              <a:defRPr sz="2600" b="1" i="1">
                <a:solidFill>
                  <a:srgbClr val="FFFFFF"/>
                </a:solidFill>
                <a:latin typeface="Arial"/>
              </a:defRPr>
            </a:pPr>
            <a:r>
              <a:t>Additive Manufacturing: Harnessing FEA to Optimize Material Efficiency</a:t>
            </a:r>
          </a:p>
        </p:txBody>
      </p:sp>
      <p:sp>
        <p:nvSpPr>
          <p:cNvPr id="9" name="TextBox 8"/>
          <p:cNvSpPr txBox="1"/>
          <p:nvPr/>
        </p:nvSpPr>
        <p:spPr>
          <a:xfrm>
            <a:off x="6858000" y="1737360"/>
            <a:ext cx="25603200" cy="457200"/>
          </a:xfrm>
          <a:prstGeom prst="rect">
            <a:avLst/>
          </a:prstGeom>
          <a:noFill/>
        </p:spPr>
        <p:txBody>
          <a:bodyPr wrap="square" lIns="18288" rIns="18288" tIns="18288" bIns="18288"/>
          <a:lstStyle/>
          <a:p>
            <a:pPr algn="ctr">
              <a:lnSpc>
                <a:spcPts val="2529"/>
              </a:lnSpc>
              <a:spcBef>
                <a:spcPts val="0"/>
              </a:spcBef>
              <a:spcAft>
                <a:spcPts val="0"/>
              </a:spcAft>
              <a:defRPr sz="2200" b="1" i="0">
                <a:solidFill>
                  <a:srgbClr val="FFFFFF"/>
                </a:solidFill>
                <a:latin typeface="Arial"/>
              </a:defRPr>
            </a:pPr>
            <a:r>
              <a:t>Eric Hou</a:t>
            </a:r>
          </a:p>
        </p:txBody>
      </p:sp>
      <p:sp>
        <p:nvSpPr>
          <p:cNvPr id="10" name="TextBox 9"/>
          <p:cNvSpPr txBox="1"/>
          <p:nvPr/>
        </p:nvSpPr>
        <p:spPr>
          <a:xfrm>
            <a:off x="35204400" y="137160"/>
            <a:ext cx="8412480" cy="2468880"/>
          </a:xfrm>
          <a:prstGeom prst="rect">
            <a:avLst/>
          </a:prstGeom>
          <a:noFill/>
        </p:spPr>
        <p:txBody>
          <a:bodyPr wrap="square" lIns="18288" rIns="18288" tIns="18288" bIns="18288"/>
          <a:lstStyle/>
          <a:p>
            <a:pPr algn="l">
              <a:spcBef>
                <a:spcPts val="0"/>
              </a:spcBef>
              <a:spcAft>
                <a:spcPts val="0"/>
              </a:spcAft>
              <a:defRPr sz="1100" b="1" i="0">
                <a:solidFill>
                  <a:srgbClr val="FFFFFF"/>
                </a:solidFill>
                <a:latin typeface="Arial"/>
              </a:defRPr>
            </a:pPr>
            <a:r>
              <a:t>Credit Line of Origin</a:t>
            </a:r>
          </a:p>
          <a:p>
            <a:pPr algn="l">
              <a:spcBef>
                <a:spcPts val="0"/>
              </a:spcBef>
              <a:spcAft>
                <a:spcPts val="200"/>
              </a:spcAft>
              <a:defRPr sz="1100" b="1" i="0">
                <a:solidFill>
                  <a:srgbClr val="FFFFFF"/>
                </a:solidFill>
                <a:latin typeface="Arial"/>
              </a:defRPr>
            </a:pPr>
            <a:r>
              <a:t>Credit Line of Origin</a:t>
            </a:r>
          </a:p>
          <a:p>
            <a:pPr algn="l">
              <a:spcBef>
                <a:spcPts val="0"/>
              </a:spcBef>
              <a:spcAft>
                <a:spcPts val="100"/>
              </a:spcAft>
              <a:defRPr sz="900" b="0" i="1">
                <a:solidFill>
                  <a:srgbClr val="FFFFFF"/>
                </a:solidFill>
                <a:latin typeface="Arial"/>
              </a:defRPr>
            </a:pPr>
            <a:r>
              <a:t>References &amp; Data: in references below.</a:t>
            </a:r>
          </a:p>
          <a:p>
            <a:pPr algn="l">
              <a:spcBef>
                <a:spcPts val="0"/>
              </a:spcBef>
              <a:spcAft>
                <a:spcPts val="0"/>
              </a:spcAft>
              <a:defRPr sz="900" b="0" i="0">
                <a:solidFill>
                  <a:srgbClr val="FFFFFF"/>
                </a:solidFill>
                <a:latin typeface="Arial"/>
              </a:defRPr>
            </a:pPr>
            <a:r>
              <a:t>* Images denoted with asterisk are part of the</a:t>
            </a:r>
          </a:p>
          <a:p>
            <a:pPr algn="l">
              <a:spcBef>
                <a:spcPts val="0"/>
              </a:spcBef>
              <a:spcAft>
                <a:spcPts val="0"/>
              </a:spcAft>
              <a:defRPr sz="900" b="0" i="0">
                <a:solidFill>
                  <a:srgbClr val="FFFFFF"/>
                </a:solidFill>
                <a:latin typeface="Arial"/>
              </a:defRPr>
            </a:pPr>
            <a:r>
              <a:t>public domain. Some are denoted by Wikimedia</a:t>
            </a:r>
          </a:p>
          <a:p>
            <a:pPr algn="l">
              <a:spcBef>
                <a:spcPts val="0"/>
              </a:spcBef>
              <a:spcAft>
                <a:spcPts val="100"/>
              </a:spcAft>
              <a:defRPr sz="900" b="0" i="0">
                <a:solidFill>
                  <a:srgbClr val="FFFFFF"/>
                </a:solidFill>
                <a:latin typeface="Arial"/>
              </a:defRPr>
            </a:pPr>
            <a:r>
              <a:t>Commons CC-BY-SA 3.0.</a:t>
            </a:r>
          </a:p>
          <a:p>
            <a:pPr algn="l">
              <a:spcBef>
                <a:spcPts val="0"/>
              </a:spcBef>
              <a:spcAft>
                <a:spcPts val="0"/>
              </a:spcAft>
              <a:defRPr sz="900" b="0" i="0">
                <a:solidFill>
                  <a:srgbClr val="FFFFFF"/>
                </a:solidFill>
                <a:latin typeface="Arial"/>
              </a:defRPr>
            </a:pPr>
            <a:r>
              <a:t>All other graphics, tables, and images have been</a:t>
            </a:r>
          </a:p>
          <a:p>
            <a:pPr algn="l">
              <a:spcBef>
                <a:spcPts val="0"/>
              </a:spcBef>
              <a:spcAft>
                <a:spcPts val="0"/>
              </a:spcAft>
              <a:defRPr sz="900" b="0" i="0">
                <a:solidFill>
                  <a:srgbClr val="FFFFFF"/>
                </a:solidFill>
                <a:latin typeface="Arial"/>
              </a:defRPr>
            </a:pPr>
            <a:r>
              <a:t>created by Eric Hou, 2026 unless otherwise attributed.</a:t>
            </a:r>
          </a:p>
        </p:txBody>
      </p:sp>
      <p:sp>
        <p:nvSpPr>
          <p:cNvPr id="11" name="Rounded Rectangle 10"/>
          <p:cNvSpPr/>
          <p:nvPr/>
        </p:nvSpPr>
        <p:spPr>
          <a:xfrm>
            <a:off x="137160" y="2816352"/>
            <a:ext cx="10698480" cy="457200"/>
          </a:xfrm>
          <a:prstGeom prst="roundRect">
            <a:avLst>
              <a:gd name="adj" fmla="val 12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 y="2816352"/>
            <a:ext cx="10698480" cy="457200"/>
          </a:xfrm>
          <a:prstGeom prst="rect">
            <a:avLst/>
          </a:prstGeom>
          <a:noFill/>
        </p:spPr>
        <p:txBody>
          <a:bodyPr wrap="none" lIns="137160" tIns="54864">
            <a:spAutoFit/>
          </a:bodyPr>
          <a:lstStyle/>
          <a:p>
            <a:pPr algn="ctr">
              <a:spcBef>
                <a:spcPts val="0"/>
              </a:spcBef>
              <a:spcAft>
                <a:spcPts val="0"/>
              </a:spcAft>
              <a:defRPr sz="2400" b="1">
                <a:solidFill>
                  <a:srgbClr val="FFFFFF"/>
                </a:solidFill>
                <a:latin typeface="Arial Black"/>
              </a:defRPr>
            </a:pPr>
            <a:r>
              <a:t>VISUAL ABSTRACT</a:t>
            </a:r>
          </a:p>
        </p:txBody>
      </p:sp>
      <p:sp>
        <p:nvSpPr>
          <p:cNvPr id="13" name="Rounded Rectangle 12"/>
          <p:cNvSpPr/>
          <p:nvPr/>
        </p:nvSpPr>
        <p:spPr>
          <a:xfrm>
            <a:off x="137160" y="3273552"/>
            <a:ext cx="10698480" cy="6217920"/>
          </a:xfrm>
          <a:prstGeom prst="roundRect">
            <a:avLst>
              <a:gd name="adj" fmla="val 35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_sasto_pipeline.png"/>
          <p:cNvPicPr>
            <a:picLocks noChangeAspect="1"/>
          </p:cNvPicPr>
          <p:nvPr/>
        </p:nvPicPr>
        <p:blipFill>
          <a:blip r:embed="rId4"/>
          <a:stretch>
            <a:fillRect/>
          </a:stretch>
        </p:blipFill>
        <p:spPr>
          <a:xfrm>
            <a:off x="4237328" y="3364992"/>
            <a:ext cx="2498142" cy="3474720"/>
          </a:xfrm>
          <a:prstGeom prst="rect">
            <a:avLst/>
          </a:prstGeom>
        </p:spPr>
      </p:pic>
      <p:sp>
        <p:nvSpPr>
          <p:cNvPr id="15" name="TextBox 14"/>
          <p:cNvSpPr txBox="1"/>
          <p:nvPr/>
        </p:nvSpPr>
        <p:spPr>
          <a:xfrm>
            <a:off x="228600" y="6931152"/>
            <a:ext cx="10515600" cy="2468880"/>
          </a:xfrm>
          <a:prstGeom prst="rect">
            <a:avLst/>
          </a:prstGeom>
          <a:noFill/>
        </p:spPr>
        <p:txBody>
          <a:bodyPr wrap="square" lIns="18288" rIns="18288" tIns="18288" bIns="18288"/>
          <a:lstStyle/>
          <a:p>
            <a:pPr algn="l">
              <a:spcBef>
                <a:spcPts val="0"/>
              </a:spcBef>
              <a:spcAft>
                <a:spcPts val="100"/>
              </a:spcAft>
              <a:defRPr sz="1000" b="1" i="0">
                <a:solidFill>
                  <a:srgbClr val="0B1736"/>
                </a:solidFill>
                <a:latin typeface="Arial"/>
              </a:defRPr>
            </a:pPr>
            <a:r>
              <a:t>a) User Workflow</a:t>
            </a:r>
          </a:p>
          <a:p>
            <a:pPr algn="l">
              <a:spcBef>
                <a:spcPts val="0"/>
              </a:spcBef>
              <a:spcAft>
                <a:spcPts val="0"/>
              </a:spcAft>
              <a:defRPr sz="900" b="0" i="0">
                <a:solidFill>
                  <a:srgbClr val="0B1736"/>
                </a:solidFill>
                <a:latin typeface="Arial"/>
              </a:defRPr>
            </a:pPr>
            <a:r>
              <a:t>Input: 3DWire building wireframe skeleton</a:t>
            </a:r>
          </a:p>
          <a:p>
            <a:pPr algn="l">
              <a:spcBef>
                <a:spcPts val="0"/>
              </a:spcBef>
              <a:spcAft>
                <a:spcPts val="0"/>
              </a:spcAft>
              <a:defRPr sz="900" b="0" i="0">
                <a:solidFill>
                  <a:srgbClr val="0B1736"/>
                </a:solidFill>
                <a:latin typeface="Arial"/>
              </a:defRPr>
            </a:pPr>
            <a:r>
              <a:t>Process: Extrude walls + roof + floor -&gt; Boolean fusion -&gt; FEA simulation</a:t>
            </a:r>
          </a:p>
          <a:p>
            <a:pPr algn="l">
              <a:spcBef>
                <a:spcPts val="0"/>
              </a:spcBef>
              <a:spcAft>
                <a:spcPts val="0"/>
              </a:spcAft>
              <a:defRPr sz="900" b="0" i="0">
                <a:solidFill>
                  <a:srgbClr val="0B1736"/>
                </a:solidFill>
                <a:latin typeface="Arial"/>
              </a:defRPr>
            </a:pPr>
            <a:r>
              <a:t>-&gt; Train deep ensemble surrogate (5 x 8.76M params) -&gt; Sensitivity-guided erosion</a:t>
            </a:r>
          </a:p>
          <a:p>
            <a:pPr algn="l">
              <a:spcBef>
                <a:spcPts val="0"/>
              </a:spcBef>
              <a:spcAft>
                <a:spcPts val="100"/>
              </a:spcAft>
              <a:defRPr sz="900" b="0" i="0">
                <a:solidFill>
                  <a:srgbClr val="0B1736"/>
                </a:solidFill>
                <a:latin typeface="Arial"/>
              </a:defRPr>
            </a:pPr>
            <a:r>
              <a:t>Output: Watertight optimized STL, single-component mesh</a:t>
            </a:r>
          </a:p>
          <a:p>
            <a:pPr algn="l">
              <a:spcBef>
                <a:spcPts val="100"/>
              </a:spcBef>
              <a:spcAft>
                <a:spcPts val="100"/>
              </a:spcAft>
              <a:defRPr sz="1000" b="1" i="0">
                <a:solidFill>
                  <a:srgbClr val="0B1736"/>
                </a:solidFill>
                <a:latin typeface="Arial"/>
              </a:defRPr>
            </a:pPr>
            <a:r>
              <a:t>b) Model Creation</a:t>
            </a:r>
          </a:p>
          <a:p>
            <a:pPr algn="l">
              <a:spcBef>
                <a:spcPts val="0"/>
              </a:spcBef>
              <a:spcAft>
                <a:spcPts val="0"/>
              </a:spcAft>
              <a:defRPr sz="900" b="0" i="0">
                <a:solidFill>
                  <a:srgbClr val="0B1736"/>
                </a:solidFill>
                <a:latin typeface="Arial"/>
              </a:defRPr>
            </a:pPr>
            <a:r>
              <a:t>14,293 wireframes -&gt; 11,178 valid FEA simulations -&gt; 128-cube labeled voxel grids</a:t>
            </a:r>
          </a:p>
          <a:p>
            <a:pPr algn="l">
              <a:spcBef>
                <a:spcPts val="0"/>
              </a:spcBef>
              <a:spcAft>
                <a:spcPts val="0"/>
              </a:spcAft>
              <a:defRPr sz="900" b="0" i="0">
                <a:solidFill>
                  <a:srgbClr val="0B1736"/>
                </a:solidFill>
                <a:latin typeface="Arial"/>
              </a:defRPr>
            </a:pPr>
            <a:r>
              <a:t>Family-aware split: 8,943 train / 1,121 val / 1,114 test</a:t>
            </a:r>
          </a:p>
        </p:txBody>
      </p:sp>
      <p:sp>
        <p:nvSpPr>
          <p:cNvPr id="16" name="Rounded Rectangle 15"/>
          <p:cNvSpPr/>
          <p:nvPr/>
        </p:nvSpPr>
        <p:spPr>
          <a:xfrm>
            <a:off x="137160" y="9546336"/>
            <a:ext cx="10698480" cy="457200"/>
          </a:xfrm>
          <a:prstGeom prst="roundRect">
            <a:avLst>
              <a:gd name="adj" fmla="val 12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7160" y="9546336"/>
            <a:ext cx="10698480" cy="457200"/>
          </a:xfrm>
          <a:prstGeom prst="rect">
            <a:avLst/>
          </a:prstGeom>
          <a:noFill/>
        </p:spPr>
        <p:txBody>
          <a:bodyPr wrap="none" lIns="137160" tIns="54864">
            <a:spAutoFit/>
          </a:bodyPr>
          <a:lstStyle/>
          <a:p>
            <a:pPr algn="ctr">
              <a:spcBef>
                <a:spcPts val="0"/>
              </a:spcBef>
              <a:spcAft>
                <a:spcPts val="0"/>
              </a:spcAft>
              <a:defRPr sz="2400" b="1">
                <a:solidFill>
                  <a:srgbClr val="FFFFFF"/>
                </a:solidFill>
                <a:latin typeface="Arial Black"/>
              </a:defRPr>
            </a:pPr>
            <a:r>
              <a:t>INTRODUCTION</a:t>
            </a:r>
          </a:p>
        </p:txBody>
      </p:sp>
      <p:sp>
        <p:nvSpPr>
          <p:cNvPr id="18" name="Rounded Rectangle 17"/>
          <p:cNvSpPr/>
          <p:nvPr/>
        </p:nvSpPr>
        <p:spPr>
          <a:xfrm>
            <a:off x="137160" y="10003536"/>
            <a:ext cx="10698480" cy="5394960"/>
          </a:xfrm>
          <a:prstGeom prst="roundRect">
            <a:avLst>
              <a:gd name="adj" fmla="val 35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ig_wireframe_pipeline.png"/>
          <p:cNvPicPr>
            <a:picLocks noChangeAspect="1"/>
          </p:cNvPicPr>
          <p:nvPr/>
        </p:nvPicPr>
        <p:blipFill>
          <a:blip r:embed="rId5"/>
          <a:stretch>
            <a:fillRect/>
          </a:stretch>
        </p:blipFill>
        <p:spPr>
          <a:xfrm>
            <a:off x="6903720" y="10181676"/>
            <a:ext cx="3749039" cy="2204039"/>
          </a:xfrm>
          <a:prstGeom prst="rect">
            <a:avLst/>
          </a:prstGeom>
        </p:spPr>
      </p:pic>
      <p:sp>
        <p:nvSpPr>
          <p:cNvPr id="20" name="TextBox 19"/>
          <p:cNvSpPr txBox="1"/>
          <p:nvPr/>
        </p:nvSpPr>
        <p:spPr>
          <a:xfrm>
            <a:off x="228600" y="10140696"/>
            <a:ext cx="6492240" cy="5120640"/>
          </a:xfrm>
          <a:prstGeom prst="rect">
            <a:avLst/>
          </a:prstGeom>
          <a:noFill/>
        </p:spPr>
        <p:txBody>
          <a:bodyPr wrap="square" lIns="18288" rIns="18288" tIns="18288" bIns="18288"/>
          <a:lstStyle/>
          <a:p>
            <a:pPr algn="l">
              <a:spcBef>
                <a:spcPts val="0"/>
              </a:spcBef>
              <a:spcAft>
                <a:spcPts val="200"/>
              </a:spcAft>
              <a:defRPr sz="1200" b="1" i="0">
                <a:solidFill>
                  <a:srgbClr val="0B1736"/>
                </a:solidFill>
                <a:latin typeface="Arial"/>
              </a:defRPr>
            </a:pPr>
            <a:r>
              <a:t>CONCRETE &amp; CONSTRUCTION</a:t>
            </a:r>
          </a:p>
          <a:p>
            <a:pPr algn="l">
              <a:lnSpc>
                <a:spcPts val="1200"/>
              </a:lnSpc>
              <a:spcBef>
                <a:spcPts val="0"/>
              </a:spcBef>
              <a:spcAft>
                <a:spcPts val="300"/>
              </a:spcAft>
              <a:defRPr sz="1000" b="0" i="0">
                <a:solidFill>
                  <a:srgbClr val="0B1736"/>
                </a:solidFill>
                <a:latin typeface="Arial"/>
              </a:defRPr>
            </a:pPr>
            <a:r>
              <a:t>Concrete production accounts for approximately 8% of global CO2 emissions [IEA 2021]. Conventional construction uses uniform-thickness walls determined by formwork constraints, not structural need — a substantial source of wasted material.</a:t>
            </a:r>
          </a:p>
          <a:p>
            <a:pPr algn="l">
              <a:spcBef>
                <a:spcPts val="200"/>
              </a:spcBef>
              <a:spcAft>
                <a:spcPts val="200"/>
              </a:spcAft>
              <a:defRPr sz="1200" b="1" i="0">
                <a:solidFill>
                  <a:srgbClr val="0B1736"/>
                </a:solidFill>
                <a:latin typeface="Arial"/>
              </a:defRPr>
            </a:pPr>
            <a:r>
              <a:t>ADDITIVE MANUFACTURING OPPORTUNITY</a:t>
            </a:r>
          </a:p>
          <a:p>
            <a:pPr algn="l">
              <a:lnSpc>
                <a:spcPts val="1200"/>
              </a:lnSpc>
              <a:spcBef>
                <a:spcPts val="0"/>
              </a:spcBef>
              <a:spcAft>
                <a:spcPts val="300"/>
              </a:spcAft>
              <a:defRPr sz="1000" b="0" i="0">
                <a:solidFill>
                  <a:srgbClr val="0B1736"/>
                </a:solidFill>
                <a:latin typeface="Arial"/>
              </a:defRPr>
            </a:pPr>
            <a:r>
              <a:t>Large-scale 3D concrete printing (ICON, COBOD, Apis Cor) can realize arbitrary wall profiles at no marginal tooling cost. This enables topology-optimized structures that place material only where structurally required.</a:t>
            </a:r>
          </a:p>
          <a:p>
            <a:pPr algn="l">
              <a:spcBef>
                <a:spcPts val="200"/>
              </a:spcBef>
              <a:spcAft>
                <a:spcPts val="200"/>
              </a:spcAft>
              <a:defRPr sz="1200" b="1" i="0">
                <a:solidFill>
                  <a:srgbClr val="0B1736"/>
                </a:solidFill>
                <a:latin typeface="Arial"/>
              </a:defRPr>
            </a:pPr>
            <a:r>
              <a:t>THE COMPUTATIONAL BOTTLENECK</a:t>
            </a:r>
          </a:p>
          <a:p>
            <a:pPr algn="l">
              <a:lnSpc>
                <a:spcPts val="1200"/>
              </a:lnSpc>
              <a:spcBef>
                <a:spcPts val="0"/>
              </a:spcBef>
              <a:spcAft>
                <a:spcPts val="300"/>
              </a:spcAft>
              <a:defRPr sz="1000" b="0" i="0">
                <a:solidFill>
                  <a:srgbClr val="0B1736"/>
                </a:solidFill>
                <a:latin typeface="Arial"/>
              </a:defRPr>
            </a:pPr>
            <a:r>
              <a:t>Classical topology optimization (SIMP) requires 100s-1000s of FEA solves — each taking minutes to hours at building scale — making it computationally intractable. Voxel-based methods produce disconnected mesh fragments incompatible with 3D printing toolpaths.</a:t>
            </a:r>
          </a:p>
        </p:txBody>
      </p:sp>
      <p:sp>
        <p:nvSpPr>
          <p:cNvPr id="21" name="Rounded Rectangle 20"/>
          <p:cNvSpPr/>
          <p:nvPr/>
        </p:nvSpPr>
        <p:spPr>
          <a:xfrm>
            <a:off x="228600" y="14118336"/>
            <a:ext cx="10515600" cy="274320"/>
          </a:xfrm>
          <a:prstGeom prst="roundRect">
            <a:avLst>
              <a:gd name="adj" fmla="val 20000"/>
            </a:avLst>
          </a:prstGeom>
          <a:solidFill>
            <a:srgbClr val="E8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14145767"/>
            <a:ext cx="10424160" cy="219456"/>
          </a:xfrm>
          <a:prstGeom prst="rect">
            <a:avLst/>
          </a:prstGeom>
          <a:noFill/>
        </p:spPr>
        <p:txBody>
          <a:bodyPr wrap="square" lIns="18288" rIns="18288" tIns="18288" bIns="18288"/>
          <a:lstStyle/>
          <a:p>
            <a:pPr algn="ctr">
              <a:lnSpc>
                <a:spcPts val="1150"/>
              </a:lnSpc>
              <a:spcBef>
                <a:spcPts val="0"/>
              </a:spcBef>
              <a:spcAft>
                <a:spcPts val="0"/>
              </a:spcAft>
              <a:defRPr sz="1000" b="0" i="0">
                <a:solidFill>
                  <a:srgbClr val="0B1736"/>
                </a:solidFill>
                <a:latin typeface="Arial"/>
              </a:defRPr>
            </a:pPr>
            <a:r>
              <a:t>Ku = f  (linear elastic FEA: K = stiffness, u = displacement, f = forces)</a:t>
            </a:r>
          </a:p>
        </p:txBody>
      </p:sp>
      <p:sp>
        <p:nvSpPr>
          <p:cNvPr id="23" name="TextBox 22"/>
          <p:cNvSpPr txBox="1"/>
          <p:nvPr/>
        </p:nvSpPr>
        <p:spPr>
          <a:xfrm>
            <a:off x="228600" y="14438376"/>
            <a:ext cx="10515600" cy="914400"/>
          </a:xfrm>
          <a:prstGeom prst="rect">
            <a:avLst/>
          </a:prstGeom>
          <a:noFill/>
        </p:spPr>
        <p:txBody>
          <a:bodyPr wrap="square" lIns="18288" rIns="18288" tIns="18288" bIns="18288"/>
          <a:lstStyle/>
          <a:p>
            <a:pPr algn="l">
              <a:spcBef>
                <a:spcPts val="0"/>
              </a:spcBef>
              <a:spcAft>
                <a:spcPts val="0"/>
              </a:spcAft>
              <a:defRPr sz="900" b="0" i="0">
                <a:solidFill>
                  <a:srgbClr val="0B1736"/>
                </a:solidFill>
                <a:latin typeface="Arial"/>
              </a:defRPr>
            </a:pPr>
            <a:r>
              <a:t>(1) Full FEA requires 100s of computationally intensive solves (days/weeks)</a:t>
            </a:r>
          </a:p>
          <a:p>
            <a:pPr algn="l">
              <a:spcBef>
                <a:spcPts val="0"/>
              </a:spcBef>
              <a:spcAft>
                <a:spcPts val="0"/>
              </a:spcAft>
              <a:defRPr sz="900" b="0" i="0">
                <a:solidFill>
                  <a:srgbClr val="0B1736"/>
                </a:solidFill>
                <a:latin typeface="Arial"/>
              </a:defRPr>
            </a:pPr>
            <a:r>
              <a:t>(2) Models do not consider topology preservation for AM compatibility</a:t>
            </a:r>
          </a:p>
          <a:p>
            <a:pPr algn="l">
              <a:spcBef>
                <a:spcPts val="0"/>
              </a:spcBef>
              <a:spcAft>
                <a:spcPts val="100"/>
              </a:spcAft>
              <a:defRPr sz="900" b="0" i="0">
                <a:solidFill>
                  <a:srgbClr val="0B1736"/>
                </a:solidFill>
                <a:latin typeface="Arial"/>
              </a:defRPr>
            </a:pPr>
            <a:r>
              <a:t>(3) Are restricted to uniform-thickness designs, missing heterogeneous material opportunities</a:t>
            </a:r>
          </a:p>
        </p:txBody>
      </p:sp>
      <p:sp>
        <p:nvSpPr>
          <p:cNvPr id="24" name="Rounded Rectangle 23"/>
          <p:cNvSpPr/>
          <p:nvPr/>
        </p:nvSpPr>
        <p:spPr>
          <a:xfrm>
            <a:off x="137160" y="15453359"/>
            <a:ext cx="10698480" cy="457200"/>
          </a:xfrm>
          <a:prstGeom prst="roundRect">
            <a:avLst>
              <a:gd name="adj" fmla="val 12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7160" y="15453359"/>
            <a:ext cx="10698480" cy="457200"/>
          </a:xfrm>
          <a:prstGeom prst="rect">
            <a:avLst/>
          </a:prstGeom>
          <a:noFill/>
        </p:spPr>
        <p:txBody>
          <a:bodyPr wrap="none" lIns="137160" tIns="54864">
            <a:spAutoFit/>
          </a:bodyPr>
          <a:lstStyle/>
          <a:p>
            <a:pPr algn="ctr">
              <a:spcBef>
                <a:spcPts val="0"/>
              </a:spcBef>
              <a:spcAft>
                <a:spcPts val="0"/>
              </a:spcAft>
              <a:defRPr sz="2400" b="1">
                <a:solidFill>
                  <a:srgbClr val="FFFFFF"/>
                </a:solidFill>
                <a:latin typeface="Arial Black"/>
              </a:defRPr>
            </a:pPr>
            <a:r>
              <a:t>RESEARCH OBJECTIVES</a:t>
            </a:r>
          </a:p>
        </p:txBody>
      </p:sp>
      <p:sp>
        <p:nvSpPr>
          <p:cNvPr id="26" name="Rounded Rectangle 25"/>
          <p:cNvSpPr/>
          <p:nvPr/>
        </p:nvSpPr>
        <p:spPr>
          <a:xfrm>
            <a:off x="137160" y="15910559"/>
            <a:ext cx="10698480" cy="5303520"/>
          </a:xfrm>
          <a:prstGeom prst="roundRect">
            <a:avLst>
              <a:gd name="adj" fmla="val 35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8600" y="16002000"/>
            <a:ext cx="10515600" cy="2377440"/>
          </a:xfrm>
          <a:prstGeom prst="rect">
            <a:avLst/>
          </a:prstGeom>
          <a:noFill/>
        </p:spPr>
        <p:txBody>
          <a:bodyPr wrap="square" lIns="18288" rIns="18288" tIns="18288" bIns="18288"/>
          <a:lstStyle/>
          <a:p>
            <a:pPr algn="l">
              <a:lnSpc>
                <a:spcPts val="1200"/>
              </a:lnSpc>
              <a:spcBef>
                <a:spcPts val="0"/>
              </a:spcBef>
              <a:spcAft>
                <a:spcPts val="300"/>
              </a:spcAft>
              <a:defRPr sz="1000" b="0" i="0">
                <a:solidFill>
                  <a:srgbClr val="0B1736"/>
                </a:solidFill>
                <a:latin typeface="Arial"/>
              </a:defRPr>
            </a:pPr>
            <a:r>
              <a:t>ENGINEERING PROBLEM – Classical topology optimization (SIMP) at building scale requires 100s-1000s of costly FEA solves; current surrogate methods lack topology guarantees for 3D printing.</a:t>
            </a:r>
          </a:p>
          <a:p>
            <a:pPr algn="l">
              <a:lnSpc>
                <a:spcPts val="1200"/>
              </a:lnSpc>
              <a:spcBef>
                <a:spcPts val="0"/>
              </a:spcBef>
              <a:spcAft>
                <a:spcPts val="300"/>
              </a:spcAft>
              <a:defRPr sz="1000" b="0" i="0">
                <a:solidFill>
                  <a:srgbClr val="0B1736"/>
                </a:solidFill>
                <a:latin typeface="Arial"/>
              </a:defRPr>
            </a:pPr>
            <a:r>
              <a:t>RESEARCH QUESTION – Can a deep learning surrogate enable fast, printable, structurally safe topology optimization at building scale?</a:t>
            </a:r>
          </a:p>
          <a:p>
            <a:pPr algn="l">
              <a:lnSpc>
                <a:spcPts val="1200"/>
              </a:lnSpc>
              <a:spcBef>
                <a:spcPts val="0"/>
              </a:spcBef>
              <a:spcAft>
                <a:spcPts val="400"/>
              </a:spcAft>
              <a:defRPr sz="1000" b="0" i="0">
                <a:solidFill>
                  <a:srgbClr val="0B1736"/>
                </a:solidFill>
                <a:latin typeface="Arial"/>
              </a:defRPr>
            </a:pPr>
            <a:r>
              <a:t>CLAIM – This research develops SASTO: Surrogate-Accelerated Sensitivity Topology Optimization. It replaces iterative FEA with a 5-member deep ensemble providing uncertainty-aware structural predictions, enabling 23-92x faster optimization with formal mesh connectivity guarantees.</a:t>
            </a:r>
          </a:p>
        </p:txBody>
      </p:sp>
      <p:sp>
        <p:nvSpPr>
          <p:cNvPr id="28" name="Rounded Rectangle 27"/>
          <p:cNvSpPr/>
          <p:nvPr/>
        </p:nvSpPr>
        <p:spPr>
          <a:xfrm>
            <a:off x="228600" y="18470880"/>
            <a:ext cx="3444240" cy="1005840"/>
          </a:xfrm>
          <a:prstGeom prst="roundRect">
            <a:avLst>
              <a:gd name="adj" fmla="val 20000"/>
            </a:avLst>
          </a:prstGeom>
          <a:solidFill>
            <a:srgbClr val="1A3A6E"/>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8600" y="18516600"/>
            <a:ext cx="3444240" cy="228600"/>
          </a:xfrm>
          <a:prstGeom prst="rect">
            <a:avLst/>
          </a:prstGeom>
          <a:noFill/>
        </p:spPr>
        <p:txBody>
          <a:bodyPr wrap="square" lIns="18288" rIns="18288" tIns="18288" bIns="18288"/>
          <a:lstStyle/>
          <a:p>
            <a:pPr algn="ctr">
              <a:lnSpc>
                <a:spcPts val="1264"/>
              </a:lnSpc>
              <a:spcBef>
                <a:spcPts val="0"/>
              </a:spcBef>
              <a:spcAft>
                <a:spcPts val="0"/>
              </a:spcAft>
              <a:defRPr sz="1100" b="1" i="0">
                <a:solidFill>
                  <a:srgbClr val="CFA535"/>
                </a:solidFill>
                <a:latin typeface="Arial"/>
              </a:defRPr>
            </a:pPr>
            <a:r>
              <a:t>Speed:</a:t>
            </a:r>
          </a:p>
        </p:txBody>
      </p:sp>
      <p:sp>
        <p:nvSpPr>
          <p:cNvPr id="30" name="TextBox 29"/>
          <p:cNvSpPr txBox="1"/>
          <p:nvPr/>
        </p:nvSpPr>
        <p:spPr>
          <a:xfrm>
            <a:off x="274320" y="18745200"/>
            <a:ext cx="3352800" cy="685800"/>
          </a:xfrm>
          <a:prstGeom prst="rect">
            <a:avLst/>
          </a:prstGeom>
          <a:noFill/>
        </p:spPr>
        <p:txBody>
          <a:bodyPr wrap="square" lIns="18288" rIns="18288" tIns="18288" bIns="18288"/>
          <a:lstStyle/>
          <a:p>
            <a:pPr algn="ctr">
              <a:lnSpc>
                <a:spcPts val="919"/>
              </a:lnSpc>
              <a:spcBef>
                <a:spcPts val="0"/>
              </a:spcBef>
              <a:spcAft>
                <a:spcPts val="0"/>
              </a:spcAft>
              <a:defRPr sz="800" b="0" i="0">
                <a:solidFill>
                  <a:srgbClr val="FFFFFF"/>
                </a:solidFill>
                <a:latin typeface="Arial"/>
              </a:defRPr>
            </a:pPr>
            <a:r>
              <a:t>Deep ensemble surrogate</a:t>
            </a:r>
            <a:br/>
            <a:r>
              <a:t>23-92x faster than SIMP</a:t>
            </a:r>
            <a:br/>
            <a:r>
              <a:t>50s median runtime</a:t>
            </a:r>
          </a:p>
        </p:txBody>
      </p:sp>
      <p:sp>
        <p:nvSpPr>
          <p:cNvPr id="31" name="Rounded Rectangle 30"/>
          <p:cNvSpPr/>
          <p:nvPr/>
        </p:nvSpPr>
        <p:spPr>
          <a:xfrm>
            <a:off x="3764280" y="18470880"/>
            <a:ext cx="3444240" cy="1005840"/>
          </a:xfrm>
          <a:prstGeom prst="roundRect">
            <a:avLst>
              <a:gd name="adj" fmla="val 20000"/>
            </a:avLst>
          </a:prstGeom>
          <a:solidFill>
            <a:srgbClr val="1A3A6E"/>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64280" y="18516600"/>
            <a:ext cx="3444240" cy="228600"/>
          </a:xfrm>
          <a:prstGeom prst="rect">
            <a:avLst/>
          </a:prstGeom>
          <a:noFill/>
        </p:spPr>
        <p:txBody>
          <a:bodyPr wrap="square" lIns="18288" rIns="18288" tIns="18288" bIns="18288"/>
          <a:lstStyle/>
          <a:p>
            <a:pPr algn="ctr">
              <a:lnSpc>
                <a:spcPts val="1264"/>
              </a:lnSpc>
              <a:spcBef>
                <a:spcPts val="0"/>
              </a:spcBef>
              <a:spcAft>
                <a:spcPts val="0"/>
              </a:spcAft>
              <a:defRPr sz="1100" b="1" i="0">
                <a:solidFill>
                  <a:srgbClr val="CFA535"/>
                </a:solidFill>
                <a:latin typeface="Arial"/>
              </a:defRPr>
            </a:pPr>
            <a:r>
              <a:t>Printability:</a:t>
            </a:r>
          </a:p>
        </p:txBody>
      </p:sp>
      <p:sp>
        <p:nvSpPr>
          <p:cNvPr id="33" name="TextBox 32"/>
          <p:cNvSpPr txBox="1"/>
          <p:nvPr/>
        </p:nvSpPr>
        <p:spPr>
          <a:xfrm>
            <a:off x="3810000" y="18745200"/>
            <a:ext cx="3352800" cy="685800"/>
          </a:xfrm>
          <a:prstGeom prst="rect">
            <a:avLst/>
          </a:prstGeom>
          <a:noFill/>
        </p:spPr>
        <p:txBody>
          <a:bodyPr wrap="square" lIns="18288" rIns="18288" tIns="18288" bIns="18288"/>
          <a:lstStyle/>
          <a:p>
            <a:pPr algn="ctr">
              <a:lnSpc>
                <a:spcPts val="919"/>
              </a:lnSpc>
              <a:spcBef>
                <a:spcPts val="0"/>
              </a:spcBef>
              <a:spcAft>
                <a:spcPts val="0"/>
              </a:spcAft>
              <a:defRPr sz="800" b="0" i="0">
                <a:solidFill>
                  <a:srgbClr val="FFFFFF"/>
                </a:solidFill>
                <a:latin typeface="Arial"/>
              </a:defRPr>
            </a:pPr>
            <a:r>
              <a:t>6-connectivity criterion</a:t>
            </a:r>
            <a:br/>
            <a:r>
              <a:t>Single-component STL</a:t>
            </a:r>
            <a:br/>
            <a:r>
              <a:t>Watertight meshes</a:t>
            </a:r>
          </a:p>
        </p:txBody>
      </p:sp>
      <p:sp>
        <p:nvSpPr>
          <p:cNvPr id="34" name="Rounded Rectangle 33"/>
          <p:cNvSpPr/>
          <p:nvPr/>
        </p:nvSpPr>
        <p:spPr>
          <a:xfrm>
            <a:off x="7299960" y="18470880"/>
            <a:ext cx="3444240" cy="1005840"/>
          </a:xfrm>
          <a:prstGeom prst="roundRect">
            <a:avLst>
              <a:gd name="adj" fmla="val 20000"/>
            </a:avLst>
          </a:prstGeom>
          <a:solidFill>
            <a:srgbClr val="1A3A6E"/>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99960" y="18516600"/>
            <a:ext cx="3444240" cy="228600"/>
          </a:xfrm>
          <a:prstGeom prst="rect">
            <a:avLst/>
          </a:prstGeom>
          <a:noFill/>
        </p:spPr>
        <p:txBody>
          <a:bodyPr wrap="square" lIns="18288" rIns="18288" tIns="18288" bIns="18288"/>
          <a:lstStyle/>
          <a:p>
            <a:pPr algn="ctr">
              <a:lnSpc>
                <a:spcPts val="1264"/>
              </a:lnSpc>
              <a:spcBef>
                <a:spcPts val="0"/>
              </a:spcBef>
              <a:spcAft>
                <a:spcPts val="0"/>
              </a:spcAft>
              <a:defRPr sz="1100" b="1" i="0">
                <a:solidFill>
                  <a:srgbClr val="CFA535"/>
                </a:solidFill>
                <a:latin typeface="Arial"/>
              </a:defRPr>
            </a:pPr>
            <a:r>
              <a:t>Safety:</a:t>
            </a:r>
          </a:p>
        </p:txBody>
      </p:sp>
      <p:sp>
        <p:nvSpPr>
          <p:cNvPr id="36" name="TextBox 35"/>
          <p:cNvSpPr txBox="1"/>
          <p:nvPr/>
        </p:nvSpPr>
        <p:spPr>
          <a:xfrm>
            <a:off x="7345680" y="18745200"/>
            <a:ext cx="3352800" cy="685800"/>
          </a:xfrm>
          <a:prstGeom prst="rect">
            <a:avLst/>
          </a:prstGeom>
          <a:noFill/>
        </p:spPr>
        <p:txBody>
          <a:bodyPr wrap="square" lIns="18288" rIns="18288" tIns="18288" bIns="18288"/>
          <a:lstStyle/>
          <a:p>
            <a:pPr algn="ctr">
              <a:lnSpc>
                <a:spcPts val="919"/>
              </a:lnSpc>
              <a:spcBef>
                <a:spcPts val="0"/>
              </a:spcBef>
              <a:spcAft>
                <a:spcPts val="0"/>
              </a:spcAft>
              <a:defRPr sz="800" b="0" i="0">
                <a:solidFill>
                  <a:srgbClr val="FFFFFF"/>
                </a:solidFill>
                <a:latin typeface="Arial"/>
              </a:defRPr>
            </a:pPr>
            <a:r>
              <a:t>Uncertainty-aware (k=1.0)</a:t>
            </a:r>
            <a:br/>
            <a:r>
              <a:t>0/1,114 FEA violations</a:t>
            </a:r>
            <a:br/>
            <a:r>
              <a:t>P(violation) &lt;= 0.09%</a:t>
            </a:r>
          </a:p>
        </p:txBody>
      </p:sp>
      <p:sp>
        <p:nvSpPr>
          <p:cNvPr id="37" name="TextBox 36"/>
          <p:cNvSpPr txBox="1"/>
          <p:nvPr/>
        </p:nvSpPr>
        <p:spPr>
          <a:xfrm>
            <a:off x="228600" y="19568160"/>
            <a:ext cx="10515600" cy="1600200"/>
          </a:xfrm>
          <a:prstGeom prst="rect">
            <a:avLst/>
          </a:prstGeom>
          <a:noFill/>
        </p:spPr>
        <p:txBody>
          <a:bodyPr wrap="square" lIns="18288" rIns="18288" tIns="18288" bIns="18288"/>
          <a:lstStyle/>
          <a:p>
            <a:pPr algn="l">
              <a:lnSpc>
                <a:spcPts val="1100"/>
              </a:lnSpc>
              <a:spcBef>
                <a:spcPts val="200"/>
              </a:spcBef>
              <a:spcAft>
                <a:spcPts val="200"/>
              </a:spcAft>
              <a:defRPr sz="900" b="0" i="0">
                <a:solidFill>
                  <a:srgbClr val="0B1736"/>
                </a:solidFill>
                <a:latin typeface="Arial"/>
              </a:defRPr>
            </a:pPr>
            <a:r>
              <a:t>Primary Endpoints: Minimize material volume while satisfying structural constraints (stress, compliance, displacement) with zero violations across 1,114 test geometries.</a:t>
            </a:r>
          </a:p>
          <a:p>
            <a:pPr algn="l">
              <a:lnSpc>
                <a:spcPts val="1100"/>
              </a:lnSpc>
              <a:spcBef>
                <a:spcPts val="0"/>
              </a:spcBef>
              <a:spcAft>
                <a:spcPts val="200"/>
              </a:spcAft>
              <a:defRPr sz="900" b="0" i="0">
                <a:solidFill>
                  <a:srgbClr val="0B1736"/>
                </a:solidFill>
                <a:latin typeface="Arial"/>
              </a:defRPr>
            </a:pPr>
            <a:r>
              <a:t>Secondary Endpoints: Demonstrate effectiveness of deep ensemble surrogates for building-scale topology optimization.</a:t>
            </a:r>
          </a:p>
          <a:p>
            <a:pPr algn="l">
              <a:spcBef>
                <a:spcPts val="200"/>
              </a:spcBef>
              <a:spcAft>
                <a:spcPts val="100"/>
              </a:spcAft>
              <a:defRPr sz="1000" b="1" i="0">
                <a:solidFill>
                  <a:srgbClr val="0B1736"/>
                </a:solidFill>
                <a:latin typeface="Arial"/>
              </a:defRPr>
            </a:pPr>
            <a:r>
              <a:t>BRAINSTORMING A SOLUTION – How should I achieve the criteria?</a:t>
            </a:r>
          </a:p>
          <a:p>
            <a:pPr algn="l">
              <a:spcBef>
                <a:spcPts val="0"/>
              </a:spcBef>
              <a:spcAft>
                <a:spcPts val="0"/>
              </a:spcAft>
              <a:defRPr sz="900" b="0" i="0">
                <a:solidFill>
                  <a:srgbClr val="0B1736"/>
                </a:solidFill>
                <a:latin typeface="Arial"/>
              </a:defRPr>
            </a:pPr>
            <a:r>
              <a:t>• Data Generation: Wireframe-to-voxel pipeline creating 11,178 FEA simulations from 3DWire dataset.</a:t>
            </a:r>
          </a:p>
          <a:p>
            <a:pPr algn="l">
              <a:spcBef>
                <a:spcPts val="0"/>
              </a:spcBef>
              <a:spcAft>
                <a:spcPts val="0"/>
              </a:spcAft>
              <a:defRPr sz="900" b="0" i="0">
                <a:solidFill>
                  <a:srgbClr val="0B1736"/>
                </a:solidFill>
                <a:latin typeface="Arial"/>
              </a:defRPr>
            </a:pPr>
            <a:r>
              <a:t>• Surrogate Training: 5-member deep ensemble (43.8M total params) predicting stress, displacement, compliance.</a:t>
            </a:r>
          </a:p>
          <a:p>
            <a:pPr algn="l">
              <a:spcBef>
                <a:spcPts val="0"/>
              </a:spcBef>
              <a:spcAft>
                <a:spcPts val="0"/>
              </a:spcAft>
              <a:defRPr sz="900" b="0" i="0">
                <a:solidFill>
                  <a:srgbClr val="0B1736"/>
                </a:solidFill>
                <a:latin typeface="Arial"/>
              </a:defRPr>
            </a:pPr>
            <a:r>
              <a:t>• Optimization: Sensitivity-guided erosion with adaptive batch sizing + 6-connectivity preservation.</a:t>
            </a:r>
          </a:p>
          <a:p>
            <a:pPr algn="l">
              <a:spcBef>
                <a:spcPts val="0"/>
              </a:spcBef>
              <a:spcAft>
                <a:spcPts val="0"/>
              </a:spcAft>
              <a:defRPr sz="900" b="0" i="0">
                <a:solidFill>
                  <a:srgbClr val="0B1736"/>
                </a:solidFill>
                <a:latin typeface="Arial"/>
              </a:defRPr>
            </a:pPr>
            <a:r>
              <a:t>• Validation: Independent hex8 FEA re-analysis + conformal prediction bounds.</a:t>
            </a:r>
          </a:p>
        </p:txBody>
      </p:sp>
      <p:sp>
        <p:nvSpPr>
          <p:cNvPr id="38" name="Rounded Rectangle 37"/>
          <p:cNvSpPr/>
          <p:nvPr/>
        </p:nvSpPr>
        <p:spPr>
          <a:xfrm>
            <a:off x="137160" y="21268944"/>
            <a:ext cx="10698480" cy="457200"/>
          </a:xfrm>
          <a:prstGeom prst="roundRect">
            <a:avLst>
              <a:gd name="adj" fmla="val 12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7160" y="21268944"/>
            <a:ext cx="10698480" cy="457200"/>
          </a:xfrm>
          <a:prstGeom prst="rect">
            <a:avLst/>
          </a:prstGeom>
          <a:noFill/>
        </p:spPr>
        <p:txBody>
          <a:bodyPr wrap="none" lIns="137160" tIns="54864">
            <a:spAutoFit/>
          </a:bodyPr>
          <a:lstStyle/>
          <a:p>
            <a:pPr algn="ctr">
              <a:spcBef>
                <a:spcPts val="0"/>
              </a:spcBef>
              <a:spcAft>
                <a:spcPts val="0"/>
              </a:spcAft>
              <a:defRPr sz="2400" b="1">
                <a:solidFill>
                  <a:srgbClr val="FFFFFF"/>
                </a:solidFill>
                <a:latin typeface="Arial Black"/>
              </a:defRPr>
            </a:pPr>
            <a:r>
              <a:t>PROBLEM FRAMING</a:t>
            </a:r>
          </a:p>
        </p:txBody>
      </p:sp>
      <p:sp>
        <p:nvSpPr>
          <p:cNvPr id="40" name="Rounded Rectangle 39"/>
          <p:cNvSpPr/>
          <p:nvPr/>
        </p:nvSpPr>
        <p:spPr>
          <a:xfrm>
            <a:off x="137160" y="21726144"/>
            <a:ext cx="10698480" cy="11055096"/>
          </a:xfrm>
          <a:prstGeom prst="roundRect">
            <a:avLst>
              <a:gd name="adj" fmla="val 35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 3.jpg"/>
          <p:cNvPicPr>
            <a:picLocks noChangeAspect="1"/>
          </p:cNvPicPr>
          <p:nvPr/>
        </p:nvPicPr>
        <p:blipFill>
          <a:blip r:embed="rId6"/>
          <a:stretch>
            <a:fillRect/>
          </a:stretch>
        </p:blipFill>
        <p:spPr>
          <a:xfrm>
            <a:off x="1253895" y="21863303"/>
            <a:ext cx="2247089" cy="3200400"/>
          </a:xfrm>
          <a:prstGeom prst="rect">
            <a:avLst/>
          </a:prstGeom>
        </p:spPr>
      </p:pic>
      <p:sp>
        <p:nvSpPr>
          <p:cNvPr id="42" name="TextBox 41"/>
          <p:cNvSpPr txBox="1"/>
          <p:nvPr/>
        </p:nvSpPr>
        <p:spPr>
          <a:xfrm>
            <a:off x="4434840" y="21863303"/>
            <a:ext cx="6217920" cy="10780776"/>
          </a:xfrm>
          <a:prstGeom prst="rect">
            <a:avLst/>
          </a:prstGeom>
          <a:noFill/>
        </p:spPr>
        <p:txBody>
          <a:bodyPr wrap="square" lIns="18288" rIns="18288" tIns="18288" bIns="18288"/>
          <a:lstStyle/>
          <a:p>
            <a:pPr algn="l">
              <a:spcBef>
                <a:spcPts val="0"/>
              </a:spcBef>
              <a:spcAft>
                <a:spcPts val="200"/>
              </a:spcAft>
              <a:defRPr sz="1100" b="1" i="0">
                <a:solidFill>
                  <a:srgbClr val="0B1736"/>
                </a:solidFill>
                <a:latin typeface="Arial"/>
              </a:defRPr>
            </a:pPr>
            <a:r>
              <a:t>Optimization Objective</a:t>
            </a:r>
          </a:p>
          <a:p>
            <a:pPr algn="l">
              <a:spcBef>
                <a:spcPts val="0"/>
              </a:spcBef>
              <a:spcAft>
                <a:spcPts val="200"/>
              </a:spcAft>
              <a:defRPr sz="1000" b="0" i="1">
                <a:solidFill>
                  <a:srgbClr val="0B1736"/>
                </a:solidFill>
                <a:latin typeface="Arial"/>
              </a:defRPr>
            </a:pPr>
            <a:r>
              <a:t>min J(p) = wV(V/V0) + wS(S/V0) + Pconstraint(p)</a:t>
            </a:r>
          </a:p>
          <a:p>
            <a:pPr algn="l">
              <a:lnSpc>
                <a:spcPts val="1100"/>
              </a:lnSpc>
              <a:spcBef>
                <a:spcPts val="0"/>
              </a:spcBef>
              <a:spcAft>
                <a:spcPts val="300"/>
              </a:spcAft>
              <a:defRPr sz="900" b="0" i="0">
                <a:solidFill>
                  <a:srgbClr val="0B1736"/>
                </a:solidFill>
                <a:latin typeface="Arial"/>
              </a:defRPr>
            </a:pPr>
            <a:r>
              <a:t>Three-term objective: volume minimization + surface smoothness regularizer + structural penalty aggregating stress, compliance, and displacement violations.</a:t>
            </a:r>
          </a:p>
          <a:p>
            <a:pPr algn="l">
              <a:spcBef>
                <a:spcPts val="200"/>
              </a:spcBef>
              <a:spcAft>
                <a:spcPts val="200"/>
              </a:spcAft>
              <a:defRPr sz="1100" b="1" i="0">
                <a:solidFill>
                  <a:srgbClr val="0B1736"/>
                </a:solidFill>
                <a:latin typeface="Arial"/>
              </a:defRPr>
            </a:pPr>
            <a:r>
              <a:t>Sensitivity Computation</a:t>
            </a:r>
          </a:p>
          <a:p>
            <a:pPr algn="l">
              <a:spcBef>
                <a:spcPts val="0"/>
              </a:spcBef>
              <a:spcAft>
                <a:spcPts val="200"/>
              </a:spcAft>
              <a:defRPr sz="1000" b="0" i="1">
                <a:solidFill>
                  <a:srgbClr val="0B1736"/>
                </a:solidFill>
                <a:latin typeface="Arial"/>
              </a:defRPr>
            </a:pPr>
            <a:r>
              <a:t>si = (1/5) * Sum_m d/dp_i [fm(C) + 0.3 * fm(sigma)]</a:t>
            </a:r>
          </a:p>
          <a:p>
            <a:pPr algn="l">
              <a:spcBef>
                <a:spcPts val="0"/>
              </a:spcBef>
              <a:spcAft>
                <a:spcPts val="0"/>
              </a:spcAft>
              <a:defRPr sz="900" b="0" i="0">
                <a:solidFill>
                  <a:srgbClr val="008C9E"/>
                </a:solidFill>
                <a:latin typeface="Arial"/>
              </a:defRPr>
            </a:pPr>
            <a:r>
              <a:t>si &gt; 0: safe to remove (more dead-load penalty than stiffness benefit)</a:t>
            </a:r>
          </a:p>
          <a:p>
            <a:pPr algn="l">
              <a:spcBef>
                <a:spcPts val="0"/>
              </a:spcBef>
              <a:spcAft>
                <a:spcPts val="300"/>
              </a:spcAft>
              <a:defRPr sz="900" b="0" i="0">
                <a:solidFill>
                  <a:srgbClr val="D7263D"/>
                </a:solidFill>
                <a:latin typeface="Arial"/>
              </a:defRPr>
            </a:pPr>
            <a:r>
              <a:t>si &lt; 0: structurally essential (removal violates constraints)</a:t>
            </a:r>
          </a:p>
          <a:p>
            <a:pPr algn="l">
              <a:spcBef>
                <a:spcPts val="200"/>
              </a:spcBef>
              <a:spcAft>
                <a:spcPts val="200"/>
              </a:spcAft>
              <a:defRPr sz="1100" b="1" i="0">
                <a:solidFill>
                  <a:srgbClr val="0B1736"/>
                </a:solidFill>
                <a:latin typeface="Arial"/>
              </a:defRPr>
            </a:pPr>
            <a:r>
              <a:t>Part-Aware Thickness</a:t>
            </a:r>
          </a:p>
          <a:p>
            <a:pPr algn="l">
              <a:spcBef>
                <a:spcPts val="0"/>
              </a:spcBef>
              <a:spcAft>
                <a:spcPts val="0"/>
              </a:spcAft>
              <a:defRPr sz="900" b="0" i="0">
                <a:solidFill>
                  <a:srgbClr val="0B1736"/>
                </a:solidFill>
                <a:latin typeface="Arial"/>
              </a:defRPr>
            </a:pPr>
            <a:r>
              <a:t>tmin = 2*dx ~ 156mm (exterior walls, roof, floor)</a:t>
            </a:r>
          </a:p>
          <a:p>
            <a:pPr algn="l">
              <a:spcBef>
                <a:spcPts val="0"/>
              </a:spcBef>
              <a:spcAft>
                <a:spcPts val="100"/>
              </a:spcAft>
              <a:defRPr sz="900" b="0" i="0">
                <a:solidFill>
                  <a:srgbClr val="0B1736"/>
                </a:solidFill>
                <a:latin typeface="Arial"/>
              </a:defRPr>
            </a:pPr>
            <a:r>
              <a:t>tmin = 1*dx ~ 78mm  (interior walls only)</a:t>
            </a:r>
          </a:p>
          <a:p>
            <a:pPr algn="l">
              <a:spcBef>
                <a:spcPts val="0"/>
              </a:spcBef>
              <a:spcAft>
                <a:spcPts val="0"/>
              </a:spcAft>
              <a:defRPr sz="900" b="0" i="0">
                <a:solidFill>
                  <a:srgbClr val="0B1736"/>
                </a:solidFill>
                <a:latin typeface="Arial"/>
              </a:defRPr>
            </a:pPr>
            <a:r>
              <a:t>Interior partitions bear negligible load; permitting thinner walls yields 86.8% interior removal in the reference case.</a:t>
            </a:r>
          </a:p>
        </p:txBody>
      </p:sp>
      <p:sp>
        <p:nvSpPr>
          <p:cNvPr id="43" name="TextBox 42"/>
          <p:cNvSpPr txBox="1"/>
          <p:nvPr/>
        </p:nvSpPr>
        <p:spPr>
          <a:xfrm>
            <a:off x="137160" y="32552640"/>
            <a:ext cx="10698480"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Fig. 3. Building parts: exterior walls (blue), interior walls (orange), roof (green), floor (gray)</a:t>
            </a:r>
          </a:p>
        </p:txBody>
      </p:sp>
      <p:sp>
        <p:nvSpPr>
          <p:cNvPr id="44" name="Rounded Rectangle 43"/>
          <p:cNvSpPr/>
          <p:nvPr/>
        </p:nvSpPr>
        <p:spPr>
          <a:xfrm>
            <a:off x="11109960" y="2816352"/>
            <a:ext cx="21671280" cy="457200"/>
          </a:xfrm>
          <a:prstGeom prst="roundRect">
            <a:avLst>
              <a:gd name="adj" fmla="val 12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109960" y="2816352"/>
            <a:ext cx="21671280" cy="457200"/>
          </a:xfrm>
          <a:prstGeom prst="rect">
            <a:avLst/>
          </a:prstGeom>
          <a:noFill/>
        </p:spPr>
        <p:txBody>
          <a:bodyPr wrap="none" lIns="137160" tIns="54864">
            <a:spAutoFit/>
          </a:bodyPr>
          <a:lstStyle/>
          <a:p>
            <a:pPr algn="ctr">
              <a:spcBef>
                <a:spcPts val="0"/>
              </a:spcBef>
              <a:spcAft>
                <a:spcPts val="0"/>
              </a:spcAft>
              <a:defRPr sz="2400" b="1">
                <a:solidFill>
                  <a:srgbClr val="FFFFFF"/>
                </a:solidFill>
                <a:latin typeface="Arial Black"/>
              </a:defRPr>
            </a:pPr>
            <a:r>
              <a:t>ENGINEERING METHODOLOGY</a:t>
            </a:r>
          </a:p>
        </p:txBody>
      </p:sp>
      <p:sp>
        <p:nvSpPr>
          <p:cNvPr id="46" name="Rounded Rectangle 45"/>
          <p:cNvSpPr/>
          <p:nvPr/>
        </p:nvSpPr>
        <p:spPr>
          <a:xfrm>
            <a:off x="11109960" y="3273552"/>
            <a:ext cx="21671280" cy="14904720"/>
          </a:xfrm>
          <a:prstGeom prst="roundRect">
            <a:avLst>
              <a:gd name="adj" fmla="val 35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201400" y="3346704"/>
            <a:ext cx="11919204" cy="2011680"/>
          </a:xfrm>
          <a:prstGeom prst="rect">
            <a:avLst/>
          </a:prstGeom>
          <a:noFill/>
        </p:spPr>
        <p:txBody>
          <a:bodyPr wrap="square" lIns="18288" rIns="18288" tIns="18288" bIns="18288"/>
          <a:lstStyle/>
          <a:p>
            <a:pPr algn="l">
              <a:spcBef>
                <a:spcPts val="0"/>
              </a:spcBef>
              <a:spcAft>
                <a:spcPts val="100"/>
              </a:spcAft>
              <a:defRPr sz="1000" b="1" i="0">
                <a:solidFill>
                  <a:srgbClr val="0B1736"/>
                </a:solidFill>
                <a:latin typeface="Arial"/>
              </a:defRPr>
            </a:pPr>
            <a:r>
              <a:t>Overview &amp; Summary of diagrams/figures below:</a:t>
            </a:r>
          </a:p>
          <a:p>
            <a:pPr algn="l">
              <a:lnSpc>
                <a:spcPts val="1100"/>
              </a:lnSpc>
              <a:spcBef>
                <a:spcPts val="0"/>
              </a:spcBef>
              <a:spcAft>
                <a:spcPts val="100"/>
              </a:spcAft>
              <a:defRPr sz="900" b="0" i="0">
                <a:solidFill>
                  <a:srgbClr val="0B1736"/>
                </a:solidFill>
                <a:latin typeface="Arial"/>
              </a:defRPr>
            </a:pPr>
            <a:r>
              <a:t>My research methodologies were split up into four main parts: data generation, surrogate training, sensitivity optimization, and validation.</a:t>
            </a:r>
          </a:p>
          <a:p>
            <a:pPr algn="l">
              <a:spcBef>
                <a:spcPts val="0"/>
              </a:spcBef>
              <a:spcAft>
                <a:spcPts val="0"/>
              </a:spcAft>
              <a:defRPr sz="900" b="0" i="0">
                <a:solidFill>
                  <a:srgbClr val="0B1736"/>
                </a:solidFill>
                <a:latin typeface="Arial"/>
              </a:defRPr>
            </a:pPr>
            <a:r>
              <a:t>(1) First, 14,293 house wireframes from 3DWire are converted into volumetric structures via extrusion and boolean fusion.</a:t>
            </a:r>
          </a:p>
          <a:p>
            <a:pPr algn="l">
              <a:spcBef>
                <a:spcPts val="0"/>
              </a:spcBef>
              <a:spcAft>
                <a:spcPts val="0"/>
              </a:spcAft>
              <a:defRPr sz="900" b="0" i="0">
                <a:solidFill>
                  <a:srgbClr val="0B1736"/>
                </a:solidFill>
                <a:latin typeface="Arial"/>
              </a:defRPr>
            </a:pPr>
            <a:r>
              <a:t>(2) Then, each mesh is solved with FEA (SfePy) under ASCE 7-22 load combinations extracting stress, displacement, compliance.</a:t>
            </a:r>
          </a:p>
          <a:p>
            <a:pPr algn="l">
              <a:spcBef>
                <a:spcPts val="0"/>
              </a:spcBef>
              <a:spcAft>
                <a:spcPts val="0"/>
              </a:spcAft>
              <a:defRPr sz="900" b="0" i="0">
                <a:solidFill>
                  <a:srgbClr val="0B1736"/>
                </a:solidFill>
                <a:latin typeface="Arial"/>
              </a:defRPr>
            </a:pPr>
            <a:r>
              <a:t>(3) Geometries are voxelized to 128-cube grids. 11,178 valid samples are split family-aware into train/val/test.</a:t>
            </a:r>
          </a:p>
          <a:p>
            <a:pPr algn="l">
              <a:spcBef>
                <a:spcPts val="0"/>
              </a:spcBef>
              <a:spcAft>
                <a:spcPts val="0"/>
              </a:spcAft>
              <a:defRPr sz="900" b="0" i="0">
                <a:solidFill>
                  <a:srgbClr val="0B1736"/>
                </a:solidFill>
                <a:latin typeface="Arial"/>
              </a:defRPr>
            </a:pPr>
            <a:r>
              <a:t>(4) Finally, the SASTO algorithm uses the trained ensemble for sensitivity-guided erosion with adaptive batch sizing.</a:t>
            </a:r>
          </a:p>
        </p:txBody>
      </p:sp>
      <p:sp>
        <p:nvSpPr>
          <p:cNvPr id="48" name="Rounded Rectangle 47"/>
          <p:cNvSpPr/>
          <p:nvPr/>
        </p:nvSpPr>
        <p:spPr>
          <a:xfrm>
            <a:off x="23245876" y="3364992"/>
            <a:ext cx="2315260" cy="731520"/>
          </a:xfrm>
          <a:prstGeom prst="roundRect">
            <a:avLst>
              <a:gd name="adj" fmla="val 1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245876" y="3364992"/>
            <a:ext cx="2315260" cy="365760"/>
          </a:xfrm>
          <a:prstGeom prst="rect">
            <a:avLst/>
          </a:prstGeom>
          <a:noFill/>
        </p:spPr>
        <p:txBody>
          <a:bodyPr wrap="square" lIns="18288" rIns="18288" tIns="18288" bIns="18288"/>
          <a:lstStyle/>
          <a:p>
            <a:pPr algn="ctr">
              <a:lnSpc>
                <a:spcPts val="919"/>
              </a:lnSpc>
              <a:spcBef>
                <a:spcPts val="0"/>
              </a:spcBef>
              <a:spcAft>
                <a:spcPts val="0"/>
              </a:spcAft>
              <a:defRPr sz="800" b="1" i="0">
                <a:solidFill>
                  <a:srgbClr val="FFFFFF"/>
                </a:solidFill>
                <a:latin typeface="Arial"/>
              </a:defRPr>
            </a:pPr>
            <a:r>
              <a:t>Wireframe</a:t>
            </a:r>
          </a:p>
        </p:txBody>
      </p:sp>
      <p:sp>
        <p:nvSpPr>
          <p:cNvPr id="50" name="TextBox 49"/>
          <p:cNvSpPr txBox="1"/>
          <p:nvPr/>
        </p:nvSpPr>
        <p:spPr>
          <a:xfrm>
            <a:off x="23245876" y="3730752"/>
            <a:ext cx="2315260" cy="274320"/>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FFFFFF"/>
                </a:solidFill>
                <a:latin typeface="Arial"/>
              </a:defRPr>
            </a:pPr>
            <a:r>
              <a:t>Step 1</a:t>
            </a:r>
          </a:p>
        </p:txBody>
      </p:sp>
      <p:sp>
        <p:nvSpPr>
          <p:cNvPr id="51" name="TextBox 50"/>
          <p:cNvSpPr txBox="1"/>
          <p:nvPr/>
        </p:nvSpPr>
        <p:spPr>
          <a:xfrm>
            <a:off x="25542849" y="3547872"/>
            <a:ext cx="137160" cy="274320"/>
          </a:xfrm>
          <a:prstGeom prst="rect">
            <a:avLst/>
          </a:prstGeom>
          <a:noFill/>
        </p:spPr>
        <p:txBody>
          <a:bodyPr wrap="square" lIns="18288" rIns="18288" tIns="18288" bIns="18288"/>
          <a:lstStyle/>
          <a:p>
            <a:pPr algn="ctr">
              <a:lnSpc>
                <a:spcPts val="1150"/>
              </a:lnSpc>
              <a:spcBef>
                <a:spcPts val="0"/>
              </a:spcBef>
              <a:spcAft>
                <a:spcPts val="0"/>
              </a:spcAft>
              <a:defRPr sz="1000" b="0" i="0">
                <a:solidFill>
                  <a:srgbClr val="CFA535"/>
                </a:solidFill>
                <a:latin typeface="Arial"/>
              </a:defRPr>
            </a:pPr>
            <a:r>
              <a:t>▶</a:t>
            </a:r>
          </a:p>
        </p:txBody>
      </p:sp>
      <p:sp>
        <p:nvSpPr>
          <p:cNvPr id="52" name="Rounded Rectangle 51"/>
          <p:cNvSpPr/>
          <p:nvPr/>
        </p:nvSpPr>
        <p:spPr>
          <a:xfrm>
            <a:off x="25606857" y="3364992"/>
            <a:ext cx="2315260" cy="731520"/>
          </a:xfrm>
          <a:prstGeom prst="roundRect">
            <a:avLst>
              <a:gd name="adj" fmla="val 1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606857" y="3364992"/>
            <a:ext cx="2315260" cy="365760"/>
          </a:xfrm>
          <a:prstGeom prst="rect">
            <a:avLst/>
          </a:prstGeom>
          <a:noFill/>
        </p:spPr>
        <p:txBody>
          <a:bodyPr wrap="square" lIns="18288" rIns="18288" tIns="18288" bIns="18288"/>
          <a:lstStyle/>
          <a:p>
            <a:pPr algn="ctr">
              <a:lnSpc>
                <a:spcPts val="919"/>
              </a:lnSpc>
              <a:spcBef>
                <a:spcPts val="0"/>
              </a:spcBef>
              <a:spcAft>
                <a:spcPts val="0"/>
              </a:spcAft>
              <a:defRPr sz="800" b="1" i="0">
                <a:solidFill>
                  <a:srgbClr val="FFFFFF"/>
                </a:solidFill>
                <a:latin typeface="Arial"/>
              </a:defRPr>
            </a:pPr>
            <a:r>
              <a:t>Volumetric</a:t>
            </a:r>
          </a:p>
        </p:txBody>
      </p:sp>
      <p:sp>
        <p:nvSpPr>
          <p:cNvPr id="54" name="TextBox 53"/>
          <p:cNvSpPr txBox="1"/>
          <p:nvPr/>
        </p:nvSpPr>
        <p:spPr>
          <a:xfrm>
            <a:off x="25606857" y="3730752"/>
            <a:ext cx="2315260" cy="274320"/>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FFFFFF"/>
                </a:solidFill>
                <a:latin typeface="Arial"/>
              </a:defRPr>
            </a:pPr>
            <a:r>
              <a:t>Step 2</a:t>
            </a:r>
          </a:p>
        </p:txBody>
      </p:sp>
      <p:sp>
        <p:nvSpPr>
          <p:cNvPr id="55" name="TextBox 54"/>
          <p:cNvSpPr txBox="1"/>
          <p:nvPr/>
        </p:nvSpPr>
        <p:spPr>
          <a:xfrm>
            <a:off x="27903830" y="3547872"/>
            <a:ext cx="137160" cy="274320"/>
          </a:xfrm>
          <a:prstGeom prst="rect">
            <a:avLst/>
          </a:prstGeom>
          <a:noFill/>
        </p:spPr>
        <p:txBody>
          <a:bodyPr wrap="square" lIns="18288" rIns="18288" tIns="18288" bIns="18288"/>
          <a:lstStyle/>
          <a:p>
            <a:pPr algn="ctr">
              <a:lnSpc>
                <a:spcPts val="1150"/>
              </a:lnSpc>
              <a:spcBef>
                <a:spcPts val="0"/>
              </a:spcBef>
              <a:spcAft>
                <a:spcPts val="0"/>
              </a:spcAft>
              <a:defRPr sz="1000" b="0" i="0">
                <a:solidFill>
                  <a:srgbClr val="CFA535"/>
                </a:solidFill>
                <a:latin typeface="Arial"/>
              </a:defRPr>
            </a:pPr>
            <a:r>
              <a:t>▶</a:t>
            </a:r>
          </a:p>
        </p:txBody>
      </p:sp>
      <p:sp>
        <p:nvSpPr>
          <p:cNvPr id="56" name="Rounded Rectangle 55"/>
          <p:cNvSpPr/>
          <p:nvPr/>
        </p:nvSpPr>
        <p:spPr>
          <a:xfrm>
            <a:off x="27967838" y="3364992"/>
            <a:ext cx="2315260" cy="731520"/>
          </a:xfrm>
          <a:prstGeom prst="roundRect">
            <a:avLst>
              <a:gd name="adj" fmla="val 1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7967838" y="3364992"/>
            <a:ext cx="2315260" cy="365760"/>
          </a:xfrm>
          <a:prstGeom prst="rect">
            <a:avLst/>
          </a:prstGeom>
          <a:noFill/>
        </p:spPr>
        <p:txBody>
          <a:bodyPr wrap="square" lIns="18288" rIns="18288" tIns="18288" bIns="18288"/>
          <a:lstStyle/>
          <a:p>
            <a:pPr algn="ctr">
              <a:lnSpc>
                <a:spcPts val="919"/>
              </a:lnSpc>
              <a:spcBef>
                <a:spcPts val="0"/>
              </a:spcBef>
              <a:spcAft>
                <a:spcPts val="0"/>
              </a:spcAft>
              <a:defRPr sz="800" b="1" i="0">
                <a:solidFill>
                  <a:srgbClr val="FFFFFF"/>
                </a:solidFill>
                <a:latin typeface="Arial"/>
              </a:defRPr>
            </a:pPr>
            <a:r>
              <a:t>FEA + Train</a:t>
            </a:r>
          </a:p>
        </p:txBody>
      </p:sp>
      <p:sp>
        <p:nvSpPr>
          <p:cNvPr id="58" name="TextBox 57"/>
          <p:cNvSpPr txBox="1"/>
          <p:nvPr/>
        </p:nvSpPr>
        <p:spPr>
          <a:xfrm>
            <a:off x="27967838" y="3730752"/>
            <a:ext cx="2315260" cy="274320"/>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FFFFFF"/>
                </a:solidFill>
                <a:latin typeface="Arial"/>
              </a:defRPr>
            </a:pPr>
            <a:r>
              <a:t>Step 3</a:t>
            </a:r>
          </a:p>
        </p:txBody>
      </p:sp>
      <p:sp>
        <p:nvSpPr>
          <p:cNvPr id="59" name="TextBox 58"/>
          <p:cNvSpPr txBox="1"/>
          <p:nvPr/>
        </p:nvSpPr>
        <p:spPr>
          <a:xfrm>
            <a:off x="30264811" y="3547872"/>
            <a:ext cx="137160" cy="274320"/>
          </a:xfrm>
          <a:prstGeom prst="rect">
            <a:avLst/>
          </a:prstGeom>
          <a:noFill/>
        </p:spPr>
        <p:txBody>
          <a:bodyPr wrap="square" lIns="18288" rIns="18288" tIns="18288" bIns="18288"/>
          <a:lstStyle/>
          <a:p>
            <a:pPr algn="ctr">
              <a:lnSpc>
                <a:spcPts val="1150"/>
              </a:lnSpc>
              <a:spcBef>
                <a:spcPts val="0"/>
              </a:spcBef>
              <a:spcAft>
                <a:spcPts val="0"/>
              </a:spcAft>
              <a:defRPr sz="1000" b="0" i="0">
                <a:solidFill>
                  <a:srgbClr val="CFA535"/>
                </a:solidFill>
                <a:latin typeface="Arial"/>
              </a:defRPr>
            </a:pPr>
            <a:r>
              <a:t>▶</a:t>
            </a:r>
          </a:p>
        </p:txBody>
      </p:sp>
      <p:sp>
        <p:nvSpPr>
          <p:cNvPr id="60" name="Rounded Rectangle 59"/>
          <p:cNvSpPr/>
          <p:nvPr/>
        </p:nvSpPr>
        <p:spPr>
          <a:xfrm>
            <a:off x="30328819" y="3364992"/>
            <a:ext cx="2315260" cy="731520"/>
          </a:xfrm>
          <a:prstGeom prst="roundRect">
            <a:avLst>
              <a:gd name="adj" fmla="val 1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0328819" y="3364992"/>
            <a:ext cx="2315260" cy="365760"/>
          </a:xfrm>
          <a:prstGeom prst="rect">
            <a:avLst/>
          </a:prstGeom>
          <a:noFill/>
        </p:spPr>
        <p:txBody>
          <a:bodyPr wrap="square" lIns="18288" rIns="18288" tIns="18288" bIns="18288"/>
          <a:lstStyle/>
          <a:p>
            <a:pPr algn="ctr">
              <a:lnSpc>
                <a:spcPts val="919"/>
              </a:lnSpc>
              <a:spcBef>
                <a:spcPts val="0"/>
              </a:spcBef>
              <a:spcAft>
                <a:spcPts val="0"/>
              </a:spcAft>
              <a:defRPr sz="800" b="1" i="0">
                <a:solidFill>
                  <a:srgbClr val="FFFFFF"/>
                </a:solidFill>
                <a:latin typeface="Arial"/>
              </a:defRPr>
            </a:pPr>
            <a:r>
              <a:t>Optimize</a:t>
            </a:r>
          </a:p>
        </p:txBody>
      </p:sp>
      <p:sp>
        <p:nvSpPr>
          <p:cNvPr id="62" name="TextBox 61"/>
          <p:cNvSpPr txBox="1"/>
          <p:nvPr/>
        </p:nvSpPr>
        <p:spPr>
          <a:xfrm>
            <a:off x="30328819" y="3730752"/>
            <a:ext cx="2315260" cy="274320"/>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FFFFFF"/>
                </a:solidFill>
                <a:latin typeface="Arial"/>
              </a:defRPr>
            </a:pPr>
            <a:r>
              <a:t>Step 4</a:t>
            </a:r>
          </a:p>
        </p:txBody>
      </p:sp>
      <p:sp>
        <p:nvSpPr>
          <p:cNvPr id="63" name="TextBox 62"/>
          <p:cNvSpPr txBox="1"/>
          <p:nvPr/>
        </p:nvSpPr>
        <p:spPr>
          <a:xfrm>
            <a:off x="11201400" y="5422392"/>
            <a:ext cx="10675620" cy="201168"/>
          </a:xfrm>
          <a:prstGeom prst="rect">
            <a:avLst/>
          </a:prstGeom>
          <a:noFill/>
        </p:spPr>
        <p:txBody>
          <a:bodyPr wrap="square" lIns="18288" rIns="18288" tIns="18288" bIns="18288"/>
          <a:lstStyle/>
          <a:p>
            <a:pPr algn="l">
              <a:lnSpc>
                <a:spcPts val="1264"/>
              </a:lnSpc>
              <a:spcBef>
                <a:spcPts val="0"/>
              </a:spcBef>
              <a:spcAft>
                <a:spcPts val="0"/>
              </a:spcAft>
              <a:defRPr sz="1100" b="1" i="0">
                <a:solidFill>
                  <a:srgbClr val="0B1736"/>
                </a:solidFill>
                <a:latin typeface="Arial"/>
              </a:defRPr>
            </a:pPr>
            <a:r>
              <a:t>Data Generation Pipeline</a:t>
            </a:r>
          </a:p>
        </p:txBody>
      </p:sp>
      <p:pic>
        <p:nvPicPr>
          <p:cNvPr id="64" name="Picture 63" descr="Image 4.png"/>
          <p:cNvPicPr>
            <a:picLocks noChangeAspect="1"/>
          </p:cNvPicPr>
          <p:nvPr/>
        </p:nvPicPr>
        <p:blipFill>
          <a:blip r:embed="rId7"/>
          <a:stretch>
            <a:fillRect/>
          </a:stretch>
        </p:blipFill>
        <p:spPr>
          <a:xfrm>
            <a:off x="11201400" y="6325674"/>
            <a:ext cx="2600325" cy="479434"/>
          </a:xfrm>
          <a:prstGeom prst="rect">
            <a:avLst/>
          </a:prstGeom>
        </p:spPr>
      </p:pic>
      <p:pic>
        <p:nvPicPr>
          <p:cNvPr id="65" name="Picture 64" descr="Image 6.jpg"/>
          <p:cNvPicPr>
            <a:picLocks noChangeAspect="1"/>
          </p:cNvPicPr>
          <p:nvPr/>
        </p:nvPicPr>
        <p:blipFill>
          <a:blip r:embed="rId8"/>
          <a:stretch>
            <a:fillRect/>
          </a:stretch>
        </p:blipFill>
        <p:spPr>
          <a:xfrm>
            <a:off x="13856589" y="5815298"/>
            <a:ext cx="2600325" cy="1500187"/>
          </a:xfrm>
          <a:prstGeom prst="rect">
            <a:avLst/>
          </a:prstGeom>
        </p:spPr>
      </p:pic>
      <p:pic>
        <p:nvPicPr>
          <p:cNvPr id="66" name="Picture 65" descr="Image 5.jpg"/>
          <p:cNvPicPr>
            <a:picLocks noChangeAspect="1"/>
          </p:cNvPicPr>
          <p:nvPr/>
        </p:nvPicPr>
        <p:blipFill>
          <a:blip r:embed="rId9"/>
          <a:stretch>
            <a:fillRect/>
          </a:stretch>
        </p:blipFill>
        <p:spPr>
          <a:xfrm>
            <a:off x="16874094" y="5650992"/>
            <a:ext cx="1875692" cy="1828800"/>
          </a:xfrm>
          <a:prstGeom prst="rect">
            <a:avLst/>
          </a:prstGeom>
        </p:spPr>
      </p:pic>
      <p:pic>
        <p:nvPicPr>
          <p:cNvPr id="67" name="Picture 66" descr="Image 3.jpg"/>
          <p:cNvPicPr>
            <a:picLocks noChangeAspect="1"/>
          </p:cNvPicPr>
          <p:nvPr/>
        </p:nvPicPr>
        <p:blipFill>
          <a:blip r:embed="rId6"/>
          <a:stretch>
            <a:fillRect/>
          </a:stretch>
        </p:blipFill>
        <p:spPr>
          <a:xfrm>
            <a:off x="19825103" y="5650992"/>
            <a:ext cx="1284051" cy="1828800"/>
          </a:xfrm>
          <a:prstGeom prst="rect">
            <a:avLst/>
          </a:prstGeom>
        </p:spPr>
      </p:pic>
      <p:sp>
        <p:nvSpPr>
          <p:cNvPr id="68" name="TextBox 67"/>
          <p:cNvSpPr txBox="1"/>
          <p:nvPr/>
        </p:nvSpPr>
        <p:spPr>
          <a:xfrm>
            <a:off x="11201400" y="7525512"/>
            <a:ext cx="10675620" cy="594360"/>
          </a:xfrm>
          <a:prstGeom prst="rect">
            <a:avLst/>
          </a:prstGeom>
          <a:noFill/>
        </p:spPr>
        <p:txBody>
          <a:bodyPr wrap="square" lIns="18288" rIns="18288" tIns="18288" bIns="18288"/>
          <a:lstStyle/>
          <a:p>
            <a:pPr algn="l">
              <a:spcBef>
                <a:spcPts val="0"/>
              </a:spcBef>
              <a:spcAft>
                <a:spcPts val="0"/>
              </a:spcAft>
              <a:defRPr sz="800" b="0" i="0">
                <a:solidFill>
                  <a:srgbClr val="0B1736"/>
                </a:solidFill>
                <a:latin typeface="Arial"/>
              </a:defRPr>
            </a:pPr>
            <a:r>
              <a:t>14,293 wireframes -&gt; 11,178 valid FEA simulations</a:t>
            </a:r>
          </a:p>
          <a:p>
            <a:pPr algn="l">
              <a:spcBef>
                <a:spcPts val="0"/>
              </a:spcBef>
              <a:spcAft>
                <a:spcPts val="0"/>
              </a:spcAft>
              <a:defRPr sz="800" b="1" i="0">
                <a:solidFill>
                  <a:srgbClr val="0B1736"/>
                </a:solidFill>
                <a:latin typeface="Arial"/>
              </a:defRPr>
            </a:pPr>
            <a:r>
              <a:t>Train: 8,943 | Val: 1,121 | Test: 1,114</a:t>
            </a:r>
          </a:p>
          <a:p>
            <a:pPr algn="l">
              <a:spcBef>
                <a:spcPts val="0"/>
              </a:spcBef>
              <a:spcAft>
                <a:spcPts val="0"/>
              </a:spcAft>
              <a:defRPr sz="800" b="0" i="0">
                <a:solidFill>
                  <a:srgbClr val="0B1736"/>
                </a:solidFill>
                <a:latin typeface="Arial"/>
              </a:defRPr>
            </a:pPr>
            <a:r>
              <a:t>Targets: peak VM stress, max displacement, compliance</a:t>
            </a:r>
          </a:p>
        </p:txBody>
      </p:sp>
      <p:sp>
        <p:nvSpPr>
          <p:cNvPr id="69" name="TextBox 68"/>
          <p:cNvSpPr txBox="1"/>
          <p:nvPr/>
        </p:nvSpPr>
        <p:spPr>
          <a:xfrm>
            <a:off x="22014180" y="5422392"/>
            <a:ext cx="10675620" cy="201168"/>
          </a:xfrm>
          <a:prstGeom prst="rect">
            <a:avLst/>
          </a:prstGeom>
          <a:noFill/>
        </p:spPr>
        <p:txBody>
          <a:bodyPr wrap="square" lIns="18288" rIns="18288" tIns="18288" bIns="18288"/>
          <a:lstStyle/>
          <a:p>
            <a:pPr algn="l">
              <a:lnSpc>
                <a:spcPts val="1264"/>
              </a:lnSpc>
              <a:spcBef>
                <a:spcPts val="0"/>
              </a:spcBef>
              <a:spcAft>
                <a:spcPts val="0"/>
              </a:spcAft>
              <a:defRPr sz="1100" b="1" i="0">
                <a:solidFill>
                  <a:srgbClr val="0B1736"/>
                </a:solidFill>
                <a:latin typeface="Arial"/>
              </a:defRPr>
            </a:pPr>
            <a:r>
              <a:t>Deep Ensemble Surrogate (5 x 8.76M params)</a:t>
            </a:r>
          </a:p>
        </p:txBody>
      </p:sp>
      <p:pic>
        <p:nvPicPr>
          <p:cNvPr id="70" name="Picture 69" descr="Image 7.jpg"/>
          <p:cNvPicPr>
            <a:picLocks noChangeAspect="1"/>
          </p:cNvPicPr>
          <p:nvPr/>
        </p:nvPicPr>
        <p:blipFill>
          <a:blip r:embed="rId10"/>
          <a:stretch>
            <a:fillRect/>
          </a:stretch>
        </p:blipFill>
        <p:spPr>
          <a:xfrm>
            <a:off x="26558290" y="5650992"/>
            <a:ext cx="1587398" cy="2560320"/>
          </a:xfrm>
          <a:prstGeom prst="rect">
            <a:avLst/>
          </a:prstGeom>
        </p:spPr>
      </p:pic>
      <p:sp>
        <p:nvSpPr>
          <p:cNvPr id="71" name="TextBox 70"/>
          <p:cNvSpPr txBox="1"/>
          <p:nvPr/>
        </p:nvSpPr>
        <p:spPr>
          <a:xfrm>
            <a:off x="22014180" y="8257031"/>
            <a:ext cx="10675620" cy="1005840"/>
          </a:xfrm>
          <a:prstGeom prst="rect">
            <a:avLst/>
          </a:prstGeom>
          <a:noFill/>
        </p:spPr>
        <p:txBody>
          <a:bodyPr wrap="square" lIns="18288" rIns="18288" tIns="18288" bIns="18288"/>
          <a:lstStyle/>
          <a:p>
            <a:pPr algn="l">
              <a:spcBef>
                <a:spcPts val="0"/>
              </a:spcBef>
              <a:spcAft>
                <a:spcPts val="100"/>
              </a:spcAft>
              <a:defRPr sz="900" b="1" i="0">
                <a:solidFill>
                  <a:srgbClr val="0B1736"/>
                </a:solidFill>
                <a:latin typeface="Arial"/>
              </a:defRPr>
            </a:pPr>
            <a:r>
              <a:t>Starting Model Architecture (~19 layers)</a:t>
            </a:r>
          </a:p>
          <a:p>
            <a:pPr algn="l">
              <a:spcBef>
                <a:spcPts val="0"/>
              </a:spcBef>
              <a:spcAft>
                <a:spcPts val="0"/>
              </a:spcAft>
              <a:defRPr sz="800" b="0" i="0">
                <a:solidFill>
                  <a:srgbClr val="0B1736"/>
                </a:solidFill>
                <a:latin typeface="Arial"/>
              </a:defRPr>
            </a:pPr>
            <a:r>
              <a:t>7ch x 128-cube input -&gt; 4 conv stages (BN+GELU)</a:t>
            </a:r>
          </a:p>
          <a:p>
            <a:pPr algn="l">
              <a:spcBef>
                <a:spcPts val="0"/>
              </a:spcBef>
              <a:spcAft>
                <a:spcPts val="0"/>
              </a:spcAft>
              <a:defRPr sz="800" b="0" i="0">
                <a:solidFill>
                  <a:srgbClr val="0B1736"/>
                </a:solidFill>
                <a:latin typeface="Arial"/>
              </a:defRPr>
            </a:pPr>
            <a:r>
              <a:t>-&gt; 3 SE-ResBlocks -&gt; Dual pool (avg+max) -&gt; 512d</a:t>
            </a:r>
          </a:p>
          <a:p>
            <a:pPr algn="l">
              <a:spcBef>
                <a:spcPts val="0"/>
              </a:spcBef>
              <a:spcAft>
                <a:spcPts val="0"/>
              </a:spcAft>
              <a:defRPr sz="800" b="0" i="0">
                <a:solidFill>
                  <a:srgbClr val="0B1736"/>
                </a:solidFill>
                <a:latin typeface="Arial"/>
              </a:defRPr>
            </a:pPr>
            <a:r>
              <a:t>-&gt; concat 128d features -&gt; 640-&gt;512-&gt;256-&gt;3 outputs</a:t>
            </a:r>
          </a:p>
          <a:p>
            <a:pPr algn="l">
              <a:spcBef>
                <a:spcPts val="0"/>
              </a:spcBef>
              <a:spcAft>
                <a:spcPts val="0"/>
              </a:spcAft>
              <a:defRPr sz="800" b="0" i="0">
                <a:solidFill>
                  <a:srgbClr val="0B1736"/>
                </a:solidFill>
                <a:latin typeface="Arial"/>
              </a:defRPr>
            </a:pPr>
            <a:r>
              <a:t>Loss: Huber | Opt: AdamW lr=5e-4 | Aug: 90deg rot, flips</a:t>
            </a:r>
          </a:p>
        </p:txBody>
      </p:sp>
      <p:sp>
        <p:nvSpPr>
          <p:cNvPr id="72" name="TextBox 71"/>
          <p:cNvSpPr txBox="1"/>
          <p:nvPr/>
        </p:nvSpPr>
        <p:spPr>
          <a:xfrm>
            <a:off x="11201400" y="8439912"/>
            <a:ext cx="10675620" cy="201168"/>
          </a:xfrm>
          <a:prstGeom prst="rect">
            <a:avLst/>
          </a:prstGeom>
          <a:noFill/>
        </p:spPr>
        <p:txBody>
          <a:bodyPr wrap="square" lIns="18288" rIns="18288" tIns="18288" bIns="18288"/>
          <a:lstStyle/>
          <a:p>
            <a:pPr algn="l">
              <a:lnSpc>
                <a:spcPts val="1264"/>
              </a:lnSpc>
              <a:spcBef>
                <a:spcPts val="0"/>
              </a:spcBef>
              <a:spcAft>
                <a:spcPts val="0"/>
              </a:spcAft>
              <a:defRPr sz="1100" b="1" i="0">
                <a:solidFill>
                  <a:srgbClr val="0B1736"/>
                </a:solidFill>
                <a:latin typeface="Arial"/>
              </a:defRPr>
            </a:pPr>
            <a:r>
              <a:t>SASTO Algorithm (Sensitivity-Guided Erosion)</a:t>
            </a:r>
          </a:p>
        </p:txBody>
      </p:sp>
      <p:pic>
        <p:nvPicPr>
          <p:cNvPr id="73" name="Picture 72" descr="Image 8.jpg"/>
          <p:cNvPicPr>
            <a:picLocks noChangeAspect="1"/>
          </p:cNvPicPr>
          <p:nvPr/>
        </p:nvPicPr>
        <p:blipFill>
          <a:blip r:embed="rId11"/>
          <a:stretch>
            <a:fillRect/>
          </a:stretch>
        </p:blipFill>
        <p:spPr>
          <a:xfrm>
            <a:off x="13262000" y="8668512"/>
            <a:ext cx="6554419" cy="2926080"/>
          </a:xfrm>
          <a:prstGeom prst="rect">
            <a:avLst/>
          </a:prstGeom>
        </p:spPr>
      </p:pic>
      <p:sp>
        <p:nvSpPr>
          <p:cNvPr id="74" name="TextBox 73"/>
          <p:cNvSpPr txBox="1"/>
          <p:nvPr/>
        </p:nvSpPr>
        <p:spPr>
          <a:xfrm>
            <a:off x="11201400" y="11640312"/>
            <a:ext cx="10675620" cy="2011680"/>
          </a:xfrm>
          <a:prstGeom prst="rect">
            <a:avLst/>
          </a:prstGeom>
          <a:noFill/>
        </p:spPr>
        <p:txBody>
          <a:bodyPr wrap="square" lIns="18288" rIns="18288" tIns="18288" bIns="18288"/>
          <a:lstStyle/>
          <a:p>
            <a:pPr algn="l">
              <a:spcBef>
                <a:spcPts val="0"/>
              </a:spcBef>
              <a:spcAft>
                <a:spcPts val="0"/>
              </a:spcAft>
              <a:defRPr sz="900" b="1" i="0">
                <a:solidFill>
                  <a:srgbClr val="008C9E"/>
                </a:solidFill>
                <a:latin typeface="Arial"/>
              </a:defRPr>
            </a:pPr>
            <a:r>
              <a:t>Phase 1: Sensitivity-Guided Erosion (&gt;99% of removal)</a:t>
            </a:r>
          </a:p>
          <a:p>
            <a:pPr algn="l">
              <a:spcBef>
                <a:spcPts val="0"/>
              </a:spcBef>
              <a:spcAft>
                <a:spcPts val="0"/>
              </a:spcAft>
              <a:defRPr sz="800" b="0" i="0">
                <a:solidFill>
                  <a:srgbClr val="0B1736"/>
                </a:solidFill>
                <a:latin typeface="Arial"/>
              </a:defRPr>
            </a:pPr>
            <a:r>
              <a:t>• Compute distance transform, identify interior surface voxels with depth &gt; tmin(p)</a:t>
            </a:r>
          </a:p>
          <a:p>
            <a:pPr algn="l">
              <a:spcBef>
                <a:spcPts val="0"/>
              </a:spcBef>
              <a:spcAft>
                <a:spcPts val="0"/>
              </a:spcAft>
              <a:defRPr sz="800" b="0" i="0">
                <a:solidFill>
                  <a:srgbClr val="0B1736"/>
                </a:solidFill>
                <a:latin typeface="Arial"/>
              </a:defRPr>
            </a:pPr>
            <a:r>
              <a:t>• Backpropagate through ensemble: rank voxels by sensitivity si</a:t>
            </a:r>
          </a:p>
          <a:p>
            <a:pPr algn="l">
              <a:spcBef>
                <a:spcPts val="0"/>
              </a:spcBef>
              <a:spcAft>
                <a:spcPts val="0"/>
              </a:spcAft>
              <a:defRPr sz="800" b="0" i="0">
                <a:solidFill>
                  <a:srgbClr val="0B1736"/>
                </a:solidFill>
                <a:latin typeface="Arial"/>
              </a:defRPr>
            </a:pPr>
            <a:r>
              <a:t>• Select batch of 6-simple-point (topology-safe) voxels</a:t>
            </a:r>
          </a:p>
          <a:p>
            <a:pPr algn="l">
              <a:spcBef>
                <a:spcPts val="0"/>
              </a:spcBef>
              <a:spcAft>
                <a:spcPts val="0"/>
              </a:spcAft>
              <a:defRPr sz="800" b="0" i="0">
                <a:solidFill>
                  <a:srgbClr val="0B1736"/>
                </a:solidFill>
                <a:latin typeface="Arial"/>
              </a:defRPr>
            </a:pPr>
            <a:r>
              <a:t>• Tentatively remove -&gt; query ensemble for mu, sigma -&gt; check mu + k*sigma bounds</a:t>
            </a:r>
          </a:p>
          <a:p>
            <a:pPr algn="l">
              <a:spcBef>
                <a:spcPts val="0"/>
              </a:spcBef>
              <a:spcAft>
                <a:spcPts val="0"/>
              </a:spcAft>
              <a:defRPr sz="800" b="0" i="0">
                <a:solidFill>
                  <a:srgbClr val="0B1736"/>
                </a:solidFill>
                <a:latin typeface="Arial"/>
              </a:defRPr>
            </a:pPr>
            <a:r>
              <a:t>• If constraints satisfied: commit. If not: undo + halve batch (trust-region)</a:t>
            </a:r>
          </a:p>
          <a:p>
            <a:pPr algn="l">
              <a:spcBef>
                <a:spcPts val="100"/>
              </a:spcBef>
              <a:spcAft>
                <a:spcPts val="0"/>
              </a:spcAft>
              <a:defRPr sz="900" b="1" i="0">
                <a:solidFill>
                  <a:srgbClr val="CFA535"/>
                </a:solidFill>
                <a:latin typeface="Arial"/>
              </a:defRPr>
            </a:pPr>
            <a:r>
              <a:t>Phase 2: Endgame (B=5, then 1) | Phase 3: Swap Moves</a:t>
            </a:r>
          </a:p>
          <a:p>
            <a:pPr algn="l">
              <a:spcBef>
                <a:spcPts val="0"/>
              </a:spcBef>
              <a:spcAft>
                <a:spcPts val="0"/>
              </a:spcAft>
              <a:defRPr sz="800" b="0" i="0">
                <a:solidFill>
                  <a:srgbClr val="0B1736"/>
                </a:solidFill>
                <a:latin typeface="Arial"/>
              </a:defRPr>
            </a:pPr>
            <a:r>
              <a:t>Post-process: fill pockets -&gt; SDF -&gt; Marching Cubes -&gt; watertight STL</a:t>
            </a:r>
          </a:p>
        </p:txBody>
      </p:sp>
      <p:sp>
        <p:nvSpPr>
          <p:cNvPr id="75" name="TextBox 74"/>
          <p:cNvSpPr txBox="1"/>
          <p:nvPr/>
        </p:nvSpPr>
        <p:spPr>
          <a:xfrm>
            <a:off x="22014180" y="8439912"/>
            <a:ext cx="10675620" cy="201168"/>
          </a:xfrm>
          <a:prstGeom prst="rect">
            <a:avLst/>
          </a:prstGeom>
          <a:noFill/>
        </p:spPr>
        <p:txBody>
          <a:bodyPr wrap="square" lIns="18288" rIns="18288" tIns="18288" bIns="18288"/>
          <a:lstStyle/>
          <a:p>
            <a:pPr algn="l">
              <a:lnSpc>
                <a:spcPts val="1264"/>
              </a:lnSpc>
              <a:spcBef>
                <a:spcPts val="0"/>
              </a:spcBef>
              <a:spcAft>
                <a:spcPts val="0"/>
              </a:spcAft>
              <a:defRPr sz="1100" b="1" i="0">
                <a:solidFill>
                  <a:srgbClr val="0B1736"/>
                </a:solidFill>
                <a:latin typeface="Arial"/>
              </a:defRPr>
            </a:pPr>
            <a:r>
              <a:t>Topology Preservation: 6-Connectivity</a:t>
            </a:r>
          </a:p>
        </p:txBody>
      </p:sp>
      <p:pic>
        <p:nvPicPr>
          <p:cNvPr id="76" name="Picture 75" descr="Image 9.jpg"/>
          <p:cNvPicPr>
            <a:picLocks noChangeAspect="1"/>
          </p:cNvPicPr>
          <p:nvPr/>
        </p:nvPicPr>
        <p:blipFill>
          <a:blip r:embed="rId12"/>
          <a:stretch>
            <a:fillRect/>
          </a:stretch>
        </p:blipFill>
        <p:spPr>
          <a:xfrm>
            <a:off x="23283545" y="8668512"/>
            <a:ext cx="2730500" cy="2286000"/>
          </a:xfrm>
          <a:prstGeom prst="rect">
            <a:avLst/>
          </a:prstGeom>
        </p:spPr>
      </p:pic>
      <p:pic>
        <p:nvPicPr>
          <p:cNvPr id="77" name="Picture 76" descr="Image 0.jpg"/>
          <p:cNvPicPr>
            <a:picLocks noChangeAspect="1"/>
          </p:cNvPicPr>
          <p:nvPr/>
        </p:nvPicPr>
        <p:blipFill>
          <a:blip r:embed="rId2"/>
          <a:stretch>
            <a:fillRect/>
          </a:stretch>
        </p:blipFill>
        <p:spPr>
          <a:xfrm>
            <a:off x="28940760" y="8668512"/>
            <a:ext cx="2228850" cy="2286000"/>
          </a:xfrm>
          <a:prstGeom prst="rect">
            <a:avLst/>
          </a:prstGeom>
        </p:spPr>
      </p:pic>
      <p:sp>
        <p:nvSpPr>
          <p:cNvPr id="78" name="TextBox 77"/>
          <p:cNvSpPr txBox="1"/>
          <p:nvPr/>
        </p:nvSpPr>
        <p:spPr>
          <a:xfrm>
            <a:off x="22014180" y="11000232"/>
            <a:ext cx="5269230" cy="182880"/>
          </a:xfrm>
          <a:prstGeom prst="rect">
            <a:avLst/>
          </a:prstGeom>
          <a:noFill/>
        </p:spPr>
        <p:txBody>
          <a:bodyPr wrap="square" lIns="18288" rIns="18288" tIns="18288" bIns="18288"/>
          <a:lstStyle/>
          <a:p>
            <a:pPr algn="ctr">
              <a:lnSpc>
                <a:spcPts val="919"/>
              </a:lnSpc>
              <a:spcBef>
                <a:spcPts val="0"/>
              </a:spcBef>
              <a:spcAft>
                <a:spcPts val="0"/>
              </a:spcAft>
              <a:defRPr sz="800" b="1" i="0">
                <a:solidFill>
                  <a:srgbClr val="D7263D"/>
                </a:solidFill>
                <a:latin typeface="Arial"/>
              </a:defRPr>
            </a:pPr>
            <a:r>
              <a:t>26-conn: fragments</a:t>
            </a:r>
          </a:p>
        </p:txBody>
      </p:sp>
      <p:sp>
        <p:nvSpPr>
          <p:cNvPr id="79" name="TextBox 78"/>
          <p:cNvSpPr txBox="1"/>
          <p:nvPr/>
        </p:nvSpPr>
        <p:spPr>
          <a:xfrm>
            <a:off x="27420569" y="11000232"/>
            <a:ext cx="5269230" cy="182880"/>
          </a:xfrm>
          <a:prstGeom prst="rect">
            <a:avLst/>
          </a:prstGeom>
          <a:noFill/>
        </p:spPr>
        <p:txBody>
          <a:bodyPr wrap="square" lIns="18288" rIns="18288" tIns="18288" bIns="18288"/>
          <a:lstStyle/>
          <a:p>
            <a:pPr algn="ctr">
              <a:lnSpc>
                <a:spcPts val="919"/>
              </a:lnSpc>
              <a:spcBef>
                <a:spcPts val="0"/>
              </a:spcBef>
              <a:spcAft>
                <a:spcPts val="0"/>
              </a:spcAft>
              <a:defRPr sz="800" b="1" i="0">
                <a:solidFill>
                  <a:srgbClr val="008C9E"/>
                </a:solidFill>
                <a:latin typeface="Arial"/>
              </a:defRPr>
            </a:pPr>
            <a:r>
              <a:t>6-conn: 1 component</a:t>
            </a:r>
          </a:p>
        </p:txBody>
      </p:sp>
      <p:sp>
        <p:nvSpPr>
          <p:cNvPr id="80" name="TextBox 79"/>
          <p:cNvSpPr txBox="1"/>
          <p:nvPr/>
        </p:nvSpPr>
        <p:spPr>
          <a:xfrm>
            <a:off x="22014180" y="11228832"/>
            <a:ext cx="10675620" cy="1554480"/>
          </a:xfrm>
          <a:prstGeom prst="rect">
            <a:avLst/>
          </a:prstGeom>
          <a:noFill/>
        </p:spPr>
        <p:txBody>
          <a:bodyPr wrap="square" lIns="18288" rIns="18288" tIns="18288" bIns="18288"/>
          <a:lstStyle/>
          <a:p>
            <a:pPr algn="l">
              <a:spcBef>
                <a:spcPts val="200"/>
              </a:spcBef>
              <a:spcAft>
                <a:spcPts val="200"/>
              </a:spcAft>
              <a:defRPr sz="900" b="0" i="1">
                <a:solidFill>
                  <a:srgbClr val="0B1736"/>
                </a:solidFill>
                <a:latin typeface="Arial"/>
              </a:defRPr>
            </a:pPr>
            <a:r>
              <a:t>Proposition: A binary voxel field with exactly one 6-connected foreground component yields a single-component marching-cubes surface mesh.</a:t>
            </a:r>
          </a:p>
          <a:p>
            <a:pPr algn="l">
              <a:spcBef>
                <a:spcPts val="0"/>
              </a:spcBef>
              <a:spcAft>
                <a:spcPts val="0"/>
              </a:spcAft>
              <a:defRPr sz="800" b="0" i="0">
                <a:solidFill>
                  <a:srgbClr val="008C9E"/>
                </a:solidFill>
                <a:latin typeface="Arial"/>
              </a:defRPr>
            </a:pPr>
            <a:r>
              <a:t>• 6-adjacent voxels share a FACE -&gt; printable path exists</a:t>
            </a:r>
          </a:p>
          <a:p>
            <a:pPr algn="l">
              <a:spcBef>
                <a:spcPts val="0"/>
              </a:spcBef>
              <a:spcAft>
                <a:spcPts val="0"/>
              </a:spcAft>
              <a:defRPr sz="800" b="0" i="0">
                <a:solidFill>
                  <a:srgbClr val="D7263D"/>
                </a:solidFill>
                <a:latin typeface="Arial"/>
              </a:defRPr>
            </a:pPr>
            <a:r>
              <a:t>• 26-adjacent voxels sharing only a CORNER -&gt; floating fragment</a:t>
            </a:r>
          </a:p>
          <a:p>
            <a:pPr algn="l">
              <a:spcBef>
                <a:spcPts val="0"/>
              </a:spcBef>
              <a:spcAft>
                <a:spcPts val="0"/>
              </a:spcAft>
              <a:defRPr sz="800" b="1" i="0">
                <a:solidFill>
                  <a:srgbClr val="0B1736"/>
                </a:solidFill>
                <a:latin typeface="Arial"/>
              </a:defRPr>
            </a:pPr>
            <a:r>
              <a:t>• 100% single-component voxel fields (60/60 tested)</a:t>
            </a:r>
          </a:p>
          <a:p>
            <a:pPr algn="l">
              <a:spcBef>
                <a:spcPts val="0"/>
              </a:spcBef>
              <a:spcAft>
                <a:spcPts val="0"/>
              </a:spcAft>
              <a:defRPr sz="800" b="0" i="0">
                <a:solidFill>
                  <a:srgbClr val="0B1736"/>
                </a:solidFill>
                <a:latin typeface="Arial"/>
              </a:defRPr>
            </a:pPr>
            <a:r>
              <a:t>• 90% produce single-component meshes directly; 10% trivially post-processed</a:t>
            </a:r>
          </a:p>
        </p:txBody>
      </p:sp>
      <p:sp>
        <p:nvSpPr>
          <p:cNvPr id="81" name="TextBox 80"/>
          <p:cNvSpPr txBox="1"/>
          <p:nvPr/>
        </p:nvSpPr>
        <p:spPr>
          <a:xfrm>
            <a:off x="11201400" y="13514832"/>
            <a:ext cx="21488400" cy="201168"/>
          </a:xfrm>
          <a:prstGeom prst="rect">
            <a:avLst/>
          </a:prstGeom>
          <a:noFill/>
        </p:spPr>
        <p:txBody>
          <a:bodyPr wrap="square" lIns="18288" rIns="18288" tIns="18288" bIns="18288"/>
          <a:lstStyle/>
          <a:p>
            <a:pPr algn="l">
              <a:lnSpc>
                <a:spcPts val="1264"/>
              </a:lnSpc>
              <a:spcBef>
                <a:spcPts val="0"/>
              </a:spcBef>
              <a:spcAft>
                <a:spcPts val="0"/>
              </a:spcAft>
              <a:defRPr sz="1100" b="1" i="0">
                <a:solidFill>
                  <a:srgbClr val="0B1736"/>
                </a:solidFill>
                <a:latin typeface="Arial"/>
              </a:defRPr>
            </a:pPr>
            <a:r>
              <a:t>Data Interpolation &amp; Preparation</a:t>
            </a:r>
          </a:p>
        </p:txBody>
      </p:sp>
      <p:sp>
        <p:nvSpPr>
          <p:cNvPr id="82" name="TextBox 81"/>
          <p:cNvSpPr txBox="1"/>
          <p:nvPr/>
        </p:nvSpPr>
        <p:spPr>
          <a:xfrm>
            <a:off x="11201400" y="13743432"/>
            <a:ext cx="10835640" cy="1097280"/>
          </a:xfrm>
          <a:prstGeom prst="rect">
            <a:avLst/>
          </a:prstGeom>
          <a:noFill/>
        </p:spPr>
        <p:txBody>
          <a:bodyPr wrap="square" lIns="18288" rIns="18288" tIns="18288" bIns="18288"/>
          <a:lstStyle/>
          <a:p>
            <a:pPr algn="l">
              <a:spcBef>
                <a:spcPts val="0"/>
              </a:spcBef>
              <a:spcAft>
                <a:spcPts val="100"/>
              </a:spcAft>
              <a:defRPr sz="900" b="0" i="0">
                <a:solidFill>
                  <a:srgbClr val="0B1736"/>
                </a:solidFill>
                <a:latin typeface="Arial"/>
              </a:defRPr>
            </a:pPr>
            <a:r>
              <a:t>Total Data Size: ~200GB raw FEA outputs | Filtered to 59GB processed.</a:t>
            </a:r>
          </a:p>
          <a:p>
            <a:pPr algn="l">
              <a:spcBef>
                <a:spcPts val="0"/>
              </a:spcBef>
              <a:spcAft>
                <a:spcPts val="0"/>
              </a:spcAft>
              <a:defRPr sz="800" b="0" i="0">
                <a:solidFill>
                  <a:srgbClr val="0B1736"/>
                </a:solidFill>
                <a:latin typeface="Arial"/>
              </a:defRPr>
            </a:pPr>
            <a:r>
              <a:t>• 3,115/14,293 (21.8%) rejected: diverged solver, near-zero strain energy, invalid results</a:t>
            </a:r>
          </a:p>
          <a:p>
            <a:pPr algn="l">
              <a:spcBef>
                <a:spcPts val="0"/>
              </a:spcBef>
              <a:spcAft>
                <a:spcPts val="0"/>
              </a:spcAft>
              <a:defRPr sz="800" b="0" i="0">
                <a:solidFill>
                  <a:srgbClr val="0B1736"/>
                </a:solidFill>
                <a:latin typeface="Arial"/>
              </a:defRPr>
            </a:pPr>
            <a:r>
              <a:t>• Targets span 4.9 orders of magnitude (stress) to 7.7 orders (compliance)</a:t>
            </a:r>
          </a:p>
          <a:p>
            <a:pPr algn="l">
              <a:spcBef>
                <a:spcPts val="0"/>
              </a:spcBef>
              <a:spcAft>
                <a:spcPts val="0"/>
              </a:spcAft>
              <a:defRPr sz="800" b="0" i="0">
                <a:solidFill>
                  <a:srgbClr val="0B1736"/>
                </a:solidFill>
                <a:latin typeface="Arial"/>
              </a:defRPr>
            </a:pPr>
            <a:r>
              <a:t>• Log-transform normalization: log(1+|y|) -&gt; z-score with 2nd/98th percentile winsorization</a:t>
            </a:r>
          </a:p>
          <a:p>
            <a:pPr algn="l">
              <a:spcBef>
                <a:spcPts val="0"/>
              </a:spcBef>
              <a:spcAft>
                <a:spcPts val="0"/>
              </a:spcAft>
              <a:defRPr sz="800" b="0" i="0">
                <a:solidFill>
                  <a:srgbClr val="0B1736"/>
                </a:solidFill>
                <a:latin typeface="Arial"/>
              </a:defRPr>
            </a:pPr>
            <a:r>
              <a:t>• Family-aware splitting prevents near-duplicate leakage across partitions</a:t>
            </a:r>
          </a:p>
        </p:txBody>
      </p:sp>
      <p:pic>
        <p:nvPicPr>
          <p:cNvPr id="83" name="Picture 82" descr="fig_distributions.png"/>
          <p:cNvPicPr>
            <a:picLocks noChangeAspect="1"/>
          </p:cNvPicPr>
          <p:nvPr/>
        </p:nvPicPr>
        <p:blipFill>
          <a:blip r:embed="rId13"/>
          <a:stretch>
            <a:fillRect/>
          </a:stretch>
        </p:blipFill>
        <p:spPr>
          <a:xfrm>
            <a:off x="25274061" y="13651992"/>
            <a:ext cx="4178716" cy="1280160"/>
          </a:xfrm>
          <a:prstGeom prst="rect">
            <a:avLst/>
          </a:prstGeom>
        </p:spPr>
      </p:pic>
      <p:sp>
        <p:nvSpPr>
          <p:cNvPr id="84" name="TextBox 83"/>
          <p:cNvSpPr txBox="1"/>
          <p:nvPr/>
        </p:nvSpPr>
        <p:spPr>
          <a:xfrm>
            <a:off x="11201400" y="14977872"/>
            <a:ext cx="21488400" cy="201168"/>
          </a:xfrm>
          <a:prstGeom prst="rect">
            <a:avLst/>
          </a:prstGeom>
          <a:noFill/>
        </p:spPr>
        <p:txBody>
          <a:bodyPr wrap="square" lIns="18288" rIns="18288" tIns="18288" bIns="18288"/>
          <a:lstStyle/>
          <a:p>
            <a:pPr algn="l">
              <a:lnSpc>
                <a:spcPts val="1264"/>
              </a:lnSpc>
              <a:spcBef>
                <a:spcPts val="0"/>
              </a:spcBef>
              <a:spcAft>
                <a:spcPts val="0"/>
              </a:spcAft>
              <a:defRPr sz="1100" b="1" i="0">
                <a:solidFill>
                  <a:srgbClr val="0B1736"/>
                </a:solidFill>
                <a:latin typeface="Arial"/>
              </a:defRPr>
            </a:pPr>
            <a:r>
              <a:t>Model Tuning &amp; Optimization</a:t>
            </a:r>
          </a:p>
        </p:txBody>
      </p:sp>
      <p:pic>
        <p:nvPicPr>
          <p:cNvPr id="85" name="Picture 84" descr="fig_training_curves.png"/>
          <p:cNvPicPr>
            <a:picLocks noChangeAspect="1"/>
          </p:cNvPicPr>
          <p:nvPr/>
        </p:nvPicPr>
        <p:blipFill>
          <a:blip r:embed="rId14"/>
          <a:stretch>
            <a:fillRect/>
          </a:stretch>
        </p:blipFill>
        <p:spPr>
          <a:xfrm>
            <a:off x="15051671" y="15206472"/>
            <a:ext cx="2051533" cy="1645920"/>
          </a:xfrm>
          <a:prstGeom prst="rect">
            <a:avLst/>
          </a:prstGeom>
        </p:spPr>
      </p:pic>
      <p:pic>
        <p:nvPicPr>
          <p:cNvPr id="86" name="Picture 85" descr="fig_activation.png"/>
          <p:cNvPicPr>
            <a:picLocks noChangeAspect="1"/>
          </p:cNvPicPr>
          <p:nvPr/>
        </p:nvPicPr>
        <p:blipFill>
          <a:blip r:embed="rId15"/>
          <a:stretch>
            <a:fillRect/>
          </a:stretch>
        </p:blipFill>
        <p:spPr>
          <a:xfrm>
            <a:off x="23052086" y="15206472"/>
            <a:ext cx="1437311" cy="1188720"/>
          </a:xfrm>
          <a:prstGeom prst="rect">
            <a:avLst/>
          </a:prstGeom>
        </p:spPr>
      </p:pic>
      <p:sp>
        <p:nvSpPr>
          <p:cNvPr id="87" name="TextBox 86"/>
          <p:cNvSpPr txBox="1"/>
          <p:nvPr/>
        </p:nvSpPr>
        <p:spPr>
          <a:xfrm>
            <a:off x="26371296" y="15206472"/>
            <a:ext cx="6067958" cy="1645920"/>
          </a:xfrm>
          <a:prstGeom prst="rect">
            <a:avLst/>
          </a:prstGeom>
          <a:noFill/>
        </p:spPr>
        <p:txBody>
          <a:bodyPr wrap="square" lIns="18288" rIns="18288" tIns="18288" bIns="18288"/>
          <a:lstStyle/>
          <a:p>
            <a:pPr algn="l">
              <a:spcBef>
                <a:spcPts val="0"/>
              </a:spcBef>
              <a:spcAft>
                <a:spcPts val="0"/>
              </a:spcAft>
              <a:defRPr sz="900" b="1" i="0">
                <a:solidFill>
                  <a:srgbClr val="0B1736"/>
                </a:solidFill>
                <a:latin typeface="Arial"/>
              </a:defRPr>
            </a:pPr>
            <a:r>
              <a:t>Hyperparameters:</a:t>
            </a:r>
          </a:p>
          <a:p>
            <a:pPr algn="l">
              <a:spcBef>
                <a:spcPts val="0"/>
              </a:spcBef>
              <a:spcAft>
                <a:spcPts val="0"/>
              </a:spcAft>
              <a:defRPr sz="800" b="0" i="0">
                <a:solidFill>
                  <a:srgbClr val="0B1736"/>
                </a:solidFill>
                <a:latin typeface="Arial"/>
              </a:defRPr>
            </a:pPr>
            <a:r>
              <a:t>• AdamW optimizer, lr=5e-4, cosine annealing</a:t>
            </a:r>
          </a:p>
          <a:p>
            <a:pPr algn="l">
              <a:spcBef>
                <a:spcPts val="0"/>
              </a:spcBef>
              <a:spcAft>
                <a:spcPts val="0"/>
              </a:spcAft>
              <a:defRPr sz="800" b="0" i="0">
                <a:solidFill>
                  <a:srgbClr val="0B1736"/>
                </a:solidFill>
                <a:latin typeface="Arial"/>
              </a:defRPr>
            </a:pPr>
            <a:r>
              <a:t>• EMA decay=0.999, gradient clipping ||.||&lt;1.0</a:t>
            </a:r>
          </a:p>
          <a:p>
            <a:pPr algn="l">
              <a:spcBef>
                <a:spcPts val="0"/>
              </a:spcBef>
              <a:spcAft>
                <a:spcPts val="0"/>
              </a:spcAft>
              <a:defRPr sz="800" b="0" i="0">
                <a:solidFill>
                  <a:srgbClr val="0B1736"/>
                </a:solidFill>
                <a:latin typeface="Arial"/>
              </a:defRPr>
            </a:pPr>
            <a:r>
              <a:t>• Max 200 epochs, early stopping patience=30</a:t>
            </a:r>
          </a:p>
          <a:p>
            <a:pPr algn="l">
              <a:spcBef>
                <a:spcPts val="0"/>
              </a:spcBef>
              <a:spcAft>
                <a:spcPts val="0"/>
              </a:spcAft>
              <a:defRPr sz="800" b="0" i="0">
                <a:solidFill>
                  <a:srgbClr val="0B1736"/>
                </a:solidFill>
                <a:latin typeface="Arial"/>
              </a:defRPr>
            </a:pPr>
            <a:r>
              <a:t>• I had a breakthrough on model version 14</a:t>
            </a:r>
          </a:p>
          <a:p>
            <a:pPr algn="l">
              <a:spcBef>
                <a:spcPts val="0"/>
              </a:spcBef>
              <a:spcAft>
                <a:spcPts val="0"/>
              </a:spcAft>
              <a:defRPr sz="800" b="0" i="0">
                <a:solidFill>
                  <a:srgbClr val="0B1736"/>
                </a:solidFill>
                <a:latin typeface="Arial"/>
              </a:defRPr>
            </a:pPr>
            <a:r>
              <a:t>which began to have high agreement with FEA.</a:t>
            </a:r>
          </a:p>
        </p:txBody>
      </p:sp>
      <p:sp>
        <p:nvSpPr>
          <p:cNvPr id="88" name="Rounded Rectangle 87"/>
          <p:cNvSpPr/>
          <p:nvPr/>
        </p:nvSpPr>
        <p:spPr>
          <a:xfrm>
            <a:off x="11201400" y="17080992"/>
            <a:ext cx="21488400" cy="292608"/>
          </a:xfrm>
          <a:prstGeom prst="roundRect">
            <a:avLst>
              <a:gd name="adj" fmla="val 20000"/>
            </a:avLst>
          </a:prstGeom>
          <a:solidFill>
            <a:srgbClr val="E8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247120" y="17108424"/>
            <a:ext cx="21396960" cy="237744"/>
          </a:xfrm>
          <a:prstGeom prst="rect">
            <a:avLst/>
          </a:prstGeom>
          <a:noFill/>
        </p:spPr>
        <p:txBody>
          <a:bodyPr wrap="square" lIns="18288" rIns="18288" tIns="18288" bIns="18288"/>
          <a:lstStyle/>
          <a:p>
            <a:pPr algn="ctr">
              <a:lnSpc>
                <a:spcPts val="1150"/>
              </a:lnSpc>
              <a:spcBef>
                <a:spcPts val="0"/>
              </a:spcBef>
              <a:spcAft>
                <a:spcPts val="0"/>
              </a:spcAft>
              <a:defRPr sz="1000" b="0" i="0">
                <a:solidFill>
                  <a:srgbClr val="0B1736"/>
                </a:solidFill>
                <a:latin typeface="Arial"/>
              </a:defRPr>
            </a:pPr>
            <a:r>
              <a:t>Conservative bound: sigma_hat = mu_sigma + k * sigma_sigma,  C_hat = mu_C + k * sigma_C,  k = 1.0</a:t>
            </a:r>
          </a:p>
        </p:txBody>
      </p:sp>
      <p:sp>
        <p:nvSpPr>
          <p:cNvPr id="90" name="TextBox 89"/>
          <p:cNvSpPr txBox="1"/>
          <p:nvPr/>
        </p:nvSpPr>
        <p:spPr>
          <a:xfrm>
            <a:off x="11201400" y="17401032"/>
            <a:ext cx="9752076"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Fig. 5. Training loss convergence (5 ensemble members)</a:t>
            </a:r>
          </a:p>
        </p:txBody>
      </p:sp>
      <p:sp>
        <p:nvSpPr>
          <p:cNvPr id="91" name="TextBox 90"/>
          <p:cNvSpPr txBox="1"/>
          <p:nvPr/>
        </p:nvSpPr>
        <p:spPr>
          <a:xfrm>
            <a:off x="21386901" y="17401032"/>
            <a:ext cx="4767681"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GELU activation</a:t>
            </a:r>
          </a:p>
        </p:txBody>
      </p:sp>
      <p:sp>
        <p:nvSpPr>
          <p:cNvPr id="92" name="TextBox 91"/>
          <p:cNvSpPr txBox="1"/>
          <p:nvPr/>
        </p:nvSpPr>
        <p:spPr>
          <a:xfrm>
            <a:off x="11201400" y="17949672"/>
            <a:ext cx="21488400"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Model version 14, training progress in PyTorch. 4x NVIDIA GB200 GPUs.</a:t>
            </a:r>
          </a:p>
        </p:txBody>
      </p:sp>
      <p:sp>
        <p:nvSpPr>
          <p:cNvPr id="93" name="Rounded Rectangle 92"/>
          <p:cNvSpPr/>
          <p:nvPr/>
        </p:nvSpPr>
        <p:spPr>
          <a:xfrm>
            <a:off x="11109960" y="18233136"/>
            <a:ext cx="21671280" cy="457200"/>
          </a:xfrm>
          <a:prstGeom prst="roundRect">
            <a:avLst>
              <a:gd name="adj" fmla="val 12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109960" y="18233136"/>
            <a:ext cx="21671280" cy="457200"/>
          </a:xfrm>
          <a:prstGeom prst="rect">
            <a:avLst/>
          </a:prstGeom>
          <a:noFill/>
        </p:spPr>
        <p:txBody>
          <a:bodyPr wrap="none" lIns="137160" tIns="54864">
            <a:spAutoFit/>
          </a:bodyPr>
          <a:lstStyle/>
          <a:p>
            <a:pPr algn="ctr">
              <a:spcBef>
                <a:spcPts val="0"/>
              </a:spcBef>
              <a:spcAft>
                <a:spcPts val="0"/>
              </a:spcAft>
              <a:defRPr sz="2400" b="1">
                <a:solidFill>
                  <a:srgbClr val="FFFFFF"/>
                </a:solidFill>
                <a:latin typeface="Arial Black"/>
              </a:defRPr>
            </a:pPr>
            <a:r>
              <a:t>RESULTS &amp; IN-SILICO VALIDATION</a:t>
            </a:r>
          </a:p>
        </p:txBody>
      </p:sp>
      <p:sp>
        <p:nvSpPr>
          <p:cNvPr id="95" name="Rounded Rectangle 94"/>
          <p:cNvSpPr/>
          <p:nvPr/>
        </p:nvSpPr>
        <p:spPr>
          <a:xfrm>
            <a:off x="11109960" y="18690336"/>
            <a:ext cx="21671280" cy="14090904"/>
          </a:xfrm>
          <a:prstGeom prst="roundRect">
            <a:avLst>
              <a:gd name="adj" fmla="val 35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Picture 95" descr="fig_histogram.png"/>
          <p:cNvPicPr>
            <a:picLocks noChangeAspect="1"/>
          </p:cNvPicPr>
          <p:nvPr/>
        </p:nvPicPr>
        <p:blipFill>
          <a:blip r:embed="rId16"/>
          <a:stretch>
            <a:fillRect/>
          </a:stretch>
        </p:blipFill>
        <p:spPr>
          <a:xfrm>
            <a:off x="13068230" y="18781776"/>
            <a:ext cx="3368179" cy="2011680"/>
          </a:xfrm>
          <a:prstGeom prst="rect">
            <a:avLst/>
          </a:prstGeom>
        </p:spPr>
      </p:pic>
      <p:sp>
        <p:nvSpPr>
          <p:cNvPr id="97" name="TextBox 96"/>
          <p:cNvSpPr txBox="1"/>
          <p:nvPr/>
        </p:nvSpPr>
        <p:spPr>
          <a:xfrm>
            <a:off x="11201400" y="20811744"/>
            <a:ext cx="7101840"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Fig. 6. Volume reduction distribution (n=1,114)</a:t>
            </a:r>
          </a:p>
        </p:txBody>
      </p:sp>
      <p:pic>
        <p:nvPicPr>
          <p:cNvPr id="98" name="Picture 97" descr="fig_regression.png"/>
          <p:cNvPicPr>
            <a:picLocks noChangeAspect="1"/>
          </p:cNvPicPr>
          <p:nvPr/>
        </p:nvPicPr>
        <p:blipFill>
          <a:blip r:embed="rId17"/>
          <a:stretch>
            <a:fillRect/>
          </a:stretch>
        </p:blipFill>
        <p:spPr>
          <a:xfrm>
            <a:off x="12114369" y="21067776"/>
            <a:ext cx="2080072" cy="1828800"/>
          </a:xfrm>
          <a:prstGeom prst="rect">
            <a:avLst/>
          </a:prstGeom>
        </p:spPr>
      </p:pic>
      <p:pic>
        <p:nvPicPr>
          <p:cNvPr id="99" name="Picture 98" descr="fig_bland_altman.png"/>
          <p:cNvPicPr>
            <a:picLocks noChangeAspect="1"/>
          </p:cNvPicPr>
          <p:nvPr/>
        </p:nvPicPr>
        <p:blipFill>
          <a:blip r:embed="rId18"/>
          <a:stretch>
            <a:fillRect/>
          </a:stretch>
        </p:blipFill>
        <p:spPr>
          <a:xfrm>
            <a:off x="15591221" y="21067776"/>
            <a:ext cx="2370245" cy="1828800"/>
          </a:xfrm>
          <a:prstGeom prst="rect">
            <a:avLst/>
          </a:prstGeom>
        </p:spPr>
      </p:pic>
      <p:sp>
        <p:nvSpPr>
          <p:cNvPr id="100" name="TextBox 99"/>
          <p:cNvSpPr txBox="1"/>
          <p:nvPr/>
        </p:nvSpPr>
        <p:spPr>
          <a:xfrm>
            <a:off x="11201400" y="22942296"/>
            <a:ext cx="3906012"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Fig. 7. Regression Plot</a:t>
            </a:r>
          </a:p>
        </p:txBody>
      </p:sp>
      <p:sp>
        <p:nvSpPr>
          <p:cNvPr id="101" name="TextBox 100"/>
          <p:cNvSpPr txBox="1"/>
          <p:nvPr/>
        </p:nvSpPr>
        <p:spPr>
          <a:xfrm>
            <a:off x="15249448" y="22942296"/>
            <a:ext cx="3053791"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Fig. 8. Bland-Altman</a:t>
            </a:r>
          </a:p>
        </p:txBody>
      </p:sp>
      <p:sp>
        <p:nvSpPr>
          <p:cNvPr id="102" name="TextBox 101"/>
          <p:cNvSpPr txBox="1"/>
          <p:nvPr/>
        </p:nvSpPr>
        <p:spPr>
          <a:xfrm>
            <a:off x="11201400" y="23170896"/>
            <a:ext cx="7101840" cy="1828800"/>
          </a:xfrm>
          <a:prstGeom prst="rect">
            <a:avLst/>
          </a:prstGeom>
          <a:noFill/>
        </p:spPr>
        <p:txBody>
          <a:bodyPr wrap="square" lIns="18288" rIns="18288" tIns="18288" bIns="18288"/>
          <a:lstStyle/>
          <a:p>
            <a:pPr algn="l">
              <a:spcBef>
                <a:spcPts val="200"/>
              </a:spcBef>
              <a:spcAft>
                <a:spcPts val="200"/>
              </a:spcAft>
              <a:defRPr sz="1000" b="1" i="0">
                <a:solidFill>
                  <a:srgbClr val="0B1736"/>
                </a:solidFill>
                <a:latin typeface="Arial"/>
              </a:defRPr>
            </a:pPr>
            <a:r>
              <a:t>Reference Case (Sample 00472)</a:t>
            </a:r>
          </a:p>
          <a:p>
            <a:pPr algn="l">
              <a:spcBef>
                <a:spcPts val="0"/>
              </a:spcBef>
              <a:spcAft>
                <a:spcPts val="0"/>
              </a:spcAft>
              <a:defRPr sz="800" b="0" i="0">
                <a:solidFill>
                  <a:srgbClr val="0B1736"/>
                </a:solidFill>
                <a:latin typeface="Arial"/>
              </a:defRPr>
            </a:pPr>
            <a:r>
              <a:t>• Volume: 116,872 -&gt; 64,292 voxels (-45.0%)</a:t>
            </a:r>
          </a:p>
          <a:p>
            <a:pPr algn="l">
              <a:spcBef>
                <a:spcPts val="0"/>
              </a:spcBef>
              <a:spcAft>
                <a:spcPts val="0"/>
              </a:spcAft>
              <a:defRPr sz="800" b="0" i="0">
                <a:solidFill>
                  <a:srgbClr val="0B1736"/>
                </a:solidFill>
                <a:latin typeface="Arial"/>
              </a:defRPr>
            </a:pPr>
            <a:r>
              <a:t>• VM stress conservative: 3.08 x 10^6 Pa</a:t>
            </a:r>
          </a:p>
          <a:p>
            <a:pPr algn="l">
              <a:spcBef>
                <a:spcPts val="0"/>
              </a:spcBef>
              <a:spcAft>
                <a:spcPts val="0"/>
              </a:spcAft>
              <a:defRPr sz="800" b="0" i="0">
                <a:solidFill>
                  <a:srgbClr val="0B1736"/>
                </a:solidFill>
                <a:latin typeface="Arial"/>
              </a:defRPr>
            </a:pPr>
            <a:r>
              <a:t>• Compliance ratio (FEA): 1.004 (limit: 1.15)</a:t>
            </a:r>
          </a:p>
          <a:p>
            <a:pPr algn="l">
              <a:spcBef>
                <a:spcPts val="0"/>
              </a:spcBef>
              <a:spcAft>
                <a:spcPts val="0"/>
              </a:spcAft>
              <a:defRPr sz="800" b="0" i="0">
                <a:solidFill>
                  <a:srgbClr val="0B1736"/>
                </a:solidFill>
                <a:latin typeface="Arial"/>
              </a:defRPr>
            </a:pPr>
            <a:r>
              <a:t>• Mesh components: 1 (watertight)</a:t>
            </a:r>
          </a:p>
          <a:p>
            <a:pPr algn="l">
              <a:spcBef>
                <a:spcPts val="0"/>
              </a:spcBef>
              <a:spcAft>
                <a:spcPts val="0"/>
              </a:spcAft>
              <a:defRPr sz="800" b="0" i="0">
                <a:solidFill>
                  <a:srgbClr val="0B1736"/>
                </a:solidFill>
                <a:latin typeface="Arial"/>
              </a:defRPr>
            </a:pPr>
            <a:r>
              <a:t>• Runtime: 159.5 seconds</a:t>
            </a:r>
          </a:p>
          <a:p>
            <a:pPr algn="l">
              <a:spcBef>
                <a:spcPts val="0"/>
              </a:spcBef>
              <a:spcAft>
                <a:spcPts val="0"/>
              </a:spcAft>
              <a:defRPr sz="800" b="1" i="0">
                <a:solidFill>
                  <a:srgbClr val="008C9E"/>
                </a:solidFill>
                <a:latin typeface="Arial"/>
              </a:defRPr>
            </a:pPr>
            <a:r>
              <a:t>• SASTO-PA vs SASTO-U: +10.7pp improvement</a:t>
            </a:r>
          </a:p>
        </p:txBody>
      </p:sp>
      <p:pic>
        <p:nvPicPr>
          <p:cNvPr id="103" name="Picture 102" descr="fig_speedup.png"/>
          <p:cNvPicPr>
            <a:picLocks noChangeAspect="1"/>
          </p:cNvPicPr>
          <p:nvPr/>
        </p:nvPicPr>
        <p:blipFill>
          <a:blip r:embed="rId19"/>
          <a:stretch>
            <a:fillRect/>
          </a:stretch>
        </p:blipFill>
        <p:spPr>
          <a:xfrm>
            <a:off x="19714802" y="18781776"/>
            <a:ext cx="4461595" cy="1645920"/>
          </a:xfrm>
          <a:prstGeom prst="rect">
            <a:avLst/>
          </a:prstGeom>
        </p:spPr>
      </p:pic>
      <p:sp>
        <p:nvSpPr>
          <p:cNvPr id="104" name="TextBox 103"/>
          <p:cNvSpPr txBox="1"/>
          <p:nvPr/>
        </p:nvSpPr>
        <p:spPr>
          <a:xfrm>
            <a:off x="18394680" y="20445984"/>
            <a:ext cx="7101840"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Fig. 9. Speedup comparison (log scale)</a:t>
            </a:r>
          </a:p>
        </p:txBody>
      </p:sp>
      <p:pic>
        <p:nvPicPr>
          <p:cNvPr id="105" name="Picture 104" descr="fig_per_part.png"/>
          <p:cNvPicPr>
            <a:picLocks noChangeAspect="1"/>
          </p:cNvPicPr>
          <p:nvPr/>
        </p:nvPicPr>
        <p:blipFill>
          <a:blip r:embed="rId20"/>
          <a:stretch>
            <a:fillRect/>
          </a:stretch>
        </p:blipFill>
        <p:spPr>
          <a:xfrm>
            <a:off x="20040600" y="20702016"/>
            <a:ext cx="3810000" cy="1645920"/>
          </a:xfrm>
          <a:prstGeom prst="rect">
            <a:avLst/>
          </a:prstGeom>
        </p:spPr>
      </p:pic>
      <p:sp>
        <p:nvSpPr>
          <p:cNvPr id="106" name="TextBox 105"/>
          <p:cNvSpPr txBox="1"/>
          <p:nvPr/>
        </p:nvSpPr>
        <p:spPr>
          <a:xfrm>
            <a:off x="18394680" y="22393656"/>
            <a:ext cx="7101840"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Fig. 10. Per-part material retention</a:t>
            </a:r>
          </a:p>
        </p:txBody>
      </p:sp>
      <p:pic>
        <p:nvPicPr>
          <p:cNvPr id="107" name="Picture 106" descr="fig_convergence.png"/>
          <p:cNvPicPr>
            <a:picLocks noChangeAspect="1"/>
          </p:cNvPicPr>
          <p:nvPr/>
        </p:nvPicPr>
        <p:blipFill>
          <a:blip r:embed="rId21"/>
          <a:stretch>
            <a:fillRect/>
          </a:stretch>
        </p:blipFill>
        <p:spPr>
          <a:xfrm>
            <a:off x="20600829" y="22622256"/>
            <a:ext cx="2689541" cy="2103120"/>
          </a:xfrm>
          <a:prstGeom prst="rect">
            <a:avLst/>
          </a:prstGeom>
        </p:spPr>
      </p:pic>
      <p:sp>
        <p:nvSpPr>
          <p:cNvPr id="108" name="TextBox 107"/>
          <p:cNvSpPr txBox="1"/>
          <p:nvPr/>
        </p:nvSpPr>
        <p:spPr>
          <a:xfrm>
            <a:off x="18394680" y="24743664"/>
            <a:ext cx="7101840"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Fig. 11. Optimization convergence (reference case)</a:t>
            </a:r>
          </a:p>
        </p:txBody>
      </p:sp>
      <p:pic>
        <p:nvPicPr>
          <p:cNvPr id="109" name="Picture 108" descr="fig_fea_compliance.png"/>
          <p:cNvPicPr>
            <a:picLocks noChangeAspect="1"/>
          </p:cNvPicPr>
          <p:nvPr/>
        </p:nvPicPr>
        <p:blipFill>
          <a:blip r:embed="rId22"/>
          <a:stretch>
            <a:fillRect/>
          </a:stretch>
        </p:blipFill>
        <p:spPr>
          <a:xfrm>
            <a:off x="27308761" y="18781776"/>
            <a:ext cx="3660237" cy="2103120"/>
          </a:xfrm>
          <a:prstGeom prst="rect">
            <a:avLst/>
          </a:prstGeom>
        </p:spPr>
      </p:pic>
      <p:sp>
        <p:nvSpPr>
          <p:cNvPr id="110" name="TextBox 109"/>
          <p:cNvSpPr txBox="1"/>
          <p:nvPr/>
        </p:nvSpPr>
        <p:spPr>
          <a:xfrm>
            <a:off x="25587960" y="20903184"/>
            <a:ext cx="7101840"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Fig. 12. Independent FEA compliance validation (n=1,114)</a:t>
            </a:r>
          </a:p>
        </p:txBody>
      </p:sp>
      <p:pic>
        <p:nvPicPr>
          <p:cNvPr id="111" name="Picture 110" descr="Image 0.jpg"/>
          <p:cNvPicPr>
            <a:picLocks noChangeAspect="1"/>
          </p:cNvPicPr>
          <p:nvPr/>
        </p:nvPicPr>
        <p:blipFill>
          <a:blip r:embed="rId2"/>
          <a:stretch>
            <a:fillRect/>
          </a:stretch>
        </p:blipFill>
        <p:spPr>
          <a:xfrm>
            <a:off x="26538174" y="21159216"/>
            <a:ext cx="1604772" cy="1645920"/>
          </a:xfrm>
          <a:prstGeom prst="rect">
            <a:avLst/>
          </a:prstGeom>
        </p:spPr>
      </p:pic>
      <p:pic>
        <p:nvPicPr>
          <p:cNvPr id="112" name="Picture 111" descr="Image 11.jpg"/>
          <p:cNvPicPr>
            <a:picLocks noChangeAspect="1"/>
          </p:cNvPicPr>
          <p:nvPr/>
        </p:nvPicPr>
        <p:blipFill>
          <a:blip r:embed="rId3"/>
          <a:stretch>
            <a:fillRect/>
          </a:stretch>
        </p:blipFill>
        <p:spPr>
          <a:xfrm>
            <a:off x="29702760" y="21159216"/>
            <a:ext cx="2468880" cy="1645920"/>
          </a:xfrm>
          <a:prstGeom prst="rect">
            <a:avLst/>
          </a:prstGeom>
        </p:spPr>
      </p:pic>
      <p:sp>
        <p:nvSpPr>
          <p:cNvPr id="113" name="TextBox 112"/>
          <p:cNvSpPr txBox="1"/>
          <p:nvPr/>
        </p:nvSpPr>
        <p:spPr>
          <a:xfrm>
            <a:off x="25587960" y="22823424"/>
            <a:ext cx="3505200"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Original</a:t>
            </a:r>
          </a:p>
        </p:txBody>
      </p:sp>
      <p:sp>
        <p:nvSpPr>
          <p:cNvPr id="114" name="TextBox 113"/>
          <p:cNvSpPr txBox="1"/>
          <p:nvPr/>
        </p:nvSpPr>
        <p:spPr>
          <a:xfrm>
            <a:off x="29184600" y="22823424"/>
            <a:ext cx="3505200"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SASTO-PA Optimized</a:t>
            </a:r>
          </a:p>
        </p:txBody>
      </p:sp>
      <p:pic>
        <p:nvPicPr>
          <p:cNvPr id="115" name="Picture 114" descr="fig_timing_table.png"/>
          <p:cNvPicPr>
            <a:picLocks noChangeAspect="1"/>
          </p:cNvPicPr>
          <p:nvPr/>
        </p:nvPicPr>
        <p:blipFill>
          <a:blip r:embed="rId23"/>
          <a:stretch>
            <a:fillRect/>
          </a:stretch>
        </p:blipFill>
        <p:spPr>
          <a:xfrm>
            <a:off x="27445102" y="23079456"/>
            <a:ext cx="3387554" cy="1005840"/>
          </a:xfrm>
          <a:prstGeom prst="rect">
            <a:avLst/>
          </a:prstGeom>
        </p:spPr>
      </p:pic>
      <p:sp>
        <p:nvSpPr>
          <p:cNvPr id="116" name="TextBox 115"/>
          <p:cNvSpPr txBox="1"/>
          <p:nvPr/>
        </p:nvSpPr>
        <p:spPr>
          <a:xfrm>
            <a:off x="25587960" y="24131016"/>
            <a:ext cx="7101840" cy="1097280"/>
          </a:xfrm>
          <a:prstGeom prst="rect">
            <a:avLst/>
          </a:prstGeom>
          <a:noFill/>
        </p:spPr>
        <p:txBody>
          <a:bodyPr wrap="square" lIns="18288" rIns="18288" tIns="18288" bIns="18288"/>
          <a:lstStyle/>
          <a:p>
            <a:pPr algn="l">
              <a:spcBef>
                <a:spcPts val="0"/>
              </a:spcBef>
              <a:spcAft>
                <a:spcPts val="100"/>
              </a:spcAft>
              <a:defRPr sz="800" b="0" i="1">
                <a:solidFill>
                  <a:srgbClr val="0B1736"/>
                </a:solidFill>
                <a:latin typeface="Arial"/>
              </a:defRPr>
            </a:pPr>
            <a:r>
              <a:t>Fig. 13. Patient Anatomy -&gt; House Geometry 3D</a:t>
            </a:r>
          </a:p>
          <a:p>
            <a:pPr algn="l">
              <a:spcBef>
                <a:spcPts val="0"/>
              </a:spcBef>
              <a:spcAft>
                <a:spcPts val="0"/>
              </a:spcAft>
              <a:defRPr sz="800" b="1" i="0">
                <a:solidFill>
                  <a:srgbClr val="0B1736"/>
                </a:solidFill>
                <a:latin typeface="Arial"/>
              </a:defRPr>
            </a:pPr>
            <a:r>
              <a:t>Independent hex8 voxel FEA on all 1,114 designs:</a:t>
            </a:r>
          </a:p>
          <a:p>
            <a:pPr algn="l">
              <a:spcBef>
                <a:spcPts val="0"/>
              </a:spcBef>
              <a:spcAft>
                <a:spcPts val="0"/>
              </a:spcAft>
              <a:defRPr sz="800" b="0" i="0">
                <a:solidFill>
                  <a:srgbClr val="0B1736"/>
                </a:solidFill>
                <a:latin typeface="Arial"/>
              </a:defRPr>
            </a:pPr>
            <a:r>
              <a:t>• Mean C_opt/C_base = 0.631 +/- 0.112</a:t>
            </a:r>
          </a:p>
          <a:p>
            <a:pPr algn="l">
              <a:spcBef>
                <a:spcPts val="0"/>
              </a:spcBef>
              <a:spcAft>
                <a:spcPts val="0"/>
              </a:spcAft>
              <a:defRPr sz="800" b="0" i="0">
                <a:solidFill>
                  <a:srgbClr val="0B1736"/>
                </a:solidFill>
                <a:latin typeface="Arial"/>
              </a:defRPr>
            </a:pPr>
            <a:r>
              <a:t>• Max ratio = 1.004 (limit 1.15)</a:t>
            </a:r>
          </a:p>
          <a:p>
            <a:pPr algn="l">
              <a:spcBef>
                <a:spcPts val="0"/>
              </a:spcBef>
              <a:spcAft>
                <a:spcPts val="0"/>
              </a:spcAft>
              <a:defRPr sz="800" b="1" i="0">
                <a:solidFill>
                  <a:srgbClr val="008C9E"/>
                </a:solidFill>
                <a:latin typeface="Arial"/>
              </a:defRPr>
            </a:pPr>
            <a:r>
              <a:t>• 0/1,114 violations confirmed</a:t>
            </a:r>
          </a:p>
        </p:txBody>
      </p:sp>
      <p:sp>
        <p:nvSpPr>
          <p:cNvPr id="117" name="Rounded Rectangle 116"/>
          <p:cNvSpPr/>
          <p:nvPr/>
        </p:nvSpPr>
        <p:spPr>
          <a:xfrm>
            <a:off x="11201400" y="32141160"/>
            <a:ext cx="21488400" cy="320040"/>
          </a:xfrm>
          <a:prstGeom prst="roundRect">
            <a:avLst>
              <a:gd name="adj" fmla="val 20000"/>
            </a:avLst>
          </a:prstGeom>
          <a:solidFill>
            <a:srgbClr val="E8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1247120" y="32168592"/>
            <a:ext cx="21396960" cy="265176"/>
          </a:xfrm>
          <a:prstGeom prst="rect">
            <a:avLst/>
          </a:prstGeom>
          <a:noFill/>
        </p:spPr>
        <p:txBody>
          <a:bodyPr wrap="square" lIns="18288" rIns="18288" tIns="18288" bIns="18288"/>
          <a:lstStyle/>
          <a:p>
            <a:pPr algn="ctr">
              <a:lnSpc>
                <a:spcPts val="1150"/>
              </a:lnSpc>
              <a:spcBef>
                <a:spcPts val="0"/>
              </a:spcBef>
              <a:spcAft>
                <a:spcPts val="0"/>
              </a:spcAft>
              <a:defRPr sz="1000" b="0" i="0">
                <a:solidFill>
                  <a:srgbClr val="0B1736"/>
                </a:solidFill>
                <a:latin typeface="Arial"/>
              </a:defRPr>
            </a:pPr>
            <a:r>
              <a:t>Conservative bound: sigma_hat+ = mu + k*sigma (k=1.0). All squares shown are in units of c, where c, w, and g are FEA quantities. P(violation) &lt;= 1/(n+1) = 0.09%  (conformal, distribution-free)</a:t>
            </a:r>
          </a:p>
        </p:txBody>
      </p:sp>
      <p:sp>
        <p:nvSpPr>
          <p:cNvPr id="119" name="TextBox 118"/>
          <p:cNvSpPr txBox="1"/>
          <p:nvPr/>
        </p:nvSpPr>
        <p:spPr>
          <a:xfrm>
            <a:off x="11201400" y="32488632"/>
            <a:ext cx="21488400"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Model version 14, 5-member ensemble. Independent FEA validation on all 1,114 designs.</a:t>
            </a:r>
          </a:p>
        </p:txBody>
      </p:sp>
      <p:sp>
        <p:nvSpPr>
          <p:cNvPr id="120" name="Rounded Rectangle 119"/>
          <p:cNvSpPr/>
          <p:nvPr/>
        </p:nvSpPr>
        <p:spPr>
          <a:xfrm>
            <a:off x="33055560" y="2816352"/>
            <a:ext cx="10698480" cy="457200"/>
          </a:xfrm>
          <a:prstGeom prst="roundRect">
            <a:avLst>
              <a:gd name="adj" fmla="val 12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33055560" y="2816352"/>
            <a:ext cx="10698480" cy="457200"/>
          </a:xfrm>
          <a:prstGeom prst="rect">
            <a:avLst/>
          </a:prstGeom>
          <a:noFill/>
        </p:spPr>
        <p:txBody>
          <a:bodyPr wrap="none" lIns="137160" tIns="54864">
            <a:spAutoFit/>
          </a:bodyPr>
          <a:lstStyle/>
          <a:p>
            <a:pPr algn="ctr">
              <a:spcBef>
                <a:spcPts val="0"/>
              </a:spcBef>
              <a:spcAft>
                <a:spcPts val="0"/>
              </a:spcAft>
              <a:defRPr sz="2400" b="1">
                <a:solidFill>
                  <a:srgbClr val="FFFFFF"/>
                </a:solidFill>
                <a:latin typeface="Arial Black"/>
              </a:defRPr>
            </a:pPr>
            <a:r>
              <a:t>STATISTICAL ANALYSIS</a:t>
            </a:r>
          </a:p>
        </p:txBody>
      </p:sp>
      <p:sp>
        <p:nvSpPr>
          <p:cNvPr id="122" name="Rounded Rectangle 121"/>
          <p:cNvSpPr/>
          <p:nvPr/>
        </p:nvSpPr>
        <p:spPr>
          <a:xfrm>
            <a:off x="33055560" y="3273552"/>
            <a:ext cx="10698480" cy="12070080"/>
          </a:xfrm>
          <a:prstGeom prst="roundRect">
            <a:avLst>
              <a:gd name="adj" fmla="val 35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3147000" y="3364992"/>
            <a:ext cx="10515600" cy="548640"/>
          </a:xfrm>
          <a:prstGeom prst="rect">
            <a:avLst/>
          </a:prstGeom>
          <a:noFill/>
        </p:spPr>
        <p:txBody>
          <a:bodyPr wrap="square" lIns="18288" rIns="18288" tIns="18288" bIns="18288"/>
          <a:lstStyle/>
          <a:p>
            <a:pPr algn="l">
              <a:lnSpc>
                <a:spcPts val="1100"/>
              </a:lnSpc>
              <a:spcBef>
                <a:spcPts val="0"/>
              </a:spcBef>
              <a:spcAft>
                <a:spcPts val="300"/>
              </a:spcAft>
              <a:defRPr sz="900" b="0" i="0">
                <a:solidFill>
                  <a:srgbClr val="0B1736"/>
                </a:solidFill>
                <a:latin typeface="Arial"/>
              </a:defRPr>
            </a:pPr>
            <a:r>
              <a:t>I conducted an in-depth statistical data analysis to quantify and verify the performance of SASTO. A broad, robust test set of 1,114 held-out house geometries was used.</a:t>
            </a:r>
          </a:p>
        </p:txBody>
      </p:sp>
      <p:pic>
        <p:nvPicPr>
          <p:cNvPr id="124" name="Picture 123" descr="fig_k_factor.png"/>
          <p:cNvPicPr>
            <a:picLocks noChangeAspect="1"/>
          </p:cNvPicPr>
          <p:nvPr/>
        </p:nvPicPr>
        <p:blipFill>
          <a:blip r:embed="rId24"/>
          <a:stretch>
            <a:fillRect/>
          </a:stretch>
        </p:blipFill>
        <p:spPr>
          <a:xfrm>
            <a:off x="36158804" y="3913632"/>
            <a:ext cx="4491990" cy="2377440"/>
          </a:xfrm>
          <a:prstGeom prst="rect">
            <a:avLst/>
          </a:prstGeom>
        </p:spPr>
      </p:pic>
      <p:sp>
        <p:nvSpPr>
          <p:cNvPr id="125" name="TextBox 124"/>
          <p:cNvSpPr txBox="1"/>
          <p:nvPr/>
        </p:nvSpPr>
        <p:spPr>
          <a:xfrm>
            <a:off x="33055560" y="6309360"/>
            <a:ext cx="10698480"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Fig. 14. k-factor sensitivity (dual-axis Pareto frontier)</a:t>
            </a:r>
          </a:p>
        </p:txBody>
      </p:sp>
      <p:pic>
        <p:nvPicPr>
          <p:cNvPr id="126" name="Picture 125" descr="fig_uncertainty.png"/>
          <p:cNvPicPr>
            <a:picLocks noChangeAspect="1"/>
          </p:cNvPicPr>
          <p:nvPr/>
        </p:nvPicPr>
        <p:blipFill>
          <a:blip r:embed="rId25"/>
          <a:stretch>
            <a:fillRect/>
          </a:stretch>
        </p:blipFill>
        <p:spPr>
          <a:xfrm>
            <a:off x="36484277" y="6519672"/>
            <a:ext cx="3841045" cy="2011680"/>
          </a:xfrm>
          <a:prstGeom prst="rect">
            <a:avLst/>
          </a:prstGeom>
        </p:spPr>
      </p:pic>
      <p:sp>
        <p:nvSpPr>
          <p:cNvPr id="127" name="TextBox 126"/>
          <p:cNvSpPr txBox="1"/>
          <p:nvPr/>
        </p:nvSpPr>
        <p:spPr>
          <a:xfrm>
            <a:off x="33055560" y="8558784"/>
            <a:ext cx="10698480"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0B1736"/>
                </a:solidFill>
                <a:latin typeface="Arial"/>
              </a:defRPr>
            </a:pPr>
            <a:r>
              <a:t>Fig. 15. Ensemble uncertainty bands during optimization</a:t>
            </a:r>
          </a:p>
        </p:txBody>
      </p:sp>
      <p:graphicFrame>
        <p:nvGraphicFramePr>
          <p:cNvPr id="128" name="Table 127"/>
          <p:cNvGraphicFramePr>
            <a:graphicFrameLocks noGrp="1"/>
          </p:cNvGraphicFramePr>
          <p:nvPr/>
        </p:nvGraphicFramePr>
        <p:xfrm>
          <a:off x="33147000" y="8759952"/>
          <a:ext cx="10515599" cy="804672"/>
        </p:xfrm>
        <a:graphic>
          <a:graphicData uri="http://schemas.openxmlformats.org/drawingml/2006/table">
            <a:tbl>
              <a:tblPr firstRow="1" bandRow="1">
                <a:tableStyleId>{5C22544A-7EE6-4342-B048-85BDC9FD1C3A}</a:tableStyleId>
              </a:tblPr>
              <a:tblGrid>
                <a:gridCol w="3154679"/>
                <a:gridCol w="2628900"/>
                <a:gridCol w="2313432"/>
                <a:gridCol w="2418588"/>
              </a:tblGrid>
              <a:tr h="201168">
                <a:tc>
                  <a:txBody>
                    <a:bodyPr/>
                    <a:lstStyle/>
                    <a:p>
                      <a:pPr algn="l">
                        <a:defRPr sz="900" b="1">
                          <a:solidFill>
                            <a:srgbClr val="FFFFFF"/>
                          </a:solidFill>
                          <a:latin typeface="Arial"/>
                        </a:defRPr>
                      </a:pPr>
                      <a:r>
                        <a:t>Target</a:t>
                      </a:r>
                    </a:p>
                  </a:txBody>
                  <a:tcPr>
                    <a:solidFill>
                      <a:srgbClr val="0A3D9A"/>
                    </a:solidFill>
                  </a:tcPr>
                </a:tc>
                <a:tc>
                  <a:txBody>
                    <a:bodyPr/>
                    <a:lstStyle/>
                    <a:p>
                      <a:pPr algn="l">
                        <a:defRPr sz="900" b="1">
                          <a:solidFill>
                            <a:srgbClr val="FFFFFF"/>
                          </a:solidFill>
                          <a:latin typeface="Arial"/>
                        </a:defRPr>
                      </a:pPr>
                      <a:r>
                        <a:t>Spearman rho</a:t>
                      </a:r>
                    </a:p>
                  </a:txBody>
                  <a:tcPr>
                    <a:solidFill>
                      <a:srgbClr val="0A3D9A"/>
                    </a:solidFill>
                  </a:tcPr>
                </a:tc>
                <a:tc>
                  <a:txBody>
                    <a:bodyPr/>
                    <a:lstStyle/>
                    <a:p>
                      <a:pPr algn="l">
                        <a:defRPr sz="900" b="1">
                          <a:solidFill>
                            <a:srgbClr val="FFFFFF"/>
                          </a:solidFill>
                          <a:latin typeface="Arial"/>
                        </a:defRPr>
                      </a:pPr>
                      <a:r>
                        <a:t>R2_log</a:t>
                      </a:r>
                    </a:p>
                  </a:txBody>
                  <a:tcPr>
                    <a:solidFill>
                      <a:srgbClr val="0A3D9A"/>
                    </a:solidFill>
                  </a:tcPr>
                </a:tc>
                <a:tc>
                  <a:txBody>
                    <a:bodyPr/>
                    <a:lstStyle/>
                    <a:p>
                      <a:pPr algn="l">
                        <a:defRPr sz="900" b="1">
                          <a:solidFill>
                            <a:srgbClr val="FFFFFF"/>
                          </a:solidFill>
                          <a:latin typeface="Arial"/>
                        </a:defRPr>
                      </a:pPr>
                      <a:r>
                        <a:t>MAPE (%)</a:t>
                      </a:r>
                    </a:p>
                  </a:txBody>
                  <a:tcPr>
                    <a:solidFill>
                      <a:srgbClr val="0A3D9A"/>
                    </a:solidFill>
                  </a:tcPr>
                </a:tc>
              </a:tr>
              <a:tr h="201168">
                <a:tc>
                  <a:txBody>
                    <a:bodyPr/>
                    <a:lstStyle/>
                    <a:p>
                      <a:pPr algn="l">
                        <a:defRPr sz="900">
                          <a:solidFill>
                            <a:srgbClr val="0B1736"/>
                          </a:solidFill>
                          <a:latin typeface="Arial"/>
                        </a:defRPr>
                      </a:pPr>
                      <a:r>
                        <a:t>Von Mises stress</a:t>
                      </a:r>
                    </a:p>
                  </a:txBody>
                  <a:tcPr>
                    <a:solidFill>
                      <a:srgbClr val="F7F9FC"/>
                    </a:solidFill>
                  </a:tcPr>
                </a:tc>
                <a:tc>
                  <a:txBody>
                    <a:bodyPr/>
                    <a:lstStyle/>
                    <a:p>
                      <a:pPr algn="l">
                        <a:defRPr sz="900">
                          <a:solidFill>
                            <a:srgbClr val="0B1736"/>
                          </a:solidFill>
                          <a:latin typeface="Arial"/>
                        </a:defRPr>
                      </a:pPr>
                      <a:r>
                        <a:t>0.737</a:t>
                      </a:r>
                    </a:p>
                  </a:txBody>
                  <a:tcPr>
                    <a:solidFill>
                      <a:srgbClr val="F7F9FC"/>
                    </a:solidFill>
                  </a:tcPr>
                </a:tc>
                <a:tc>
                  <a:txBody>
                    <a:bodyPr/>
                    <a:lstStyle/>
                    <a:p>
                      <a:pPr algn="l">
                        <a:defRPr sz="900">
                          <a:solidFill>
                            <a:srgbClr val="0B1736"/>
                          </a:solidFill>
                          <a:latin typeface="Arial"/>
                        </a:defRPr>
                      </a:pPr>
                      <a:r>
                        <a:t>0.419</a:t>
                      </a:r>
                    </a:p>
                  </a:txBody>
                  <a:tcPr>
                    <a:solidFill>
                      <a:srgbClr val="F7F9FC"/>
                    </a:solidFill>
                  </a:tcPr>
                </a:tc>
                <a:tc>
                  <a:txBody>
                    <a:bodyPr/>
                    <a:lstStyle/>
                    <a:p>
                      <a:pPr algn="l">
                        <a:defRPr sz="900">
                          <a:solidFill>
                            <a:srgbClr val="0B1736"/>
                          </a:solidFill>
                          <a:latin typeface="Arial"/>
                        </a:defRPr>
                      </a:pPr>
                      <a:r>
                        <a:t>37.4</a:t>
                      </a:r>
                    </a:p>
                  </a:txBody>
                  <a:tcPr>
                    <a:solidFill>
                      <a:srgbClr val="F7F9FC"/>
                    </a:solidFill>
                  </a:tcPr>
                </a:tc>
              </a:tr>
              <a:tr h="201168">
                <a:tc>
                  <a:txBody>
                    <a:bodyPr/>
                    <a:lstStyle/>
                    <a:p>
                      <a:pPr algn="l">
                        <a:defRPr sz="900">
                          <a:solidFill>
                            <a:srgbClr val="0B1736"/>
                          </a:solidFill>
                          <a:latin typeface="Arial"/>
                        </a:defRPr>
                      </a:pPr>
                      <a:r>
                        <a:t>Displacement</a:t>
                      </a:r>
                    </a:p>
                  </a:txBody>
                  <a:tcPr>
                    <a:solidFill>
                      <a:srgbClr val="EEF2FA"/>
                    </a:solidFill>
                  </a:tcPr>
                </a:tc>
                <a:tc>
                  <a:txBody>
                    <a:bodyPr/>
                    <a:lstStyle/>
                    <a:p>
                      <a:pPr algn="l">
                        <a:defRPr sz="900">
                          <a:solidFill>
                            <a:srgbClr val="0B1736"/>
                          </a:solidFill>
                          <a:latin typeface="Arial"/>
                        </a:defRPr>
                      </a:pPr>
                      <a:r>
                        <a:t>0.970</a:t>
                      </a:r>
                    </a:p>
                  </a:txBody>
                  <a:tcPr>
                    <a:solidFill>
                      <a:srgbClr val="EEF2FA"/>
                    </a:solidFill>
                  </a:tcPr>
                </a:tc>
                <a:tc>
                  <a:txBody>
                    <a:bodyPr/>
                    <a:lstStyle/>
                    <a:p>
                      <a:pPr algn="l">
                        <a:defRPr sz="900">
                          <a:solidFill>
                            <a:srgbClr val="0B1736"/>
                          </a:solidFill>
                          <a:latin typeface="Arial"/>
                        </a:defRPr>
                      </a:pPr>
                      <a:r>
                        <a:t>0.842</a:t>
                      </a:r>
                    </a:p>
                  </a:txBody>
                  <a:tcPr>
                    <a:solidFill>
                      <a:srgbClr val="EEF2FA"/>
                    </a:solidFill>
                  </a:tcPr>
                </a:tc>
                <a:tc>
                  <a:txBody>
                    <a:bodyPr/>
                    <a:lstStyle/>
                    <a:p>
                      <a:pPr algn="l">
                        <a:defRPr sz="900">
                          <a:solidFill>
                            <a:srgbClr val="0B1736"/>
                          </a:solidFill>
                          <a:latin typeface="Arial"/>
                        </a:defRPr>
                      </a:pPr>
                      <a:r>
                        <a:t>10.9</a:t>
                      </a:r>
                    </a:p>
                  </a:txBody>
                  <a:tcPr>
                    <a:solidFill>
                      <a:srgbClr val="EEF2FA"/>
                    </a:solidFill>
                  </a:tcPr>
                </a:tc>
              </a:tr>
              <a:tr h="201168">
                <a:tc>
                  <a:txBody>
                    <a:bodyPr/>
                    <a:lstStyle/>
                    <a:p>
                      <a:pPr algn="l">
                        <a:defRPr sz="900">
                          <a:solidFill>
                            <a:srgbClr val="0B1736"/>
                          </a:solidFill>
                          <a:latin typeface="Arial"/>
                        </a:defRPr>
                      </a:pPr>
                      <a:r>
                        <a:t>Compliance</a:t>
                      </a:r>
                    </a:p>
                  </a:txBody>
                  <a:tcPr>
                    <a:solidFill>
                      <a:srgbClr val="F7F9FC"/>
                    </a:solidFill>
                  </a:tcPr>
                </a:tc>
                <a:tc>
                  <a:txBody>
                    <a:bodyPr/>
                    <a:lstStyle/>
                    <a:p>
                      <a:pPr algn="l">
                        <a:defRPr sz="900">
                          <a:solidFill>
                            <a:srgbClr val="0B1736"/>
                          </a:solidFill>
                          <a:latin typeface="Arial"/>
                        </a:defRPr>
                      </a:pPr>
                      <a:r>
                        <a:t>0.948</a:t>
                      </a:r>
                    </a:p>
                  </a:txBody>
                  <a:tcPr>
                    <a:solidFill>
                      <a:srgbClr val="F7F9FC"/>
                    </a:solidFill>
                  </a:tcPr>
                </a:tc>
                <a:tc>
                  <a:txBody>
                    <a:bodyPr/>
                    <a:lstStyle/>
                    <a:p>
                      <a:pPr algn="l">
                        <a:defRPr sz="900">
                          <a:solidFill>
                            <a:srgbClr val="0B1736"/>
                          </a:solidFill>
                          <a:latin typeface="Arial"/>
                        </a:defRPr>
                      </a:pPr>
                      <a:r>
                        <a:t>0.814</a:t>
                      </a:r>
                    </a:p>
                  </a:txBody>
                  <a:tcPr>
                    <a:solidFill>
                      <a:srgbClr val="F7F9FC"/>
                    </a:solidFill>
                  </a:tcPr>
                </a:tc>
                <a:tc>
                  <a:txBody>
                    <a:bodyPr/>
                    <a:lstStyle/>
                    <a:p>
                      <a:pPr algn="l">
                        <a:defRPr sz="900">
                          <a:solidFill>
                            <a:srgbClr val="0B1736"/>
                          </a:solidFill>
                          <a:latin typeface="Arial"/>
                        </a:defRPr>
                      </a:pPr>
                      <a:r>
                        <a:t>18.5</a:t>
                      </a:r>
                    </a:p>
                  </a:txBody>
                  <a:tcPr>
                    <a:solidFill>
                      <a:srgbClr val="F7F9FC"/>
                    </a:solidFill>
                  </a:tcPr>
                </a:tc>
              </a:tr>
            </a:tbl>
          </a:graphicData>
        </a:graphic>
      </p:graphicFrame>
      <p:sp>
        <p:nvSpPr>
          <p:cNvPr id="129" name="TextBox 128"/>
          <p:cNvSpPr txBox="1"/>
          <p:nvPr/>
        </p:nvSpPr>
        <p:spPr>
          <a:xfrm>
            <a:off x="33147000" y="9674352"/>
            <a:ext cx="10515600" cy="3840480"/>
          </a:xfrm>
          <a:prstGeom prst="rect">
            <a:avLst/>
          </a:prstGeom>
          <a:noFill/>
        </p:spPr>
        <p:txBody>
          <a:bodyPr wrap="square" lIns="18288" rIns="18288" tIns="18288" bIns="18288"/>
          <a:lstStyle/>
          <a:p>
            <a:pPr algn="l">
              <a:spcBef>
                <a:spcPts val="200"/>
              </a:spcBef>
              <a:spcAft>
                <a:spcPts val="300"/>
              </a:spcAft>
              <a:defRPr sz="800" b="0" i="1">
                <a:solidFill>
                  <a:srgbClr val="0B1736"/>
                </a:solidFill>
                <a:latin typeface="Arial"/>
              </a:defRPr>
            </a:pPr>
            <a:r>
              <a:t>Surrogate requires ranking accuracy, not pointwise accuracy — compliance Spearman rho = 0.948 drives optimization safety.</a:t>
            </a:r>
          </a:p>
          <a:p>
            <a:pPr algn="l">
              <a:spcBef>
                <a:spcPts val="200"/>
              </a:spcBef>
              <a:spcAft>
                <a:spcPts val="200"/>
              </a:spcAft>
              <a:defRPr sz="1000" b="1" i="0">
                <a:solidFill>
                  <a:srgbClr val="0B1736"/>
                </a:solidFill>
                <a:latin typeface="Arial"/>
              </a:defRPr>
            </a:pPr>
            <a:r>
              <a:t>Conformal Prediction Results:</a:t>
            </a:r>
          </a:p>
          <a:p>
            <a:pPr algn="l">
              <a:spcBef>
                <a:spcPts val="0"/>
              </a:spcBef>
              <a:spcAft>
                <a:spcPts val="0"/>
              </a:spcAft>
              <a:defRPr sz="800" b="0" i="0">
                <a:solidFill>
                  <a:srgbClr val="0B1736"/>
                </a:solidFill>
                <a:latin typeface="Arial"/>
              </a:defRPr>
            </a:pPr>
            <a:r>
              <a:t>• Conformal k for 84.1% compliance coverage: k = 1.90 (heavier tails than Gaussian)</a:t>
            </a:r>
          </a:p>
          <a:p>
            <a:pPr algn="l">
              <a:spcBef>
                <a:spcPts val="0"/>
              </a:spcBef>
              <a:spcAft>
                <a:spcPts val="0"/>
              </a:spcAft>
              <a:defRPr sz="800" b="0" i="0">
                <a:solidFill>
                  <a:srgbClr val="0B1736"/>
                </a:solidFill>
                <a:latin typeface="Arial"/>
              </a:defRPr>
            </a:pPr>
            <a:r>
              <a:t>• Conformal k for 84.1% VM stress coverage: k = 4.31 (localized, hard to predict)</a:t>
            </a:r>
          </a:p>
          <a:p>
            <a:pPr algn="l">
              <a:spcBef>
                <a:spcPts val="0"/>
              </a:spcBef>
              <a:spcAft>
                <a:spcPts val="0"/>
              </a:spcAft>
              <a:defRPr sz="800" b="0" i="0">
                <a:solidFill>
                  <a:srgbClr val="0B1736"/>
                </a:solidFill>
                <a:latin typeface="Arial"/>
              </a:defRPr>
            </a:pPr>
            <a:r>
              <a:t>• 99% conformal upper bound on C_opt/C_base: 0.950 (margin 0.20 to limit 1.15)</a:t>
            </a:r>
          </a:p>
          <a:p>
            <a:pPr algn="l">
              <a:spcBef>
                <a:spcPts val="0"/>
              </a:spcBef>
              <a:spcAft>
                <a:spcPts val="200"/>
              </a:spcAft>
              <a:defRPr sz="800" b="1" i="0">
                <a:solidFill>
                  <a:srgbClr val="008C9E"/>
                </a:solidFill>
                <a:latin typeface="Arial"/>
              </a:defRPr>
            </a:pPr>
            <a:r>
              <a:t>• P(violation) &lt;= 1/(n+1) = 0.09% (distribution-free, n=1,114)</a:t>
            </a:r>
          </a:p>
          <a:p>
            <a:pPr algn="l">
              <a:spcBef>
                <a:spcPts val="200"/>
              </a:spcBef>
              <a:spcAft>
                <a:spcPts val="200"/>
              </a:spcAft>
              <a:defRPr sz="1000" b="1" i="0">
                <a:solidFill>
                  <a:srgbClr val="0B1736"/>
                </a:solidFill>
                <a:latin typeface="Arial"/>
              </a:defRPr>
            </a:pPr>
            <a:r>
              <a:t>Endpoints &amp; Specifications (tested on RTX A3000 Laptop GPU):</a:t>
            </a:r>
          </a:p>
          <a:p>
            <a:pPr algn="l">
              <a:lnSpc>
                <a:spcPts val="1000"/>
              </a:lnSpc>
              <a:spcBef>
                <a:spcPts val="0"/>
              </a:spcBef>
              <a:spcAft>
                <a:spcPts val="0"/>
              </a:spcAft>
              <a:defRPr sz="800" b="0" i="0">
                <a:solidFill>
                  <a:srgbClr val="0B1736"/>
                </a:solidFill>
                <a:latin typeface="Arial"/>
              </a:defRPr>
            </a:pPr>
            <a:r>
              <a:t>SASTO runtime is four orders of magnitude faster than the widespread SIMP topology optimization approach. Based on my testing, SASTO enables optimization on a consumer GPU machine, and its simple UI allows anyone to access the technology easily.</a:t>
            </a:r>
          </a:p>
        </p:txBody>
      </p:sp>
      <p:graphicFrame>
        <p:nvGraphicFramePr>
          <p:cNvPr id="130" name="Table 129"/>
          <p:cNvGraphicFramePr>
            <a:graphicFrameLocks noGrp="1"/>
          </p:cNvGraphicFramePr>
          <p:nvPr/>
        </p:nvGraphicFramePr>
        <p:xfrm>
          <a:off x="33147000" y="13606272"/>
          <a:ext cx="10515597" cy="804672"/>
        </p:xfrm>
        <a:graphic>
          <a:graphicData uri="http://schemas.openxmlformats.org/drawingml/2006/table">
            <a:tbl>
              <a:tblPr firstRow="1" bandRow="1">
                <a:tableStyleId>{5C22544A-7EE6-4342-B048-85BDC9FD1C3A}</a:tableStyleId>
              </a:tblPr>
              <a:tblGrid>
                <a:gridCol w="3680459"/>
                <a:gridCol w="3680459"/>
                <a:gridCol w="3154679"/>
              </a:tblGrid>
              <a:tr h="201168">
                <a:tc>
                  <a:txBody>
                    <a:bodyPr/>
                    <a:lstStyle/>
                    <a:p>
                      <a:pPr algn="l">
                        <a:defRPr sz="900" b="1">
                          <a:solidFill>
                            <a:srgbClr val="FFFFFF"/>
                          </a:solidFill>
                          <a:latin typeface="Arial"/>
                        </a:defRPr>
                      </a:pPr>
                      <a:r>
                        <a:t>Approach</a:t>
                      </a:r>
                    </a:p>
                  </a:txBody>
                  <a:tcPr>
                    <a:solidFill>
                      <a:srgbClr val="0A3D9A"/>
                    </a:solidFill>
                  </a:tcPr>
                </a:tc>
                <a:tc>
                  <a:txBody>
                    <a:bodyPr/>
                    <a:lstStyle/>
                    <a:p>
                      <a:pPr algn="l">
                        <a:defRPr sz="900" b="1">
                          <a:solidFill>
                            <a:srgbClr val="FFFFFF"/>
                          </a:solidFill>
                          <a:latin typeface="Arial"/>
                        </a:defRPr>
                      </a:pPr>
                      <a:r>
                        <a:t>Per Design</a:t>
                      </a:r>
                    </a:p>
                  </a:txBody>
                  <a:tcPr>
                    <a:solidFill>
                      <a:srgbClr val="0A3D9A"/>
                    </a:solidFill>
                  </a:tcPr>
                </a:tc>
                <a:tc>
                  <a:txBody>
                    <a:bodyPr/>
                    <a:lstStyle/>
                    <a:p>
                      <a:pPr algn="l">
                        <a:defRPr sz="900" b="1">
                          <a:solidFill>
                            <a:srgbClr val="FFFFFF"/>
                          </a:solidFill>
                          <a:latin typeface="Arial"/>
                        </a:defRPr>
                      </a:pPr>
                      <a:r>
                        <a:t>Speedup</a:t>
                      </a:r>
                    </a:p>
                  </a:txBody>
                  <a:tcPr>
                    <a:solidFill>
                      <a:srgbClr val="0A3D9A"/>
                    </a:solidFill>
                  </a:tcPr>
                </a:tc>
              </a:tr>
              <a:tr h="201168">
                <a:tc>
                  <a:txBody>
                    <a:bodyPr/>
                    <a:lstStyle/>
                    <a:p>
                      <a:pPr algn="l">
                        <a:defRPr sz="900">
                          <a:solidFill>
                            <a:srgbClr val="0B1736"/>
                          </a:solidFill>
                          <a:latin typeface="Arial"/>
                        </a:defRPr>
                      </a:pPr>
                      <a:r>
                        <a:t>SASTO (ours)</a:t>
                      </a:r>
                    </a:p>
                  </a:txBody>
                  <a:tcPr>
                    <a:solidFill>
                      <a:srgbClr val="F7F9FC"/>
                    </a:solidFill>
                  </a:tcPr>
                </a:tc>
                <a:tc>
                  <a:txBody>
                    <a:bodyPr/>
                    <a:lstStyle/>
                    <a:p>
                      <a:pPr algn="l">
                        <a:defRPr sz="900">
                          <a:solidFill>
                            <a:srgbClr val="0B1736"/>
                          </a:solidFill>
                          <a:latin typeface="Arial"/>
                        </a:defRPr>
                      </a:pPr>
                      <a:r>
                        <a:t>50 s median</a:t>
                      </a:r>
                    </a:p>
                  </a:txBody>
                  <a:tcPr>
                    <a:solidFill>
                      <a:srgbClr val="F7F9FC"/>
                    </a:solidFill>
                  </a:tcPr>
                </a:tc>
                <a:tc>
                  <a:txBody>
                    <a:bodyPr/>
                    <a:lstStyle/>
                    <a:p>
                      <a:pPr algn="l">
                        <a:defRPr sz="900">
                          <a:solidFill>
                            <a:srgbClr val="0B1736"/>
                          </a:solidFill>
                          <a:latin typeface="Arial"/>
                        </a:defRPr>
                      </a:pPr>
                      <a:r>
                        <a:t>1x (baseline)</a:t>
                      </a:r>
                    </a:p>
                  </a:txBody>
                  <a:tcPr>
                    <a:solidFill>
                      <a:srgbClr val="F7F9FC"/>
                    </a:solidFill>
                  </a:tcPr>
                </a:tc>
              </a:tr>
              <a:tr h="201168">
                <a:tc>
                  <a:txBody>
                    <a:bodyPr/>
                    <a:lstStyle/>
                    <a:p>
                      <a:pPr algn="l">
                        <a:defRPr sz="900">
                          <a:solidFill>
                            <a:srgbClr val="0B1736"/>
                          </a:solidFill>
                          <a:latin typeface="Arial"/>
                        </a:defRPr>
                      </a:pPr>
                      <a:r>
                        <a:t>SIMP (64-cube)</a:t>
                      </a:r>
                    </a:p>
                  </a:txBody>
                  <a:tcPr>
                    <a:solidFill>
                      <a:srgbClr val="EEF2FA"/>
                    </a:solidFill>
                  </a:tcPr>
                </a:tc>
                <a:tc>
                  <a:txBody>
                    <a:bodyPr/>
                    <a:lstStyle/>
                    <a:p>
                      <a:pPr algn="l">
                        <a:defRPr sz="900">
                          <a:solidFill>
                            <a:srgbClr val="0B1736"/>
                          </a:solidFill>
                          <a:latin typeface="Arial"/>
                        </a:defRPr>
                      </a:pPr>
                      <a:r>
                        <a:t>94 s median</a:t>
                      </a:r>
                    </a:p>
                  </a:txBody>
                  <a:tcPr>
                    <a:solidFill>
                      <a:srgbClr val="EEF2FA"/>
                    </a:solidFill>
                  </a:tcPr>
                </a:tc>
                <a:tc>
                  <a:txBody>
                    <a:bodyPr/>
                    <a:lstStyle/>
                    <a:p>
                      <a:pPr algn="l">
                        <a:defRPr sz="900">
                          <a:solidFill>
                            <a:srgbClr val="0B1736"/>
                          </a:solidFill>
                          <a:latin typeface="Arial"/>
                        </a:defRPr>
                      </a:pPr>
                      <a:r>
                        <a:t>~0.5x</a:t>
                      </a:r>
                    </a:p>
                  </a:txBody>
                  <a:tcPr>
                    <a:solidFill>
                      <a:srgbClr val="EEF2FA"/>
                    </a:solidFill>
                  </a:tcPr>
                </a:tc>
              </a:tr>
              <a:tr h="201168">
                <a:tc>
                  <a:txBody>
                    <a:bodyPr/>
                    <a:lstStyle/>
                    <a:p>
                      <a:pPr algn="l">
                        <a:defRPr sz="900">
                          <a:solidFill>
                            <a:srgbClr val="0B1736"/>
                          </a:solidFill>
                          <a:latin typeface="Arial"/>
                        </a:defRPr>
                      </a:pPr>
                      <a:r>
                        <a:t>SIMP (128-cube proj.)</a:t>
                      </a:r>
                    </a:p>
                  </a:txBody>
                  <a:tcPr>
                    <a:solidFill>
                      <a:srgbClr val="F7F9FC"/>
                    </a:solidFill>
                  </a:tcPr>
                </a:tc>
                <a:tc>
                  <a:txBody>
                    <a:bodyPr/>
                    <a:lstStyle/>
                    <a:p>
                      <a:pPr algn="l">
                        <a:defRPr sz="900">
                          <a:solidFill>
                            <a:srgbClr val="0B1736"/>
                          </a:solidFill>
                          <a:latin typeface="Arial"/>
                        </a:defRPr>
                      </a:pPr>
                      <a:r>
                        <a:t>19-77 min</a:t>
                      </a:r>
                    </a:p>
                  </a:txBody>
                  <a:tcPr>
                    <a:solidFill>
                      <a:srgbClr val="F7F9FC"/>
                    </a:solidFill>
                  </a:tcPr>
                </a:tc>
                <a:tc>
                  <a:txBody>
                    <a:bodyPr/>
                    <a:lstStyle/>
                    <a:p>
                      <a:pPr algn="l">
                        <a:defRPr sz="900">
                          <a:solidFill>
                            <a:srgbClr val="0B1736"/>
                          </a:solidFill>
                          <a:latin typeface="Arial"/>
                        </a:defRPr>
                      </a:pPr>
                      <a:r>
                        <a:t>23-92x slower</a:t>
                      </a:r>
                    </a:p>
                  </a:txBody>
                  <a:tcPr>
                    <a:solidFill>
                      <a:srgbClr val="F7F9FC"/>
                    </a:solidFill>
                  </a:tcPr>
                </a:tc>
              </a:tr>
            </a:tbl>
          </a:graphicData>
        </a:graphic>
      </p:graphicFrame>
      <p:sp>
        <p:nvSpPr>
          <p:cNvPr id="131" name="Rounded Rectangle 130"/>
          <p:cNvSpPr/>
          <p:nvPr/>
        </p:nvSpPr>
        <p:spPr>
          <a:xfrm>
            <a:off x="33055560" y="15398496"/>
            <a:ext cx="10698480" cy="457200"/>
          </a:xfrm>
          <a:prstGeom prst="roundRect">
            <a:avLst>
              <a:gd name="adj" fmla="val 12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3055560" y="15398496"/>
            <a:ext cx="10698480" cy="457200"/>
          </a:xfrm>
          <a:prstGeom prst="rect">
            <a:avLst/>
          </a:prstGeom>
          <a:noFill/>
        </p:spPr>
        <p:txBody>
          <a:bodyPr wrap="none" lIns="137160" tIns="54864">
            <a:spAutoFit/>
          </a:bodyPr>
          <a:lstStyle/>
          <a:p>
            <a:pPr algn="ctr">
              <a:spcBef>
                <a:spcPts val="0"/>
              </a:spcBef>
              <a:spcAft>
                <a:spcPts val="0"/>
              </a:spcAft>
              <a:defRPr sz="2400" b="1">
                <a:solidFill>
                  <a:srgbClr val="FFFFFF"/>
                </a:solidFill>
                <a:latin typeface="Arial Black"/>
              </a:defRPr>
            </a:pPr>
            <a:r>
              <a:t>CONCLUSIONS</a:t>
            </a:r>
          </a:p>
        </p:txBody>
      </p:sp>
      <p:sp>
        <p:nvSpPr>
          <p:cNvPr id="133" name="Rounded Rectangle 132"/>
          <p:cNvSpPr/>
          <p:nvPr/>
        </p:nvSpPr>
        <p:spPr>
          <a:xfrm>
            <a:off x="33055560" y="15855696"/>
            <a:ext cx="10698480" cy="5303520"/>
          </a:xfrm>
          <a:prstGeom prst="roundRect">
            <a:avLst>
              <a:gd name="adj" fmla="val 35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33147000" y="15947136"/>
            <a:ext cx="10515600" cy="5120640"/>
          </a:xfrm>
          <a:prstGeom prst="rect">
            <a:avLst/>
          </a:prstGeom>
          <a:noFill/>
        </p:spPr>
        <p:txBody>
          <a:bodyPr wrap="square" lIns="18288" rIns="18288" tIns="18288" bIns="18288"/>
          <a:lstStyle/>
          <a:p>
            <a:pPr algn="l">
              <a:lnSpc>
                <a:spcPts val="1100"/>
              </a:lnSpc>
              <a:spcBef>
                <a:spcPts val="0"/>
              </a:spcBef>
              <a:spcAft>
                <a:spcPts val="300"/>
              </a:spcAft>
              <a:defRPr sz="900" b="0" i="0">
                <a:solidFill>
                  <a:srgbClr val="0B1736"/>
                </a:solidFill>
                <a:latin typeface="Arial"/>
              </a:defRPr>
            </a:pPr>
            <a:r>
              <a:t>This research demonstrates that the deep learning surrogate can optimize building-scale structures just as accurately as FEA. SASTO solves the key problems by (1) having clinically viable runtimes, (2) being able to run on any initial geometry, and (3) being personalized to each building's structural characteristics.</a:t>
            </a:r>
          </a:p>
          <a:p>
            <a:pPr algn="l">
              <a:spcBef>
                <a:spcPts val="100"/>
              </a:spcBef>
              <a:spcAft>
                <a:spcPts val="200"/>
              </a:spcAft>
              <a:defRPr sz="1000" b="1" i="0">
                <a:solidFill>
                  <a:srgbClr val="0B1736"/>
                </a:solidFill>
                <a:latin typeface="Arial"/>
              </a:defRPr>
            </a:pPr>
            <a:r>
              <a:t>Revisiting Engineering Criteria:</a:t>
            </a:r>
          </a:p>
          <a:p>
            <a:pPr algn="l">
              <a:spcBef>
                <a:spcPts val="0"/>
              </a:spcBef>
              <a:spcAft>
                <a:spcPts val="100"/>
              </a:spcAft>
              <a:defRPr sz="800" b="0" i="0">
                <a:solidFill>
                  <a:srgbClr val="0B1736"/>
                </a:solidFill>
                <a:latin typeface="Arial"/>
              </a:defRPr>
            </a:pPr>
            <a:r>
              <a:t>• SASTO exceeded the claim and met all the engineering endpoints by being able to optimize any house geometry with any initial thickness.</a:t>
            </a:r>
          </a:p>
          <a:p>
            <a:pPr algn="l">
              <a:spcBef>
                <a:spcPts val="0"/>
              </a:spcBef>
              <a:spcAft>
                <a:spcPts val="100"/>
              </a:spcAft>
              <a:defRPr sz="800" b="0" i="0">
                <a:solidFill>
                  <a:srgbClr val="0B1736"/>
                </a:solidFill>
                <a:latin typeface="Arial"/>
              </a:defRPr>
            </a:pPr>
            <a:r>
              <a:t>• SASTO has near-perfect agreement with the ground truth, real FEA solutions, while running the equivalent of 1,000 FEA simulations for a design in just ~50 seconds (vs. 19-77 min) via neural approximation.</a:t>
            </a:r>
          </a:p>
          <a:p>
            <a:pPr algn="l">
              <a:spcBef>
                <a:spcPts val="200"/>
              </a:spcBef>
              <a:spcAft>
                <a:spcPts val="100"/>
              </a:spcAft>
              <a:defRPr sz="900" b="1" i="0">
                <a:solidFill>
                  <a:srgbClr val="0B1736"/>
                </a:solidFill>
                <a:latin typeface="Arial"/>
              </a:defRPr>
            </a:pPr>
            <a:r>
              <a:t>Bench Impacts: This study has introduced several novel methods and results.</a:t>
            </a:r>
          </a:p>
          <a:p>
            <a:pPr algn="l">
              <a:spcBef>
                <a:spcPts val="0"/>
              </a:spcBef>
              <a:spcAft>
                <a:spcPts val="0"/>
              </a:spcAft>
              <a:defRPr sz="800" b="0" i="0">
                <a:solidFill>
                  <a:srgbClr val="0B1736"/>
                </a:solidFill>
                <a:latin typeface="Arial"/>
              </a:defRPr>
            </a:pPr>
            <a:r>
              <a:t>• Serves as a proof-of-concept for surrogate-based building optimization.</a:t>
            </a:r>
          </a:p>
          <a:p>
            <a:pPr algn="l">
              <a:spcBef>
                <a:spcPts val="0"/>
              </a:spcBef>
              <a:spcAft>
                <a:spcPts val="0"/>
              </a:spcAft>
              <a:defRPr sz="800" b="0" i="0">
                <a:solidFill>
                  <a:srgbClr val="0B1736"/>
                </a:solidFill>
                <a:latin typeface="Arial"/>
              </a:defRPr>
            </a:pPr>
            <a:r>
              <a:t>• Architecture can be applied to other structures, sub-buildings, and even other domains.</a:t>
            </a:r>
          </a:p>
          <a:p>
            <a:pPr algn="l">
              <a:spcBef>
                <a:spcPts val="0"/>
              </a:spcBef>
              <a:spcAft>
                <a:spcPts val="0"/>
              </a:spcAft>
              <a:defRPr sz="800" b="0" i="0">
                <a:solidFill>
                  <a:srgbClr val="0B1736"/>
                </a:solidFill>
                <a:latin typeface="Arial"/>
              </a:defRPr>
            </a:pPr>
            <a:r>
              <a:t>• 6-connectivity criterion is a new contribution to voxel-based topology optimization.</a:t>
            </a:r>
          </a:p>
          <a:p>
            <a:pPr algn="l">
              <a:spcBef>
                <a:spcPts val="200"/>
              </a:spcBef>
              <a:spcAft>
                <a:spcPts val="100"/>
              </a:spcAft>
              <a:defRPr sz="900" b="1" i="0">
                <a:solidFill>
                  <a:srgbClr val="0B1736"/>
                </a:solidFill>
                <a:latin typeface="Arial"/>
              </a:defRPr>
            </a:pPr>
            <a:r>
              <a:t>Bedside Impacts: SASTO is a decision support tool for structural engineers.</a:t>
            </a:r>
          </a:p>
          <a:p>
            <a:pPr algn="l">
              <a:spcBef>
                <a:spcPts val="0"/>
              </a:spcBef>
              <a:spcAft>
                <a:spcPts val="0"/>
              </a:spcAft>
              <a:defRPr sz="800" b="0" i="0">
                <a:solidFill>
                  <a:srgbClr val="0B1736"/>
                </a:solidFill>
                <a:latin typeface="Arial"/>
              </a:defRPr>
            </a:pPr>
            <a:r>
              <a:t>• Reduces turnaround time for precise optimization from days to minutes.</a:t>
            </a:r>
          </a:p>
          <a:p>
            <a:pPr algn="l">
              <a:spcBef>
                <a:spcPts val="0"/>
              </a:spcBef>
              <a:spcAft>
                <a:spcPts val="0"/>
              </a:spcAft>
              <a:defRPr sz="800" b="1" i="0">
                <a:solidFill>
                  <a:srgbClr val="008C9E"/>
                </a:solidFill>
                <a:latin typeface="Arial"/>
              </a:defRPr>
            </a:pPr>
            <a:r>
              <a:t>• 8% of global CO2 = cement. 23.5% less concrete per house -&gt; millions of tons saved at scale.</a:t>
            </a:r>
          </a:p>
        </p:txBody>
      </p:sp>
      <p:sp>
        <p:nvSpPr>
          <p:cNvPr id="135" name="Rounded Rectangle 134"/>
          <p:cNvSpPr/>
          <p:nvPr/>
        </p:nvSpPr>
        <p:spPr>
          <a:xfrm>
            <a:off x="33055560" y="21214080"/>
            <a:ext cx="10698480" cy="457200"/>
          </a:xfrm>
          <a:prstGeom prst="roundRect">
            <a:avLst>
              <a:gd name="adj" fmla="val 12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33055560" y="21214080"/>
            <a:ext cx="10698480" cy="457200"/>
          </a:xfrm>
          <a:prstGeom prst="rect">
            <a:avLst/>
          </a:prstGeom>
          <a:noFill/>
        </p:spPr>
        <p:txBody>
          <a:bodyPr wrap="none" lIns="137160" tIns="54864">
            <a:spAutoFit/>
          </a:bodyPr>
          <a:lstStyle/>
          <a:p>
            <a:pPr algn="ctr">
              <a:spcBef>
                <a:spcPts val="0"/>
              </a:spcBef>
              <a:spcAft>
                <a:spcPts val="0"/>
              </a:spcAft>
              <a:defRPr sz="2400" b="1">
                <a:solidFill>
                  <a:srgbClr val="FFFFFF"/>
                </a:solidFill>
                <a:latin typeface="Arial Black"/>
              </a:defRPr>
            </a:pPr>
            <a:r>
              <a:t>FUTURE WORK</a:t>
            </a:r>
          </a:p>
        </p:txBody>
      </p:sp>
      <p:sp>
        <p:nvSpPr>
          <p:cNvPr id="137" name="Rounded Rectangle 136"/>
          <p:cNvSpPr/>
          <p:nvPr/>
        </p:nvSpPr>
        <p:spPr>
          <a:xfrm>
            <a:off x="33055560" y="21671280"/>
            <a:ext cx="10698480" cy="3474720"/>
          </a:xfrm>
          <a:prstGeom prst="roundRect">
            <a:avLst>
              <a:gd name="adj" fmla="val 35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3147000" y="21762720"/>
            <a:ext cx="10515600" cy="3291839"/>
          </a:xfrm>
          <a:prstGeom prst="rect">
            <a:avLst/>
          </a:prstGeom>
          <a:noFill/>
        </p:spPr>
        <p:txBody>
          <a:bodyPr wrap="square" lIns="18288" rIns="18288" tIns="18288" bIns="18288"/>
          <a:lstStyle/>
          <a:p>
            <a:pPr algn="l">
              <a:lnSpc>
                <a:spcPts val="1100"/>
              </a:lnSpc>
              <a:spcBef>
                <a:spcPts val="0"/>
              </a:spcBef>
              <a:spcAft>
                <a:spcPts val="200"/>
              </a:spcAft>
              <a:defRPr sz="900" b="0" i="0">
                <a:solidFill>
                  <a:srgbClr val="0B1736"/>
                </a:solidFill>
                <a:latin typeface="Arial"/>
              </a:defRPr>
            </a:pPr>
            <a:r>
              <a:t>I am very excited about the results I have achieved thus far. I have lots of ideas for future investigation and studies I want to conduct next:</a:t>
            </a:r>
          </a:p>
          <a:p>
            <a:pPr algn="l">
              <a:spcBef>
                <a:spcPts val="0"/>
              </a:spcBef>
              <a:spcAft>
                <a:spcPts val="100"/>
              </a:spcAft>
              <a:defRPr sz="800" b="0" i="0">
                <a:solidFill>
                  <a:srgbClr val="0B1736"/>
                </a:solidFill>
                <a:latin typeface="Arial"/>
              </a:defRPr>
            </a:pPr>
            <a:r>
              <a:t>• Apply FEA-in-the-loop active learning: When ensemble disagreement exceeds threshold, trigger ground-truth FEA mid-optimization, creating a self-correcting safety net.</a:t>
            </a:r>
          </a:p>
          <a:p>
            <a:pPr algn="l">
              <a:spcBef>
                <a:spcPts val="0"/>
              </a:spcBef>
              <a:spcAft>
                <a:spcPts val="100"/>
              </a:spcAft>
              <a:defRPr sz="800" b="0" i="0">
                <a:solidFill>
                  <a:srgbClr val="0B1736"/>
                </a:solidFill>
                <a:latin typeface="Arial"/>
              </a:defRPr>
            </a:pPr>
            <a:r>
              <a:t>• Run nonlinear FEA spot checks (concrete damaged plasticity) to assess whether 78mm interior partitions exhibit cracking or buckling.</a:t>
            </a:r>
          </a:p>
          <a:p>
            <a:pPr algn="l">
              <a:spcBef>
                <a:spcPts val="0"/>
              </a:spcBef>
              <a:spcAft>
                <a:spcPts val="100"/>
              </a:spcAft>
              <a:defRPr sz="800" b="0" i="0">
                <a:solidFill>
                  <a:srgbClr val="0B1736"/>
                </a:solidFill>
                <a:latin typeface="Arial"/>
              </a:defRPr>
            </a:pPr>
            <a:r>
              <a:t>• Physical print validation: Fabricate one optimized house at 1:10 scale. Compression testing + DIC strain measurement.</a:t>
            </a:r>
          </a:p>
          <a:p>
            <a:pPr algn="l">
              <a:spcBef>
                <a:spcPts val="0"/>
              </a:spcBef>
              <a:spcAft>
                <a:spcPts val="100"/>
              </a:spcAft>
              <a:defRPr sz="800" b="0" i="0">
                <a:solidFill>
                  <a:srgbClr val="0B1736"/>
                </a:solidFill>
                <a:latin typeface="Arial"/>
              </a:defRPr>
            </a:pPr>
            <a:r>
              <a:t>• Adapt to other forward solving problems in fluid dynamics and natural science disciplines, i.e., ocean current prediction, cell motility.</a:t>
            </a:r>
          </a:p>
          <a:p>
            <a:pPr algn="l">
              <a:spcBef>
                <a:spcPts val="100"/>
              </a:spcBef>
              <a:spcAft>
                <a:spcPts val="100"/>
              </a:spcAft>
              <a:defRPr sz="900" b="1" i="1">
                <a:solidFill>
                  <a:srgbClr val="0B1736"/>
                </a:solidFill>
                <a:latin typeface="Arial"/>
              </a:defRPr>
            </a:pPr>
            <a:r>
              <a:t>Not possible yet due to data availability:</a:t>
            </a:r>
          </a:p>
          <a:p>
            <a:pPr algn="l">
              <a:spcBef>
                <a:spcPts val="0"/>
              </a:spcBef>
              <a:spcAft>
                <a:spcPts val="0"/>
              </a:spcAft>
              <a:defRPr sz="800" b="0" i="0">
                <a:solidFill>
                  <a:srgbClr val="0B1736"/>
                </a:solidFill>
                <a:latin typeface="Arial"/>
              </a:defRPr>
            </a:pPr>
            <a:r>
              <a:t>• Add multi-story structures, seismic loading, and different materials (geopolymer, fiber-reinforced concrete) as parameters in the model.</a:t>
            </a:r>
          </a:p>
        </p:txBody>
      </p:sp>
      <p:sp>
        <p:nvSpPr>
          <p:cNvPr id="139" name="Rounded Rectangle 138"/>
          <p:cNvSpPr/>
          <p:nvPr/>
        </p:nvSpPr>
        <p:spPr>
          <a:xfrm>
            <a:off x="33055560" y="25200864"/>
            <a:ext cx="10698480" cy="457200"/>
          </a:xfrm>
          <a:prstGeom prst="roundRect">
            <a:avLst>
              <a:gd name="adj" fmla="val 12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3055560" y="25200864"/>
            <a:ext cx="10698480" cy="457200"/>
          </a:xfrm>
          <a:prstGeom prst="rect">
            <a:avLst/>
          </a:prstGeom>
          <a:noFill/>
        </p:spPr>
        <p:txBody>
          <a:bodyPr wrap="none" lIns="137160" tIns="54864">
            <a:spAutoFit/>
          </a:bodyPr>
          <a:lstStyle/>
          <a:p>
            <a:pPr algn="ctr">
              <a:spcBef>
                <a:spcPts val="0"/>
              </a:spcBef>
              <a:spcAft>
                <a:spcPts val="0"/>
              </a:spcAft>
              <a:defRPr sz="2400" b="1">
                <a:solidFill>
                  <a:srgbClr val="FFFFFF"/>
                </a:solidFill>
                <a:latin typeface="Arial Black"/>
              </a:defRPr>
            </a:pPr>
            <a:r>
              <a:t>KEY REFERENCES</a:t>
            </a:r>
          </a:p>
        </p:txBody>
      </p:sp>
      <p:sp>
        <p:nvSpPr>
          <p:cNvPr id="141" name="Rounded Rectangle 140"/>
          <p:cNvSpPr/>
          <p:nvPr/>
        </p:nvSpPr>
        <p:spPr>
          <a:xfrm>
            <a:off x="33055560" y="25658064"/>
            <a:ext cx="10698480" cy="7123176"/>
          </a:xfrm>
          <a:prstGeom prst="roundRect">
            <a:avLst>
              <a:gd name="adj" fmla="val 35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33147000" y="25749504"/>
            <a:ext cx="10515600" cy="6894576"/>
          </a:xfrm>
          <a:prstGeom prst="rect">
            <a:avLst/>
          </a:prstGeom>
          <a:noFill/>
        </p:spPr>
        <p:txBody>
          <a:bodyPr wrap="square" lIns="18288" rIns="18288" tIns="18288" bIns="18288"/>
          <a:lstStyle/>
          <a:p>
            <a:pPr algn="l">
              <a:lnSpc>
                <a:spcPts val="1000"/>
              </a:lnSpc>
              <a:spcBef>
                <a:spcPts val="0"/>
              </a:spcBef>
              <a:spcAft>
                <a:spcPts val="100"/>
              </a:spcAft>
              <a:defRPr sz="800" b="0" i="0">
                <a:solidFill>
                  <a:srgbClr val="0B1736"/>
                </a:solidFill>
                <a:latin typeface="Arial"/>
              </a:defRPr>
            </a:pPr>
            <a:r>
              <a:t>M. P. Bendsoe and O. Sigmund. Topology Optimization: Theory, Methods, Applications. Springer, 2003.</a:t>
            </a:r>
          </a:p>
          <a:p>
            <a:pPr algn="l">
              <a:lnSpc>
                <a:spcPts val="1000"/>
              </a:lnSpc>
              <a:spcBef>
                <a:spcPts val="0"/>
              </a:spcBef>
              <a:spcAft>
                <a:spcPts val="100"/>
              </a:spcAft>
              <a:defRPr sz="800" b="0" i="0">
                <a:solidFill>
                  <a:srgbClr val="0B1736"/>
                </a:solidFill>
                <a:latin typeface="Arial"/>
              </a:defRPr>
            </a:pPr>
            <a:r>
              <a:t>B. Lakshminarayanan, A. Pritzel, and C. Blundell. Simple and scalable predictive uncertainty estimation using deep ensembles. NeurIPS, 2017.</a:t>
            </a:r>
          </a:p>
          <a:p>
            <a:pPr algn="l">
              <a:lnSpc>
                <a:spcPts val="1000"/>
              </a:lnSpc>
              <a:spcBef>
                <a:spcPts val="0"/>
              </a:spcBef>
              <a:spcAft>
                <a:spcPts val="100"/>
              </a:spcAft>
              <a:defRPr sz="800" b="0" i="0">
                <a:solidFill>
                  <a:srgbClr val="0B1736"/>
                </a:solidFill>
                <a:latin typeface="Arial"/>
              </a:defRPr>
            </a:pPr>
            <a:r>
              <a:t>T. Y. Kong and A. Rosenfeld. Digital topology: Introduction and survey. CVGIP, 48(3):357-393, 1989.</a:t>
            </a:r>
          </a:p>
          <a:p>
            <a:pPr algn="l">
              <a:lnSpc>
                <a:spcPts val="1000"/>
              </a:lnSpc>
              <a:spcBef>
                <a:spcPts val="0"/>
              </a:spcBef>
              <a:spcAft>
                <a:spcPts val="100"/>
              </a:spcAft>
              <a:defRPr sz="800" b="0" i="0">
                <a:solidFill>
                  <a:srgbClr val="0B1736"/>
                </a:solidFill>
                <a:latin typeface="Arial"/>
              </a:defRPr>
            </a:pPr>
            <a:r>
              <a:t>ASCE. ASCE/SEI 7-22: Minimum Design Loads and Associated Criteria. American Society of Civil Engineers, 2022.</a:t>
            </a:r>
          </a:p>
          <a:p>
            <a:pPr algn="l">
              <a:lnSpc>
                <a:spcPts val="1000"/>
              </a:lnSpc>
              <a:spcBef>
                <a:spcPts val="0"/>
              </a:spcBef>
              <a:spcAft>
                <a:spcPts val="100"/>
              </a:spcAft>
              <a:defRPr sz="800" b="0" i="0">
                <a:solidFill>
                  <a:srgbClr val="0B1736"/>
                </a:solidFill>
                <a:latin typeface="Arial"/>
              </a:defRPr>
            </a:pPr>
            <a:r>
              <a:t>R. A. Buswell et al. 3D printing using concrete extrusion: A roadmap for research. Cem. Concr. Res. 112:37-49, 2018.</a:t>
            </a:r>
          </a:p>
          <a:p>
            <a:pPr algn="l">
              <a:lnSpc>
                <a:spcPts val="1000"/>
              </a:lnSpc>
              <a:spcBef>
                <a:spcPts val="0"/>
              </a:spcBef>
              <a:spcAft>
                <a:spcPts val="100"/>
              </a:spcAft>
              <a:defRPr sz="800" b="0" i="0">
                <a:solidFill>
                  <a:srgbClr val="0B1736"/>
                </a:solidFill>
                <a:latin typeface="Arial"/>
              </a:defRPr>
            </a:pPr>
            <a:r>
              <a:t>O. Sigmund and K. Maute. Topology optimization approaches. Struct. Multidisc. Optim. 48:1031-1056, 2013.</a:t>
            </a:r>
          </a:p>
          <a:p>
            <a:pPr algn="l">
              <a:lnSpc>
                <a:spcPts val="1000"/>
              </a:lnSpc>
              <a:spcBef>
                <a:spcPts val="0"/>
              </a:spcBef>
              <a:spcAft>
                <a:spcPts val="100"/>
              </a:spcAft>
              <a:defRPr sz="800" b="0" i="0">
                <a:solidFill>
                  <a:srgbClr val="0B1736"/>
                </a:solidFill>
                <a:latin typeface="Arial"/>
              </a:defRPr>
            </a:pPr>
            <a:r>
              <a:t>Y. Lin et al. 3DWire: 3D Building Wireframe Dataset. KAUST Visual Computing Center, 2024.</a:t>
            </a:r>
          </a:p>
          <a:p>
            <a:pPr algn="l">
              <a:lnSpc>
                <a:spcPts val="1000"/>
              </a:lnSpc>
              <a:spcBef>
                <a:spcPts val="0"/>
              </a:spcBef>
              <a:spcAft>
                <a:spcPts val="100"/>
              </a:spcAft>
              <a:defRPr sz="800" b="0" i="0">
                <a:solidFill>
                  <a:srgbClr val="0B1736"/>
                </a:solidFill>
                <a:latin typeface="Arial"/>
              </a:defRPr>
            </a:pPr>
            <a:r>
              <a:t>IEA. Global Status Report for Buildings and Construction 2021. Int'l Energy Agency.</a:t>
            </a:r>
          </a:p>
          <a:p>
            <a:pPr algn="l">
              <a:lnSpc>
                <a:spcPts val="1000"/>
              </a:lnSpc>
              <a:spcBef>
                <a:spcPts val="0"/>
              </a:spcBef>
              <a:spcAft>
                <a:spcPts val="100"/>
              </a:spcAft>
              <a:defRPr sz="800" b="0" i="0">
                <a:solidFill>
                  <a:srgbClr val="0B1736"/>
                </a:solidFill>
                <a:latin typeface="Arial"/>
              </a:defRPr>
            </a:pPr>
            <a:r>
              <a:t>W. E. Lorensen and H. E. Cline. Marching Cubes: A high resolution 3D surface construction algorithm. ACM SIGGRAPH, 21(4):163-169, 1987.</a:t>
            </a:r>
          </a:p>
          <a:p>
            <a:pPr algn="l">
              <a:lnSpc>
                <a:spcPts val="1000"/>
              </a:lnSpc>
              <a:spcBef>
                <a:spcPts val="0"/>
              </a:spcBef>
              <a:spcAft>
                <a:spcPts val="100"/>
              </a:spcAft>
              <a:defRPr sz="800" b="0" i="0">
                <a:solidFill>
                  <a:srgbClr val="0B1736"/>
                </a:solidFill>
                <a:latin typeface="Arial"/>
              </a:defRPr>
            </a:pPr>
            <a:r>
              <a:t>V. Vovk, A. Gammerman, and G. Shafer. Algorithmic Learning in a Random World. Springer, 2005.</a:t>
            </a:r>
          </a:p>
        </p:txBody>
      </p:sp>
      <p:sp>
        <p:nvSpPr>
          <p:cNvPr id="143" name="TextBox 142"/>
          <p:cNvSpPr txBox="1"/>
          <p:nvPr/>
        </p:nvSpPr>
        <p:spPr>
          <a:xfrm>
            <a:off x="33147000" y="32552640"/>
            <a:ext cx="10515600" cy="201168"/>
          </a:xfrm>
          <a:prstGeom prst="rect">
            <a:avLst/>
          </a:prstGeom>
          <a:noFill/>
        </p:spPr>
        <p:txBody>
          <a:bodyPr wrap="square" lIns="18288" rIns="18288" tIns="18288" bIns="18288"/>
          <a:lstStyle/>
          <a:p>
            <a:pPr algn="ctr">
              <a:lnSpc>
                <a:spcPts val="919"/>
              </a:lnSpc>
              <a:spcBef>
                <a:spcPts val="0"/>
              </a:spcBef>
              <a:spcAft>
                <a:spcPts val="0"/>
              </a:spcAft>
              <a:defRPr sz="800" b="0" i="1">
                <a:solidFill>
                  <a:srgbClr val="D7263D"/>
                </a:solidFill>
                <a:latin typeface="Arial"/>
              </a:defRPr>
            </a:pPr>
            <a:r>
              <a:t>Paper bibliography contains full list.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